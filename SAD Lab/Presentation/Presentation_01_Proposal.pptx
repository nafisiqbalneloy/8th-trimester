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30" autoAdjust="0"/>
    <p:restoredTop sz="94610" autoAdjust="0"/>
  </p:normalViewPr>
  <p:slideViewPr>
    <p:cSldViewPr snapToGrid="0" snapToObjects="1">
      <p:cViewPr varScale="1">
        <p:scale>
          <a:sx n="91" d="100"/>
          <a:sy n="91" d="100"/>
        </p:scale>
        <p:origin x="-556" y="-6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25EBD558-7FF8-45DD-9040-F86270616BB6}" type="datetimeFigureOut">
              <a:rPr lang="en-US" smtClean="0"/>
              <a:t>4/13/2026</a:t>
            </a:fld>
            <a:endParaRPr lang="en-US"/>
          </a:p>
        </p:txBody>
      </p:sp>
      <p:sp>
        <p:nvSpPr>
          <p:cNvPr id="4" name="Slide Image Placeholder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1F96F0D6-7618-490D-9E88-56AE94339541}" type="slidenum">
              <a:rPr lang="en-US" smtClean="0"/>
              <a:t>‹#›</a:t>
            </a:fld>
            <a:endParaRPr lang="en-US"/>
          </a:p>
        </p:txBody>
      </p:sp>
    </p:spTree>
    <p:extLst>
      <p:ext uri="{BB962C8B-B14F-4D97-AF65-F5344CB8AC3E}">
        <p14:creationId xmlns:p14="http://schemas.microsoft.com/office/powerpoint/2010/main" val="2586382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jpe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6350"/>
            <a:ext cx="9144000" cy="5143500"/>
          </a:xfrm>
          <a:prstGeom prst="rect">
            <a:avLst/>
          </a:prstGeom>
        </p:spPr>
      </p:pic>
      <p:sp>
        <p:nvSpPr>
          <p:cNvPr id="3" name="Text 0"/>
          <p:cNvSpPr/>
          <p:nvPr/>
        </p:nvSpPr>
        <p:spPr>
          <a:xfrm>
            <a:off x="714375" y="1860249"/>
            <a:ext cx="7715250" cy="1005818"/>
          </a:xfrm>
          <a:prstGeom prst="rect">
            <a:avLst/>
          </a:prstGeom>
          <a:noFill/>
          <a:ln/>
        </p:spPr>
        <p:txBody>
          <a:bodyPr wrap="square" lIns="0" tIns="0" rIns="0" bIns="0" rtlCol="0" anchor="t">
            <a:spAutoFit/>
          </a:bodyPr>
          <a:lstStyle/>
          <a:p>
            <a:pPr marL="0" indent="0" algn="ctr">
              <a:lnSpc>
                <a:spcPts val="4000"/>
              </a:lnSpc>
              <a:buNone/>
            </a:pPr>
            <a:r>
              <a:rPr lang="en-US" sz="3294" b="1" dirty="0">
                <a:solidFill>
                  <a:srgbClr val="1A202C"/>
                </a:solidFill>
                <a:latin typeface="Segoe UI" pitchFamily="34" charset="0"/>
                <a:ea typeface="Segoe UI" pitchFamily="34" charset="-122"/>
                <a:cs typeface="Segoe UI" pitchFamily="34" charset="-120"/>
              </a:rPr>
              <a:t>Campus-Cruise: Feasibility Analysis</a:t>
            </a:r>
            <a:endParaRPr lang="en-US" sz="3294" dirty="0"/>
          </a:p>
        </p:txBody>
      </p:sp>
      <p:sp>
        <p:nvSpPr>
          <p:cNvPr id="4" name="Text 1"/>
          <p:cNvSpPr/>
          <p:nvPr/>
        </p:nvSpPr>
        <p:spPr>
          <a:xfrm>
            <a:off x="714375" y="3008942"/>
            <a:ext cx="7715250" cy="274309"/>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4A5568"/>
                </a:solidFill>
                <a:latin typeface="Segoe UI" pitchFamily="34" charset="0"/>
                <a:ea typeface="Segoe UI" pitchFamily="34" charset="-122"/>
                <a:cs typeface="Segoe UI" pitchFamily="34" charset="-120"/>
              </a:rPr>
              <a:t>Revolutionizing Student Commuting with a Secure Campus-Only Network</a:t>
            </a:r>
            <a:endParaRPr lang="en-US" sz="170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The Critical Need for Feasibility Analysis</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What is Feasibility Analysis and Why is it Important?</a:t>
            </a:r>
            <a:endParaRPr lang="en-US" sz="1050" dirty="0"/>
          </a:p>
        </p:txBody>
      </p:sp>
      <p:sp>
        <p:nvSpPr>
          <p:cNvPr id="7" name="Text 4"/>
          <p:cNvSpPr/>
          <p:nvPr/>
        </p:nvSpPr>
        <p:spPr>
          <a:xfrm>
            <a:off x="714375" y="1714500"/>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Definition</a:t>
            </a:r>
            <a:endParaRPr lang="en-US" sz="1193" dirty="0"/>
          </a:p>
        </p:txBody>
      </p:sp>
      <p:sp>
        <p:nvSpPr>
          <p:cNvPr id="8" name="Text 5"/>
          <p:cNvSpPr/>
          <p:nvPr/>
        </p:nvSpPr>
        <p:spPr>
          <a:xfrm>
            <a:off x="714375" y="2068116"/>
            <a:ext cx="3643313"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A critical evaluation of a proposed project to determine if it is technically, economically, and operationally achievable.</a:t>
            </a:r>
            <a:endParaRPr lang="en-US" sz="834" dirty="0"/>
          </a:p>
        </p:txBody>
      </p:sp>
      <p:sp>
        <p:nvSpPr>
          <p:cNvPr id="9" name="Text 6"/>
          <p:cNvSpPr/>
          <p:nvPr/>
        </p:nvSpPr>
        <p:spPr>
          <a:xfrm>
            <a:off x="714375" y="2648155"/>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Risk Mitigation</a:t>
            </a:r>
            <a:endParaRPr lang="en-US" sz="1193" dirty="0"/>
          </a:p>
        </p:txBody>
      </p:sp>
      <p:sp>
        <p:nvSpPr>
          <p:cNvPr id="10" name="Text 7"/>
          <p:cNvSpPr/>
          <p:nvPr/>
        </p:nvSpPr>
        <p:spPr>
          <a:xfrm>
            <a:off x="714375" y="3001770"/>
            <a:ext cx="3643313"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Minimizes risks and maximizes the overall success of the project by preventing wasted resources on unworkable or inefficient ideas.</a:t>
            </a:r>
            <a:endParaRPr lang="en-US" sz="834" dirty="0"/>
          </a:p>
        </p:txBody>
      </p:sp>
      <p:sp>
        <p:nvSpPr>
          <p:cNvPr id="11" name="Text 8"/>
          <p:cNvSpPr/>
          <p:nvPr/>
        </p:nvSpPr>
        <p:spPr>
          <a:xfrm>
            <a:off x="4786313" y="1714500"/>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Strategic Decision-Making</a:t>
            </a:r>
            <a:endParaRPr lang="en-US" sz="1193" dirty="0"/>
          </a:p>
        </p:txBody>
      </p:sp>
      <p:sp>
        <p:nvSpPr>
          <p:cNvPr id="12" name="Text 9"/>
          <p:cNvSpPr/>
          <p:nvPr/>
        </p:nvSpPr>
        <p:spPr>
          <a:xfrm>
            <a:off x="4786313" y="2068116"/>
            <a:ext cx="3643313"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Identifies potential problems and opportunities within the campus environment, evaluating alternatives and informing data-driven decision-making.</a:t>
            </a:r>
            <a:endParaRPr lang="en-US" sz="834" dirty="0"/>
          </a:p>
        </p:txBody>
      </p:sp>
      <p:sp>
        <p:nvSpPr>
          <p:cNvPr id="13" name="Text 10"/>
          <p:cNvSpPr/>
          <p:nvPr/>
        </p:nvSpPr>
        <p:spPr>
          <a:xfrm>
            <a:off x="4786313" y="2831018"/>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Resource Allocation</a:t>
            </a:r>
            <a:endParaRPr lang="en-US" sz="1193" dirty="0"/>
          </a:p>
        </p:txBody>
      </p:sp>
      <p:sp>
        <p:nvSpPr>
          <p:cNvPr id="14" name="Text 11"/>
          <p:cNvSpPr/>
          <p:nvPr/>
        </p:nvSpPr>
        <p:spPr>
          <a:xfrm>
            <a:off x="4786313" y="3184634"/>
            <a:ext cx="3643313"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Ensures that resources are allocated to projects with the highest potential for success before significant investment.</a:t>
            </a:r>
            <a:endParaRPr lang="en-US" sz="834" dirty="0"/>
          </a:p>
        </p:txBody>
      </p:sp>
      <p:sp>
        <p:nvSpPr>
          <p:cNvPr id="15" name="TextBox 14"/>
          <p:cNvSpPr txBox="1"/>
          <p:nvPr/>
        </p:nvSpPr>
        <p:spPr>
          <a:xfrm>
            <a:off x="8835717" y="4869959"/>
            <a:ext cx="253596" cy="253916"/>
          </a:xfrm>
          <a:prstGeom prst="rect">
            <a:avLst/>
          </a:prstGeom>
          <a:noFill/>
        </p:spPr>
        <p:txBody>
          <a:bodyPr wrap="none" rtlCol="0">
            <a:spAutoFit/>
          </a:bodyPr>
          <a:lstStyle/>
          <a:p>
            <a:r>
              <a:rPr lang="en-US" sz="1050" dirty="0" smtClean="0"/>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Survey Objectives and Problem Statement</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Bridging the Gap Between Student Needs and Solutions</a:t>
            </a:r>
            <a:endParaRPr lang="en-US" sz="1050" dirty="0"/>
          </a:p>
        </p:txBody>
      </p:sp>
      <p:sp>
        <p:nvSpPr>
          <p:cNvPr id="7" name="Text 4"/>
          <p:cNvSpPr/>
          <p:nvPr/>
        </p:nvSpPr>
        <p:spPr>
          <a:xfrm>
            <a:off x="714375" y="1714500"/>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The Core Problem</a:t>
            </a:r>
            <a:endParaRPr lang="en-US" sz="1193" dirty="0"/>
          </a:p>
        </p:txBody>
      </p:sp>
      <p:sp>
        <p:nvSpPr>
          <p:cNvPr id="8" name="Text 5"/>
          <p:cNvSpPr/>
          <p:nvPr/>
        </p:nvSpPr>
        <p:spPr>
          <a:xfrm>
            <a:off x="714375" y="2068116"/>
            <a:ext cx="3643313" cy="128004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University students currently face significant transportation challenges that impact their academic and social life. High costs make private commutes increasingly expensive for the average student budget. Time inefficiency, characterized by long wait times and indirect public transport routes, leads to wasted productivity. Furthermore, safety concerns arise from a lack of verified transportation options, especially during late hours.</a:t>
            </a:r>
            <a:endParaRPr lang="en-US" sz="834" dirty="0"/>
          </a:p>
        </p:txBody>
      </p:sp>
      <p:sp>
        <p:nvSpPr>
          <p:cNvPr id="9" name="Text 6"/>
          <p:cNvSpPr/>
          <p:nvPr/>
        </p:nvSpPr>
        <p:spPr>
          <a:xfrm>
            <a:off x="4786313" y="1714500"/>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Survey Objectives</a:t>
            </a:r>
            <a:endParaRPr lang="en-US" sz="1193" dirty="0"/>
          </a:p>
        </p:txBody>
      </p:sp>
      <p:sp>
        <p:nvSpPr>
          <p:cNvPr id="10" name="Text 7"/>
          <p:cNvSpPr/>
          <p:nvPr/>
        </p:nvSpPr>
        <p:spPr>
          <a:xfrm>
            <a:off x="4786313" y="2068116"/>
            <a:ext cx="3643313" cy="109718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The survey was designed to bridge this gap by gauging interest and measuring the actual demand for a campus-exclusive ride-sharing platform. It aimed to identify requirements by pinpointing the most critical features students need to feel safe and comfortable. The ultimate goal is to provide a data-driven foundation for the feasibility of the Campus-Cruise platform.</a:t>
            </a:r>
            <a:endParaRPr lang="en-US" sz="834" dirty="0"/>
          </a:p>
        </p:txBody>
      </p:sp>
      <p:sp>
        <p:nvSpPr>
          <p:cNvPr id="11" name="TextBox 10"/>
          <p:cNvSpPr txBox="1"/>
          <p:nvPr/>
        </p:nvSpPr>
        <p:spPr>
          <a:xfrm>
            <a:off x="8859996" y="4838544"/>
            <a:ext cx="250390" cy="246221"/>
          </a:xfrm>
          <a:prstGeom prst="rect">
            <a:avLst/>
          </a:prstGeom>
          <a:noFill/>
        </p:spPr>
        <p:txBody>
          <a:bodyPr wrap="none" rtlCol="0">
            <a:spAutoFit/>
          </a:bodyPr>
          <a:lstStyle/>
          <a:p>
            <a:r>
              <a:rPr lang="en-US" sz="1000" dirty="0" smtClean="0"/>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4760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Methodology and Participant Demographics</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A Data-Driven Approach to Understanding Commuter Needs</a:t>
            </a:r>
            <a:endParaRPr lang="en-US" sz="1050" dirty="0"/>
          </a:p>
        </p:txBody>
      </p:sp>
      <p:sp>
        <p:nvSpPr>
          <p:cNvPr id="7" name="Text 4"/>
          <p:cNvSpPr/>
          <p:nvPr/>
        </p:nvSpPr>
        <p:spPr>
          <a:xfrm>
            <a:off x="714375" y="1714500"/>
            <a:ext cx="2381241"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Research Method</a:t>
            </a:r>
            <a:endParaRPr lang="en-US" sz="1193" dirty="0"/>
          </a:p>
        </p:txBody>
      </p:sp>
      <p:sp>
        <p:nvSpPr>
          <p:cNvPr id="8" name="Text 5"/>
          <p:cNvSpPr/>
          <p:nvPr/>
        </p:nvSpPr>
        <p:spPr>
          <a:xfrm>
            <a:off x="714375" y="2068116"/>
            <a:ext cx="2381241" cy="914316"/>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The study utilized a structured Google Form distributed via official university channels. This approach allowed for the collection of both quantitative metrics and qualitative feedback from the student body.</a:t>
            </a:r>
            <a:endParaRPr lang="en-US" sz="834" dirty="0"/>
          </a:p>
        </p:txBody>
      </p:sp>
      <p:sp>
        <p:nvSpPr>
          <p:cNvPr id="9" name="Text 6"/>
          <p:cNvSpPr/>
          <p:nvPr/>
        </p:nvSpPr>
        <p:spPr>
          <a:xfrm>
            <a:off x="3381366" y="1714500"/>
            <a:ext cx="2381241"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Participant Profile</a:t>
            </a:r>
            <a:endParaRPr lang="en-US" sz="1193" dirty="0"/>
          </a:p>
        </p:txBody>
      </p:sp>
      <p:sp>
        <p:nvSpPr>
          <p:cNvPr id="10" name="Text 7"/>
          <p:cNvSpPr/>
          <p:nvPr/>
        </p:nvSpPr>
        <p:spPr>
          <a:xfrm>
            <a:off x="3381366" y="2068116"/>
            <a:ext cx="2381241"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The survey successfully captured responses from verified university students representing a diverse range of academic departments and commute backgrounds.</a:t>
            </a:r>
            <a:endParaRPr lang="en-US" sz="834" dirty="0"/>
          </a:p>
        </p:txBody>
      </p:sp>
      <p:sp>
        <p:nvSpPr>
          <p:cNvPr id="11" name="Text 8"/>
          <p:cNvSpPr/>
          <p:nvPr/>
        </p:nvSpPr>
        <p:spPr>
          <a:xfrm>
            <a:off x="3381366" y="3163900"/>
            <a:ext cx="266098" cy="779381"/>
          </a:xfrm>
          <a:prstGeom prst="rect">
            <a:avLst/>
          </a:prstGeom>
          <a:noFill/>
          <a:ln/>
        </p:spPr>
        <p:txBody>
          <a:bodyPr wrap="none" lIns="0" tIns="0" rIns="0" bIns="0" rtlCol="0" anchor="t">
            <a:spAutoFit/>
          </a:bodyPr>
          <a:lstStyle/>
          <a:p>
            <a:pPr marL="0" indent="0" algn="l">
              <a:lnSpc>
                <a:spcPts val="3200"/>
              </a:lnSpc>
              <a:buNone/>
            </a:pPr>
            <a:r>
              <a:rPr lang="en-US" sz="1808" b="1" dirty="0" smtClean="0">
                <a:solidFill>
                  <a:srgbClr val="3182CE"/>
                </a:solidFill>
                <a:latin typeface="Segoe UI" pitchFamily="34" charset="0"/>
                <a:ea typeface="Segoe UI" pitchFamily="34" charset="-122"/>
                <a:cs typeface="Segoe UI" pitchFamily="34" charset="-120"/>
              </a:rPr>
              <a:t>25</a:t>
            </a:r>
          </a:p>
          <a:p>
            <a:pPr marL="0" indent="0" algn="l">
              <a:lnSpc>
                <a:spcPts val="3200"/>
              </a:lnSpc>
              <a:buNone/>
            </a:pPr>
            <a:endParaRPr lang="en-US" sz="1808" dirty="0"/>
          </a:p>
        </p:txBody>
      </p:sp>
      <p:sp>
        <p:nvSpPr>
          <p:cNvPr id="12" name="Text 9"/>
          <p:cNvSpPr/>
          <p:nvPr/>
        </p:nvSpPr>
        <p:spPr>
          <a:xfrm>
            <a:off x="3381366" y="3575363"/>
            <a:ext cx="2381241" cy="160009"/>
          </a:xfrm>
          <a:prstGeom prst="rect">
            <a:avLst/>
          </a:prstGeom>
          <a:noFill/>
          <a:ln/>
        </p:spPr>
        <p:txBody>
          <a:bodyPr wrap="none" lIns="0" tIns="0" rIns="0" bIns="0" rtlCol="0" anchor="t">
            <a:spAutoFit/>
          </a:bodyPr>
          <a:lstStyle/>
          <a:p>
            <a:pPr marL="0" indent="0" algn="l">
              <a:lnSpc>
                <a:spcPts val="1300"/>
              </a:lnSpc>
              <a:buNone/>
            </a:pPr>
            <a:r>
              <a:rPr lang="en-US" sz="683" b="1" dirty="0">
                <a:solidFill>
                  <a:srgbClr val="718096"/>
                </a:solidFill>
                <a:latin typeface="Segoe UI" pitchFamily="34" charset="0"/>
                <a:ea typeface="Segoe UI" pitchFamily="34" charset="-122"/>
                <a:cs typeface="Segoe UI" pitchFamily="34" charset="-120"/>
              </a:rPr>
              <a:t>TOTAL RESPONDENTS</a:t>
            </a:r>
            <a:endParaRPr lang="en-US" sz="683" dirty="0"/>
          </a:p>
        </p:txBody>
      </p:sp>
      <p:sp>
        <p:nvSpPr>
          <p:cNvPr id="13" name="Text 10"/>
          <p:cNvSpPr/>
          <p:nvPr/>
        </p:nvSpPr>
        <p:spPr>
          <a:xfrm>
            <a:off x="6048356" y="1714500"/>
            <a:ext cx="2381269"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Target Audience</a:t>
            </a:r>
            <a:endParaRPr lang="en-US" sz="1193" dirty="0"/>
          </a:p>
        </p:txBody>
      </p:sp>
      <p:sp>
        <p:nvSpPr>
          <p:cNvPr id="14" name="Text 11"/>
          <p:cNvSpPr/>
          <p:nvPr/>
        </p:nvSpPr>
        <p:spPr>
          <a:xfrm>
            <a:off x="6048356" y="2068116"/>
            <a:ext cx="2381269"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The primary focus was on daily campus commuters and student vehicle owners who are most likely to be the core users and providers of the Campus-Cruise network.</a:t>
            </a:r>
            <a:endParaRPr lang="en-US" sz="834" dirty="0"/>
          </a:p>
        </p:txBody>
      </p:sp>
      <p:sp>
        <p:nvSpPr>
          <p:cNvPr id="15" name="TextBox 14"/>
          <p:cNvSpPr txBox="1"/>
          <p:nvPr/>
        </p:nvSpPr>
        <p:spPr>
          <a:xfrm>
            <a:off x="8859937" y="4897279"/>
            <a:ext cx="250390" cy="246221"/>
          </a:xfrm>
          <a:prstGeom prst="rect">
            <a:avLst/>
          </a:prstGeom>
          <a:noFill/>
        </p:spPr>
        <p:txBody>
          <a:bodyPr wrap="none" rtlCol="0">
            <a:spAutoFit/>
          </a:bodyPr>
          <a:lstStyle/>
          <a:p>
            <a:r>
              <a:rPr lang="en-US" sz="1000" dirty="0"/>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905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Current Commuting Landscape</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Analyzing How Students Travel to Campus</a:t>
            </a:r>
            <a:endParaRPr lang="en-US" sz="1050" dirty="0"/>
          </a:p>
        </p:txBody>
      </p:sp>
      <p:sp>
        <p:nvSpPr>
          <p:cNvPr id="7" name="Shape 4"/>
          <p:cNvSpPr/>
          <p:nvPr/>
        </p:nvSpPr>
        <p:spPr>
          <a:xfrm>
            <a:off x="714375" y="2000250"/>
            <a:ext cx="4486275" cy="2857500"/>
          </a:xfrm>
          <a:prstGeom prst="rect">
            <a:avLst/>
          </a:prstGeom>
          <a:solidFill>
            <a:srgbClr val="FFFFFF"/>
          </a:solidFill>
          <a:ln/>
        </p:spPr>
      </p:sp>
      <p:pic>
        <p:nvPicPr>
          <p:cNvPr id="8" name="Image 1" descr="preencoded.png"/>
          <p:cNvPicPr>
            <a:picLocks noChangeAspect="1"/>
          </p:cNvPicPr>
          <p:nvPr/>
        </p:nvPicPr>
        <p:blipFill>
          <a:blip r:embed="rId4"/>
          <a:stretch>
            <a:fillRect/>
          </a:stretch>
        </p:blipFill>
        <p:spPr>
          <a:xfrm>
            <a:off x="946150" y="2143125"/>
            <a:ext cx="4200525" cy="2571750"/>
          </a:xfrm>
          <a:prstGeom prst="rect">
            <a:avLst/>
          </a:prstGeom>
        </p:spPr>
      </p:pic>
      <p:sp>
        <p:nvSpPr>
          <p:cNvPr id="9" name="Text 5"/>
          <p:cNvSpPr/>
          <p:nvPr/>
        </p:nvSpPr>
        <p:spPr>
          <a:xfrm>
            <a:off x="5629275" y="2268559"/>
            <a:ext cx="2800350"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Dominant Modes</a:t>
            </a:r>
            <a:endParaRPr lang="en-US" sz="1193" dirty="0"/>
          </a:p>
        </p:txBody>
      </p:sp>
      <p:sp>
        <p:nvSpPr>
          <p:cNvPr id="10" name="Text 6"/>
          <p:cNvSpPr/>
          <p:nvPr/>
        </p:nvSpPr>
        <p:spPr>
          <a:xfrm>
            <a:off x="5629275" y="2657894"/>
            <a:ext cx="2800350"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The data reveals that the </a:t>
            </a:r>
            <a:r>
              <a:rPr lang="en-US" sz="784" b="1" dirty="0">
                <a:solidFill>
                  <a:srgbClr val="4A5568"/>
                </a:solidFill>
                <a:latin typeface="Segoe UI" pitchFamily="34" charset="0"/>
                <a:ea typeface="Segoe UI" pitchFamily="34" charset="-122"/>
                <a:cs typeface="Segoe UI" pitchFamily="34" charset="-120"/>
              </a:rPr>
              <a:t>Rickshaw</a:t>
            </a:r>
            <a:r>
              <a:rPr lang="en-US" sz="834" dirty="0">
                <a:solidFill>
                  <a:srgbClr val="4A5568"/>
                </a:solidFill>
                <a:latin typeface="Segoe UI" pitchFamily="34" charset="0"/>
                <a:ea typeface="Segoe UI" pitchFamily="34" charset="-122"/>
                <a:cs typeface="Segoe UI" pitchFamily="34" charset="-120"/>
              </a:rPr>
              <a:t> is the primary mode of transportation, utilized by over 58% of the surveyed students.</a:t>
            </a:r>
            <a:endParaRPr lang="en-US" sz="834" dirty="0"/>
          </a:p>
        </p:txBody>
      </p:sp>
      <p:sp>
        <p:nvSpPr>
          <p:cNvPr id="11" name="Text 7"/>
          <p:cNvSpPr/>
          <p:nvPr/>
        </p:nvSpPr>
        <p:spPr>
          <a:xfrm>
            <a:off x="5629275" y="3349358"/>
            <a:ext cx="2800350"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Public transport and existing ride-sharing platforms follow, indicating a fragmented market with high reliance on non-integrated services.</a:t>
            </a:r>
            <a:endParaRPr lang="en-US" sz="834" dirty="0"/>
          </a:p>
        </p:txBody>
      </p:sp>
      <p:sp>
        <p:nvSpPr>
          <p:cNvPr id="12" name="Text 8"/>
          <p:cNvSpPr/>
          <p:nvPr/>
        </p:nvSpPr>
        <p:spPr>
          <a:xfrm>
            <a:off x="5629275" y="4040823"/>
            <a:ext cx="2800350"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This landscape presents a significant opportunity for a unified, campus-specific solution to streamline the daily commute.</a:t>
            </a:r>
            <a:endParaRPr lang="en-US" sz="834" dirty="0"/>
          </a:p>
        </p:txBody>
      </p:sp>
      <p:sp>
        <p:nvSpPr>
          <p:cNvPr id="13" name="TextBox 12"/>
          <p:cNvSpPr txBox="1"/>
          <p:nvPr/>
        </p:nvSpPr>
        <p:spPr>
          <a:xfrm>
            <a:off x="8849312" y="4857750"/>
            <a:ext cx="250390" cy="246221"/>
          </a:xfrm>
          <a:prstGeom prst="rect">
            <a:avLst/>
          </a:prstGeom>
          <a:noFill/>
        </p:spPr>
        <p:txBody>
          <a:bodyPr wrap="none" rtlCol="0">
            <a:spAutoFit/>
          </a:bodyPr>
          <a:lstStyle/>
          <a:p>
            <a:r>
              <a:rPr lang="en-US" sz="1000" dirty="0" smtClean="0"/>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427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Identifying the Core Pain Points</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What Bothers Students the Most About Commuting?</a:t>
            </a:r>
            <a:endParaRPr lang="en-US" sz="1050" dirty="0"/>
          </a:p>
        </p:txBody>
      </p:sp>
      <p:sp>
        <p:nvSpPr>
          <p:cNvPr id="7" name="Text 4"/>
          <p:cNvSpPr/>
          <p:nvPr/>
        </p:nvSpPr>
        <p:spPr>
          <a:xfrm>
            <a:off x="714375" y="1643063"/>
            <a:ext cx="3643313"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D3748"/>
                </a:solidFill>
                <a:latin typeface="Segoe UI" pitchFamily="34" charset="0"/>
                <a:ea typeface="Segoe UI" pitchFamily="34" charset="-122"/>
                <a:cs typeface="Segoe UI" pitchFamily="34" charset="-120"/>
              </a:rPr>
              <a:t>Economic Barriers</a:t>
            </a:r>
            <a:endParaRPr lang="en-US" sz="1090" dirty="0"/>
          </a:p>
        </p:txBody>
      </p:sp>
      <p:sp>
        <p:nvSpPr>
          <p:cNvPr id="8" name="Text 5"/>
          <p:cNvSpPr/>
          <p:nvPr/>
        </p:nvSpPr>
        <p:spPr>
          <a:xfrm>
            <a:off x="714375" y="1882378"/>
            <a:ext cx="3643313"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High costs are the primary concern for 62.5% of students. Private commutes and rising fares make daily travel a significant financial burden on student budgets.</a:t>
            </a:r>
            <a:endParaRPr lang="en-US" sz="834" dirty="0"/>
          </a:p>
        </p:txBody>
      </p:sp>
      <p:sp>
        <p:nvSpPr>
          <p:cNvPr id="9" name="Text 6"/>
          <p:cNvSpPr/>
          <p:nvPr/>
        </p:nvSpPr>
        <p:spPr>
          <a:xfrm>
            <a:off x="714375" y="2575322"/>
            <a:ext cx="3643313"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D3748"/>
                </a:solidFill>
                <a:latin typeface="Segoe UI" pitchFamily="34" charset="0"/>
                <a:ea typeface="Segoe UI" pitchFamily="34" charset="-122"/>
                <a:cs typeface="Segoe UI" pitchFamily="34" charset="-120"/>
              </a:rPr>
              <a:t>Time Inefficiency</a:t>
            </a:r>
            <a:endParaRPr lang="en-US" sz="1090" dirty="0"/>
          </a:p>
        </p:txBody>
      </p:sp>
      <p:sp>
        <p:nvSpPr>
          <p:cNvPr id="10" name="Text 7"/>
          <p:cNvSpPr/>
          <p:nvPr/>
        </p:nvSpPr>
        <p:spPr>
          <a:xfrm>
            <a:off x="714375" y="2814638"/>
            <a:ext cx="3643313" cy="51435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Long wait times and indirect routes lead to wasted productivity. Students often struggle with unpredictable public transport schedules during peak hours.</a:t>
            </a:r>
            <a:endParaRPr lang="en-US" sz="834" dirty="0"/>
          </a:p>
        </p:txBody>
      </p:sp>
      <p:sp>
        <p:nvSpPr>
          <p:cNvPr id="11" name="Text 8"/>
          <p:cNvSpPr/>
          <p:nvPr/>
        </p:nvSpPr>
        <p:spPr>
          <a:xfrm>
            <a:off x="714375" y="3507581"/>
            <a:ext cx="3643313"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D3748"/>
                </a:solidFill>
                <a:latin typeface="Segoe UI" pitchFamily="34" charset="0"/>
                <a:ea typeface="Segoe UI" pitchFamily="34" charset="-122"/>
                <a:cs typeface="Segoe UI" pitchFamily="34" charset="-120"/>
              </a:rPr>
              <a:t>Safety Vulnerabilities</a:t>
            </a:r>
            <a:endParaRPr lang="en-US" sz="1090" dirty="0"/>
          </a:p>
        </p:txBody>
      </p:sp>
      <p:sp>
        <p:nvSpPr>
          <p:cNvPr id="12" name="Text 9"/>
          <p:cNvSpPr/>
          <p:nvPr/>
        </p:nvSpPr>
        <p:spPr>
          <a:xfrm>
            <a:off x="714375" y="3746897"/>
            <a:ext cx="3643313"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A lack of verified transportation options creates anxiety, particularly during late-hour travel or for students commuting from distant locations.</a:t>
            </a:r>
            <a:endParaRPr lang="en-US" sz="834" dirty="0"/>
          </a:p>
        </p:txBody>
      </p:sp>
      <p:sp>
        <p:nvSpPr>
          <p:cNvPr id="13" name="Shape 10"/>
          <p:cNvSpPr/>
          <p:nvPr/>
        </p:nvSpPr>
        <p:spPr>
          <a:xfrm>
            <a:off x="4786313" y="1643063"/>
            <a:ext cx="3643313" cy="2714625"/>
          </a:xfrm>
          <a:prstGeom prst="rect">
            <a:avLst/>
          </a:prstGeom>
          <a:solidFill>
            <a:srgbClr val="F8FAFC"/>
          </a:solidFill>
          <a:ln w="9144">
            <a:solidFill>
              <a:srgbClr val="E2E8F0"/>
            </a:solidFill>
            <a:prstDash val="solid"/>
          </a:ln>
        </p:spPr>
      </p:sp>
      <p:pic>
        <p:nvPicPr>
          <p:cNvPr id="14" name="Image 1" descr="preencoded.png"/>
          <p:cNvPicPr>
            <a:picLocks noChangeAspect="1"/>
          </p:cNvPicPr>
          <p:nvPr/>
        </p:nvPicPr>
        <p:blipFill>
          <a:blip r:embed="rId4"/>
          <a:stretch>
            <a:fillRect/>
          </a:stretch>
        </p:blipFill>
        <p:spPr>
          <a:xfrm>
            <a:off x="4929188" y="1785938"/>
            <a:ext cx="3343275" cy="2414588"/>
          </a:xfrm>
          <a:prstGeom prst="rect">
            <a:avLst/>
          </a:prstGeom>
        </p:spPr>
      </p:pic>
      <p:sp>
        <p:nvSpPr>
          <p:cNvPr id="15" name="Text 11"/>
          <p:cNvSpPr/>
          <p:nvPr/>
        </p:nvSpPr>
        <p:spPr>
          <a:xfrm>
            <a:off x="5511543" y="4464844"/>
            <a:ext cx="1691169" cy="115416"/>
          </a:xfrm>
          <a:prstGeom prst="rect">
            <a:avLst/>
          </a:prstGeom>
          <a:noFill/>
          <a:ln/>
        </p:spPr>
        <p:txBody>
          <a:bodyPr wrap="none" lIns="0" tIns="0" rIns="0" bIns="0" rtlCol="0" anchor="t">
            <a:spAutoFit/>
          </a:bodyPr>
          <a:lstStyle/>
          <a:p>
            <a:pPr marL="0" indent="0" algn="l">
              <a:lnSpc>
                <a:spcPts val="900"/>
              </a:lnSpc>
              <a:buNone/>
            </a:pPr>
            <a:r>
              <a:rPr lang="en-US" sz="727" i="1" dirty="0">
                <a:solidFill>
                  <a:srgbClr val="718096"/>
                </a:solidFill>
                <a:latin typeface="Segoe UI" pitchFamily="34" charset="0"/>
                <a:ea typeface="Segoe UI" pitchFamily="34" charset="-122"/>
                <a:cs typeface="Segoe UI" pitchFamily="34" charset="-120"/>
              </a:rPr>
              <a:t>Source: Campus Cruise Feasibility Survey </a:t>
            </a:r>
            <a:endParaRPr lang="en-US" sz="727" dirty="0"/>
          </a:p>
        </p:txBody>
      </p:sp>
      <p:sp>
        <p:nvSpPr>
          <p:cNvPr id="16" name="TextBox 15"/>
          <p:cNvSpPr txBox="1"/>
          <p:nvPr/>
        </p:nvSpPr>
        <p:spPr>
          <a:xfrm>
            <a:off x="8889227" y="4862015"/>
            <a:ext cx="176250" cy="246221"/>
          </a:xfrm>
          <a:prstGeom prst="rect">
            <a:avLst/>
          </a:prstGeom>
          <a:noFill/>
        </p:spPr>
        <p:txBody>
          <a:bodyPr wrap="square" rtlCol="0">
            <a:spAutoFit/>
          </a:bodyPr>
          <a:lstStyle/>
          <a:p>
            <a:r>
              <a:rPr lang="en-US" sz="1000" dirty="0" smtClean="0">
                <a:solidFill>
                  <a:schemeClr val="tx1">
                    <a:lumMod val="65000"/>
                    <a:lumOff val="35000"/>
                  </a:schemeClr>
                </a:solidFill>
              </a:rPr>
              <a:t>6</a:t>
            </a:r>
            <a:endParaRPr lang="en-US" sz="1000" dirty="0">
              <a:solidFill>
                <a:schemeClr val="tx1">
                  <a:lumMod val="65000"/>
                  <a:lumOff val="3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698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High Student Interest and Motivation</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What Drives the Demand for Campus-Cruise?</a:t>
            </a:r>
            <a:endParaRPr lang="en-US" sz="1050" dirty="0"/>
          </a:p>
        </p:txBody>
      </p:sp>
      <p:sp>
        <p:nvSpPr>
          <p:cNvPr id="7" name="Text 4"/>
          <p:cNvSpPr/>
          <p:nvPr/>
        </p:nvSpPr>
        <p:spPr>
          <a:xfrm>
            <a:off x="1656959" y="1714500"/>
            <a:ext cx="1758116" cy="232172"/>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2D3748"/>
                </a:solidFill>
                <a:latin typeface="Segoe UI" pitchFamily="34" charset="0"/>
                <a:ea typeface="Segoe UI" pitchFamily="34" charset="-122"/>
                <a:cs typeface="Segoe UI" pitchFamily="34" charset="-120"/>
              </a:rPr>
              <a:t>Interest in Campus App</a:t>
            </a:r>
            <a:endParaRPr lang="en-US" sz="1090" dirty="0"/>
          </a:p>
        </p:txBody>
      </p:sp>
      <p:sp>
        <p:nvSpPr>
          <p:cNvPr id="8" name="Shape 5"/>
          <p:cNvSpPr/>
          <p:nvPr/>
        </p:nvSpPr>
        <p:spPr>
          <a:xfrm>
            <a:off x="714375" y="2053828"/>
            <a:ext cx="3643313" cy="2500313"/>
          </a:xfrm>
          <a:prstGeom prst="rect">
            <a:avLst/>
          </a:prstGeom>
          <a:solidFill>
            <a:srgbClr val="FFFFFF"/>
          </a:solidFill>
          <a:ln/>
        </p:spPr>
      </p:sp>
      <p:pic>
        <p:nvPicPr>
          <p:cNvPr id="9" name="Image 1" descr="preencoded.png"/>
          <p:cNvPicPr>
            <a:picLocks noChangeAspect="1"/>
          </p:cNvPicPr>
          <p:nvPr/>
        </p:nvPicPr>
        <p:blipFill>
          <a:blip r:embed="rId4"/>
          <a:stretch>
            <a:fillRect/>
          </a:stretch>
        </p:blipFill>
        <p:spPr>
          <a:xfrm>
            <a:off x="857250" y="2196703"/>
            <a:ext cx="3357563" cy="2214563"/>
          </a:xfrm>
          <a:prstGeom prst="rect">
            <a:avLst/>
          </a:prstGeom>
        </p:spPr>
      </p:pic>
      <p:sp>
        <p:nvSpPr>
          <p:cNvPr id="10" name="Text 6"/>
          <p:cNvSpPr/>
          <p:nvPr/>
        </p:nvSpPr>
        <p:spPr>
          <a:xfrm>
            <a:off x="714375" y="4697016"/>
            <a:ext cx="3643313" cy="365727"/>
          </a:xfrm>
          <a:prstGeom prst="rect">
            <a:avLst/>
          </a:prstGeom>
          <a:noFill/>
          <a:ln/>
        </p:spPr>
        <p:txBody>
          <a:bodyPr wrap="square" lIns="0" tIns="0" rIns="0" bIns="0" rtlCol="0" anchor="t">
            <a:spAutoFit/>
          </a:bodyPr>
          <a:lstStyle/>
          <a:p>
            <a:pPr marL="0" indent="0" algn="ctr">
              <a:lnSpc>
                <a:spcPts val="1400"/>
              </a:lnSpc>
              <a:buNone/>
            </a:pPr>
            <a:r>
              <a:rPr lang="en-US" sz="834" dirty="0">
                <a:solidFill>
                  <a:srgbClr val="4A5568"/>
                </a:solidFill>
                <a:latin typeface="Segoe UI" pitchFamily="34" charset="0"/>
                <a:ea typeface="Segoe UI" pitchFamily="34" charset="-122"/>
                <a:cs typeface="Segoe UI" pitchFamily="34" charset="-120"/>
              </a:rPr>
              <a:t>Over </a:t>
            </a:r>
            <a:r>
              <a:rPr lang="en-US" sz="784" b="1" dirty="0">
                <a:solidFill>
                  <a:srgbClr val="4A5568"/>
                </a:solidFill>
                <a:latin typeface="Segoe UI" pitchFamily="34" charset="0"/>
                <a:ea typeface="Segoe UI" pitchFamily="34" charset="-122"/>
                <a:cs typeface="Segoe UI" pitchFamily="34" charset="-120"/>
              </a:rPr>
              <a:t>70%</a:t>
            </a:r>
            <a:r>
              <a:rPr lang="en-US" sz="834" dirty="0">
                <a:solidFill>
                  <a:srgbClr val="4A5568"/>
                </a:solidFill>
                <a:latin typeface="Segoe UI" pitchFamily="34" charset="0"/>
                <a:ea typeface="Segoe UI" pitchFamily="34" charset="-122"/>
                <a:cs typeface="Segoe UI" pitchFamily="34" charset="-120"/>
              </a:rPr>
              <a:t> of students expressed positive or potential interest in a dedicated campus ride-sharing platform.</a:t>
            </a:r>
            <a:endParaRPr lang="en-US" sz="834" dirty="0"/>
          </a:p>
        </p:txBody>
      </p:sp>
      <p:sp>
        <p:nvSpPr>
          <p:cNvPr id="11" name="Text 7"/>
          <p:cNvSpPr/>
          <p:nvPr/>
        </p:nvSpPr>
        <p:spPr>
          <a:xfrm>
            <a:off x="5896133" y="1714500"/>
            <a:ext cx="1423671" cy="232172"/>
          </a:xfrm>
          <a:prstGeom prst="rect">
            <a:avLst/>
          </a:prstGeom>
          <a:noFill/>
          <a:ln/>
        </p:spPr>
        <p:txBody>
          <a:bodyPr wrap="none" lIns="0" tIns="0" rIns="0" bIns="0" rtlCol="0" anchor="t">
            <a:spAutoFit/>
          </a:bodyPr>
          <a:lstStyle/>
          <a:p>
            <a:pPr marL="0" indent="0" algn="ctr">
              <a:lnSpc>
                <a:spcPts val="1500"/>
              </a:lnSpc>
              <a:buNone/>
            </a:pPr>
            <a:r>
              <a:rPr lang="en-US" sz="1090" b="1" dirty="0">
                <a:solidFill>
                  <a:srgbClr val="2D3748"/>
                </a:solidFill>
                <a:latin typeface="Segoe UI" pitchFamily="34" charset="0"/>
                <a:ea typeface="Segoe UI" pitchFamily="34" charset="-122"/>
                <a:cs typeface="Segoe UI" pitchFamily="34" charset="-120"/>
              </a:rPr>
              <a:t>Primary Motivators</a:t>
            </a:r>
            <a:endParaRPr lang="en-US" sz="1090" dirty="0"/>
          </a:p>
        </p:txBody>
      </p:sp>
      <p:sp>
        <p:nvSpPr>
          <p:cNvPr id="12" name="Shape 8"/>
          <p:cNvSpPr/>
          <p:nvPr/>
        </p:nvSpPr>
        <p:spPr>
          <a:xfrm>
            <a:off x="4786313" y="2053828"/>
            <a:ext cx="3643313" cy="2500313"/>
          </a:xfrm>
          <a:prstGeom prst="rect">
            <a:avLst/>
          </a:prstGeom>
          <a:solidFill>
            <a:srgbClr val="FFFFFF"/>
          </a:solidFill>
          <a:ln/>
        </p:spPr>
      </p:sp>
      <p:pic>
        <p:nvPicPr>
          <p:cNvPr id="13" name="Image 2" descr="preencoded.png"/>
          <p:cNvPicPr>
            <a:picLocks noChangeAspect="1"/>
          </p:cNvPicPr>
          <p:nvPr/>
        </p:nvPicPr>
        <p:blipFill>
          <a:blip r:embed="rId5"/>
          <a:stretch>
            <a:fillRect/>
          </a:stretch>
        </p:blipFill>
        <p:spPr>
          <a:xfrm>
            <a:off x="4929188" y="2196703"/>
            <a:ext cx="3357563" cy="2214563"/>
          </a:xfrm>
          <a:prstGeom prst="rect">
            <a:avLst/>
          </a:prstGeom>
        </p:spPr>
      </p:pic>
      <p:sp>
        <p:nvSpPr>
          <p:cNvPr id="14" name="Text 9"/>
          <p:cNvSpPr/>
          <p:nvPr/>
        </p:nvSpPr>
        <p:spPr>
          <a:xfrm>
            <a:off x="4786313" y="4697016"/>
            <a:ext cx="3643313" cy="365727"/>
          </a:xfrm>
          <a:prstGeom prst="rect">
            <a:avLst/>
          </a:prstGeom>
          <a:noFill/>
          <a:ln/>
        </p:spPr>
        <p:txBody>
          <a:bodyPr wrap="square" lIns="0" tIns="0" rIns="0" bIns="0" rtlCol="0" anchor="t">
            <a:spAutoFit/>
          </a:bodyPr>
          <a:lstStyle/>
          <a:p>
            <a:pPr marL="0" indent="0" algn="ctr">
              <a:lnSpc>
                <a:spcPts val="1400"/>
              </a:lnSpc>
              <a:buNone/>
            </a:pPr>
            <a:r>
              <a:rPr lang="en-US" sz="784" b="1" dirty="0">
                <a:solidFill>
                  <a:srgbClr val="4A5568"/>
                </a:solidFill>
                <a:latin typeface="Segoe UI" pitchFamily="34" charset="0"/>
                <a:ea typeface="Segoe UI" pitchFamily="34" charset="-122"/>
                <a:cs typeface="Segoe UI" pitchFamily="34" charset="-120"/>
              </a:rPr>
              <a:t>Low Cost</a:t>
            </a:r>
            <a:r>
              <a:rPr lang="en-US" sz="834" dirty="0">
                <a:solidFill>
                  <a:srgbClr val="4A5568"/>
                </a:solidFill>
                <a:latin typeface="Segoe UI" pitchFamily="34" charset="0"/>
                <a:ea typeface="Segoe UI" pitchFamily="34" charset="-122"/>
                <a:cs typeface="Segoe UI" pitchFamily="34" charset="-120"/>
              </a:rPr>
              <a:t> is the single most significant factor driving student adoption of the platform.</a:t>
            </a:r>
            <a:endParaRPr lang="en-US" sz="784" dirty="0"/>
          </a:p>
        </p:txBody>
      </p:sp>
      <p:sp>
        <p:nvSpPr>
          <p:cNvPr id="20" name="TextBox 19"/>
          <p:cNvSpPr txBox="1"/>
          <p:nvPr/>
        </p:nvSpPr>
        <p:spPr>
          <a:xfrm>
            <a:off x="8850834" y="4816522"/>
            <a:ext cx="250390" cy="246221"/>
          </a:xfrm>
          <a:prstGeom prst="rect">
            <a:avLst/>
          </a:prstGeom>
          <a:noFill/>
        </p:spPr>
        <p:txBody>
          <a:bodyPr wrap="none" rtlCol="0">
            <a:spAutoFit/>
          </a:bodyPr>
          <a:lstStyle/>
          <a:p>
            <a:r>
              <a:rPr lang="en-US" sz="1000" dirty="0" smtClean="0"/>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270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The Supply Side: Willingness to Share</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Leveraging Existing Resources Within the Community</a:t>
            </a:r>
            <a:endParaRPr lang="en-US" sz="1050" dirty="0"/>
          </a:p>
        </p:txBody>
      </p:sp>
      <p:sp>
        <p:nvSpPr>
          <p:cNvPr id="7" name="Shape 4"/>
          <p:cNvSpPr/>
          <p:nvPr/>
        </p:nvSpPr>
        <p:spPr>
          <a:xfrm>
            <a:off x="714375" y="1897559"/>
            <a:ext cx="3974520" cy="2857500"/>
          </a:xfrm>
          <a:prstGeom prst="rect">
            <a:avLst/>
          </a:prstGeom>
          <a:solidFill>
            <a:srgbClr val="FFFFFF"/>
          </a:solidFill>
          <a:ln/>
        </p:spPr>
      </p:sp>
      <p:pic>
        <p:nvPicPr>
          <p:cNvPr id="8" name="Image 1" descr="preencoded.png"/>
          <p:cNvPicPr>
            <a:picLocks noChangeAspect="1"/>
          </p:cNvPicPr>
          <p:nvPr/>
        </p:nvPicPr>
        <p:blipFill>
          <a:blip r:embed="rId4"/>
          <a:stretch>
            <a:fillRect/>
          </a:stretch>
        </p:blipFill>
        <p:spPr>
          <a:xfrm>
            <a:off x="714375" y="2040434"/>
            <a:ext cx="3973711" cy="2714625"/>
          </a:xfrm>
          <a:prstGeom prst="rect">
            <a:avLst/>
          </a:prstGeom>
        </p:spPr>
      </p:pic>
      <p:sp>
        <p:nvSpPr>
          <p:cNvPr id="9" name="Text 5"/>
          <p:cNvSpPr/>
          <p:nvPr/>
        </p:nvSpPr>
        <p:spPr>
          <a:xfrm>
            <a:off x="1830837" y="4862215"/>
            <a:ext cx="1396216" cy="102592"/>
          </a:xfrm>
          <a:prstGeom prst="rect">
            <a:avLst/>
          </a:prstGeom>
          <a:noFill/>
          <a:ln/>
        </p:spPr>
        <p:txBody>
          <a:bodyPr wrap="none" lIns="0" tIns="0" rIns="0" bIns="0" rtlCol="0" anchor="t">
            <a:spAutoFit/>
          </a:bodyPr>
          <a:lstStyle/>
          <a:p>
            <a:pPr marL="0" indent="0" algn="l">
              <a:lnSpc>
                <a:spcPts val="800"/>
              </a:lnSpc>
              <a:buNone/>
            </a:pPr>
            <a:r>
              <a:rPr lang="en-US" sz="621" dirty="0">
                <a:solidFill>
                  <a:srgbClr val="A0AEC0"/>
                </a:solidFill>
                <a:latin typeface="Segoe UI" pitchFamily="34" charset="0"/>
                <a:ea typeface="Segoe UI" pitchFamily="34" charset="-122"/>
                <a:cs typeface="Segoe UI" pitchFamily="34" charset="-120"/>
              </a:rPr>
              <a:t>Willingness of Student Vehicle Owners </a:t>
            </a:r>
            <a:endParaRPr lang="en-US" sz="621" dirty="0"/>
          </a:p>
        </p:txBody>
      </p:sp>
      <p:sp>
        <p:nvSpPr>
          <p:cNvPr id="10" name="Text 6"/>
          <p:cNvSpPr/>
          <p:nvPr/>
        </p:nvSpPr>
        <p:spPr>
          <a:xfrm>
            <a:off x="5117520" y="1752088"/>
            <a:ext cx="3312105" cy="182863"/>
          </a:xfrm>
          <a:prstGeom prst="rect">
            <a:avLst/>
          </a:prstGeom>
          <a:noFill/>
          <a:ln/>
        </p:spPr>
        <p:txBody>
          <a:bodyPr wrap="none" lIns="0" tIns="0" rIns="0" bIns="0" rtlCol="0" anchor="t">
            <a:spAutoFit/>
          </a:bodyPr>
          <a:lstStyle/>
          <a:p>
            <a:pPr marL="0" indent="0" algn="l">
              <a:lnSpc>
                <a:spcPts val="1400"/>
              </a:lnSpc>
              <a:buNone/>
            </a:pPr>
            <a:r>
              <a:rPr lang="en-US" sz="784" b="1" dirty="0">
                <a:solidFill>
                  <a:srgbClr val="3182CE"/>
                </a:solidFill>
                <a:latin typeface="Segoe UI" pitchFamily="34" charset="0"/>
                <a:ea typeface="Segoe UI" pitchFamily="34" charset="-122"/>
                <a:cs typeface="Segoe UI" pitchFamily="34" charset="-120"/>
              </a:rPr>
              <a:t>50.0%</a:t>
            </a:r>
            <a:endParaRPr lang="en-US" sz="784" dirty="0"/>
          </a:p>
        </p:txBody>
      </p:sp>
      <p:sp>
        <p:nvSpPr>
          <p:cNvPr id="11" name="Text 7"/>
          <p:cNvSpPr/>
          <p:nvPr/>
        </p:nvSpPr>
        <p:spPr>
          <a:xfrm>
            <a:off x="5117520" y="1970670"/>
            <a:ext cx="3312105"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Ready to Participate</a:t>
            </a:r>
            <a:endParaRPr lang="en-US" sz="1193" dirty="0"/>
          </a:p>
        </p:txBody>
      </p:sp>
      <p:sp>
        <p:nvSpPr>
          <p:cNvPr id="12" name="Text 8"/>
          <p:cNvSpPr/>
          <p:nvPr/>
        </p:nvSpPr>
        <p:spPr>
          <a:xfrm>
            <a:off x="5117520" y="2324286"/>
            <a:ext cx="3312105"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Half of the surveyed student vehicle owners expressed a clear willingness to offer rides to their peers for a small fee. This indicates a strong internal supply potential.</a:t>
            </a:r>
            <a:endParaRPr lang="en-US" sz="834" dirty="0"/>
          </a:p>
        </p:txBody>
      </p:sp>
      <p:sp>
        <p:nvSpPr>
          <p:cNvPr id="13" name="Text 9"/>
          <p:cNvSpPr/>
          <p:nvPr/>
        </p:nvSpPr>
        <p:spPr>
          <a:xfrm>
            <a:off x="5117520" y="3087188"/>
            <a:ext cx="3312105"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Community Resource</a:t>
            </a:r>
            <a:endParaRPr lang="en-US" sz="1193" dirty="0"/>
          </a:p>
        </p:txBody>
      </p:sp>
      <p:sp>
        <p:nvSpPr>
          <p:cNvPr id="14" name="Text 10"/>
          <p:cNvSpPr/>
          <p:nvPr/>
        </p:nvSpPr>
        <p:spPr>
          <a:xfrm>
            <a:off x="5117520" y="3440804"/>
            <a:ext cx="3312105"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An additional 33.3% are open to the idea ("Maybe"), suggesting that with the right incentives and trust-building features, the supply network could expand significantly.</a:t>
            </a:r>
            <a:endParaRPr lang="en-US" sz="834" dirty="0"/>
          </a:p>
        </p:txBody>
      </p:sp>
      <p:sp>
        <p:nvSpPr>
          <p:cNvPr id="15" name="Text 11"/>
          <p:cNvSpPr/>
          <p:nvPr/>
        </p:nvSpPr>
        <p:spPr>
          <a:xfrm>
            <a:off x="5117520" y="4203706"/>
            <a:ext cx="3312105"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Operational Backbone</a:t>
            </a:r>
            <a:endParaRPr lang="en-US" sz="1193" dirty="0"/>
          </a:p>
        </p:txBody>
      </p:sp>
      <p:sp>
        <p:nvSpPr>
          <p:cNvPr id="16" name="Text 12"/>
          <p:cNvSpPr/>
          <p:nvPr/>
        </p:nvSpPr>
        <p:spPr>
          <a:xfrm>
            <a:off x="5117520" y="4557322"/>
            <a:ext cx="3312105"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This existing willingness transforms commuting from a simple transaction into a trusted community service, leveraging the university's social fabric.</a:t>
            </a:r>
            <a:endParaRPr lang="en-US" sz="834" dirty="0"/>
          </a:p>
        </p:txBody>
      </p:sp>
      <p:sp>
        <p:nvSpPr>
          <p:cNvPr id="17" name="TextBox 16"/>
          <p:cNvSpPr txBox="1"/>
          <p:nvPr/>
        </p:nvSpPr>
        <p:spPr>
          <a:xfrm>
            <a:off x="8835977" y="4831617"/>
            <a:ext cx="250390" cy="246221"/>
          </a:xfrm>
          <a:prstGeom prst="rect">
            <a:avLst/>
          </a:prstGeom>
          <a:noFill/>
        </p:spPr>
        <p:txBody>
          <a:bodyPr wrap="none" rtlCol="0">
            <a:spAutoFit/>
          </a:bodyPr>
          <a:lstStyle/>
          <a:p>
            <a:r>
              <a:rPr lang="en-US" sz="1000" dirty="0" smtClean="0"/>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2700"/>
            <a:ext cx="9144000" cy="5143500"/>
          </a:xfrm>
          <a:prstGeom prst="rect">
            <a:avLst/>
          </a:prstGeom>
        </p:spPr>
      </p:pic>
      <p:sp>
        <p:nvSpPr>
          <p:cNvPr id="3" name="Shape 0"/>
          <p:cNvSpPr/>
          <p:nvPr/>
        </p:nvSpPr>
        <p:spPr>
          <a:xfrm>
            <a:off x="0" y="-1270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Building Trust and Ensuring Safety</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The Foundation of a Campus-Only Network</a:t>
            </a:r>
            <a:endParaRPr lang="en-US" sz="1050" dirty="0"/>
          </a:p>
        </p:txBody>
      </p:sp>
      <p:sp>
        <p:nvSpPr>
          <p:cNvPr id="7" name="Shape 4"/>
          <p:cNvSpPr/>
          <p:nvPr/>
        </p:nvSpPr>
        <p:spPr>
          <a:xfrm>
            <a:off x="714375" y="1714500"/>
            <a:ext cx="4371975" cy="2857500"/>
          </a:xfrm>
          <a:prstGeom prst="rect">
            <a:avLst/>
          </a:prstGeom>
          <a:solidFill>
            <a:srgbClr val="F8FAFC"/>
          </a:solidFill>
          <a:ln w="9144">
            <a:solidFill>
              <a:srgbClr val="E2E8F0"/>
            </a:solidFill>
            <a:prstDash val="solid"/>
          </a:ln>
        </p:spPr>
      </p:sp>
      <p:pic>
        <p:nvPicPr>
          <p:cNvPr id="8" name="Image 1" descr="preencoded.png"/>
          <p:cNvPicPr>
            <a:picLocks noChangeAspect="1"/>
          </p:cNvPicPr>
          <p:nvPr/>
        </p:nvPicPr>
        <p:blipFill>
          <a:blip r:embed="rId4"/>
          <a:stretch>
            <a:fillRect/>
          </a:stretch>
        </p:blipFill>
        <p:spPr>
          <a:xfrm>
            <a:off x="857250" y="1857375"/>
            <a:ext cx="4071938" cy="2557463"/>
          </a:xfrm>
          <a:prstGeom prst="rect">
            <a:avLst/>
          </a:prstGeom>
        </p:spPr>
      </p:pic>
      <p:sp>
        <p:nvSpPr>
          <p:cNvPr id="9" name="Text 5"/>
          <p:cNvSpPr/>
          <p:nvPr/>
        </p:nvSpPr>
        <p:spPr>
          <a:xfrm>
            <a:off x="2017108" y="4643438"/>
            <a:ext cx="1766509" cy="102592"/>
          </a:xfrm>
          <a:prstGeom prst="rect">
            <a:avLst/>
          </a:prstGeom>
          <a:noFill/>
          <a:ln/>
        </p:spPr>
        <p:txBody>
          <a:bodyPr wrap="none" lIns="0" tIns="0" rIns="0" bIns="0" rtlCol="0" anchor="t">
            <a:spAutoFit/>
          </a:bodyPr>
          <a:lstStyle/>
          <a:p>
            <a:pPr marL="0" indent="0" algn="ctr">
              <a:lnSpc>
                <a:spcPts val="800"/>
              </a:lnSpc>
              <a:buNone/>
            </a:pPr>
            <a:r>
              <a:rPr lang="en-US" sz="621" dirty="0">
                <a:solidFill>
                  <a:srgbClr val="718096"/>
                </a:solidFill>
                <a:latin typeface="Segoe UI" pitchFamily="34" charset="0"/>
                <a:ea typeface="Segoe UI" pitchFamily="34" charset="-122"/>
                <a:cs typeface="Segoe UI" pitchFamily="34" charset="-120"/>
              </a:rPr>
              <a:t>Factors that build the most trust among students </a:t>
            </a:r>
            <a:endParaRPr lang="en-US" sz="621" dirty="0"/>
          </a:p>
        </p:txBody>
      </p:sp>
      <p:sp>
        <p:nvSpPr>
          <p:cNvPr id="10" name="Text 6"/>
          <p:cNvSpPr/>
          <p:nvPr/>
        </p:nvSpPr>
        <p:spPr>
          <a:xfrm>
            <a:off x="5514975" y="1714500"/>
            <a:ext cx="2914650"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Verification is Key</a:t>
            </a:r>
            <a:endParaRPr lang="en-US" sz="1193" dirty="0"/>
          </a:p>
        </p:txBody>
      </p:sp>
      <p:sp>
        <p:nvSpPr>
          <p:cNvPr id="11" name="Text 7"/>
          <p:cNvSpPr/>
          <p:nvPr/>
        </p:nvSpPr>
        <p:spPr>
          <a:xfrm>
            <a:off x="5514975" y="2068116"/>
            <a:ext cx="2914650"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Mandatory university ID and email verification are the most essential features for building community trust. Restricting access to verified campus members ensures accountability.</a:t>
            </a:r>
            <a:endParaRPr lang="en-US" sz="834" dirty="0"/>
          </a:p>
        </p:txBody>
      </p:sp>
      <p:sp>
        <p:nvSpPr>
          <p:cNvPr id="12" name="Text 8"/>
          <p:cNvSpPr/>
          <p:nvPr/>
        </p:nvSpPr>
        <p:spPr>
          <a:xfrm>
            <a:off x="5514975" y="3013881"/>
            <a:ext cx="2914650"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Community Safety</a:t>
            </a:r>
            <a:endParaRPr lang="en-US" sz="1193" dirty="0"/>
          </a:p>
        </p:txBody>
      </p:sp>
      <p:sp>
        <p:nvSpPr>
          <p:cNvPr id="13" name="Text 9"/>
          <p:cNvSpPr/>
          <p:nvPr/>
        </p:nvSpPr>
        <p:spPr>
          <a:xfrm>
            <a:off x="5514975" y="3367497"/>
            <a:ext cx="2914650"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By leveraging the existing university social fabric, Campus-Cruise transforms commuting into a trusted community service rather than a simple transaction.</a:t>
            </a:r>
            <a:endParaRPr lang="en-US" sz="834" dirty="0"/>
          </a:p>
        </p:txBody>
      </p:sp>
      <p:sp>
        <p:nvSpPr>
          <p:cNvPr id="14" name="Text 10"/>
          <p:cNvSpPr/>
          <p:nvPr/>
        </p:nvSpPr>
        <p:spPr>
          <a:xfrm>
            <a:off x="5514975" y="4423293"/>
            <a:ext cx="65" cy="132344"/>
          </a:xfrm>
          <a:prstGeom prst="rect">
            <a:avLst/>
          </a:prstGeom>
          <a:noFill/>
          <a:ln/>
        </p:spPr>
        <p:txBody>
          <a:bodyPr wrap="none" lIns="0" tIns="0" rIns="0" bIns="0" rtlCol="0" anchor="t">
            <a:spAutoFit/>
          </a:bodyPr>
          <a:lstStyle/>
          <a:p>
            <a:pPr marL="0" indent="0" algn="l">
              <a:lnSpc>
                <a:spcPts val="1100"/>
              </a:lnSpc>
              <a:buNone/>
            </a:pPr>
            <a:endParaRPr lang="en-US" sz="784" dirty="0"/>
          </a:p>
        </p:txBody>
      </p:sp>
      <p:sp>
        <p:nvSpPr>
          <p:cNvPr id="15" name="Text 11"/>
          <p:cNvSpPr/>
          <p:nvPr/>
        </p:nvSpPr>
        <p:spPr>
          <a:xfrm>
            <a:off x="5514975" y="4555452"/>
            <a:ext cx="65" cy="292068"/>
          </a:xfrm>
          <a:prstGeom prst="rect">
            <a:avLst/>
          </a:prstGeom>
          <a:noFill/>
          <a:ln/>
        </p:spPr>
        <p:txBody>
          <a:bodyPr wrap="none" lIns="0" tIns="0" rIns="0" bIns="0" rtlCol="0" anchor="t">
            <a:spAutoFit/>
          </a:bodyPr>
          <a:lstStyle/>
          <a:p>
            <a:pPr marL="0" indent="0" algn="l">
              <a:lnSpc>
                <a:spcPts val="2400"/>
              </a:lnSpc>
              <a:buNone/>
            </a:pPr>
            <a:endParaRPr lang="en-US" sz="1808" dirty="0"/>
          </a:p>
        </p:txBody>
      </p:sp>
      <p:sp>
        <p:nvSpPr>
          <p:cNvPr id="16" name="Text 12"/>
          <p:cNvSpPr/>
          <p:nvPr/>
        </p:nvSpPr>
        <p:spPr>
          <a:xfrm>
            <a:off x="5514975" y="4851918"/>
            <a:ext cx="65" cy="111184"/>
          </a:xfrm>
          <a:prstGeom prst="rect">
            <a:avLst/>
          </a:prstGeom>
          <a:noFill/>
          <a:ln/>
        </p:spPr>
        <p:txBody>
          <a:bodyPr wrap="none" lIns="0" tIns="0" rIns="0" bIns="0" rtlCol="0" anchor="t">
            <a:spAutoFit/>
          </a:bodyPr>
          <a:lstStyle/>
          <a:p>
            <a:pPr marL="0" indent="0" algn="l">
              <a:lnSpc>
                <a:spcPts val="900"/>
              </a:lnSpc>
              <a:buNone/>
            </a:pPr>
            <a:endParaRPr lang="en-US" sz="727" dirty="0"/>
          </a:p>
        </p:txBody>
      </p:sp>
      <p:sp>
        <p:nvSpPr>
          <p:cNvPr id="17" name="TextBox 16"/>
          <p:cNvSpPr txBox="1"/>
          <p:nvPr/>
        </p:nvSpPr>
        <p:spPr>
          <a:xfrm>
            <a:off x="8836873" y="4847520"/>
            <a:ext cx="250390" cy="246221"/>
          </a:xfrm>
          <a:prstGeom prst="rect">
            <a:avLst/>
          </a:prstGeom>
          <a:noFill/>
        </p:spPr>
        <p:txBody>
          <a:bodyPr wrap="none" rtlCol="0">
            <a:spAutoFit/>
          </a:bodyPr>
          <a:lstStyle/>
          <a:p>
            <a:r>
              <a:rPr lang="en-US" sz="1000" dirty="0" smtClean="0"/>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Multi-Dimensional Feasibility Assessment</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Evaluating Technical, Economic, and Operational Viability</a:t>
            </a:r>
            <a:endParaRPr lang="en-US" sz="1050" dirty="0"/>
          </a:p>
        </p:txBody>
      </p:sp>
      <p:sp>
        <p:nvSpPr>
          <p:cNvPr id="7" name="Text 4"/>
          <p:cNvSpPr/>
          <p:nvPr/>
        </p:nvSpPr>
        <p:spPr>
          <a:xfrm>
            <a:off x="714375" y="1714500"/>
            <a:ext cx="2381241" cy="246459"/>
          </a:xfrm>
          <a:prstGeom prst="rect">
            <a:avLst/>
          </a:prstGeom>
          <a:noFill/>
          <a:ln/>
        </p:spPr>
        <p:txBody>
          <a:bodyPr wrap="none" lIns="0" tIns="0" rIns="0" bIns="0" rtlCol="0" anchor="t">
            <a:spAutoFit/>
          </a:bodyPr>
          <a:lstStyle/>
          <a:p>
            <a:pPr marL="0" indent="0" algn="l">
              <a:lnSpc>
                <a:spcPts val="1600"/>
              </a:lnSpc>
              <a:buNone/>
            </a:pPr>
            <a:r>
              <a:rPr lang="en-US" sz="1193" b="1" kern="0" spc="1" dirty="0">
                <a:solidFill>
                  <a:srgbClr val="1A202C"/>
                </a:solidFill>
                <a:latin typeface="Segoe UI" pitchFamily="34" charset="0"/>
                <a:ea typeface="Segoe UI" pitchFamily="34" charset="-122"/>
                <a:cs typeface="Segoe UI" pitchFamily="34" charset="-120"/>
              </a:rPr>
              <a:t>TECHNICAL</a:t>
            </a:r>
            <a:endParaRPr lang="en-US" sz="1193" dirty="0"/>
          </a:p>
        </p:txBody>
      </p:sp>
      <p:pic>
        <p:nvPicPr>
          <p:cNvPr id="8" name="Image 1" descr="preencoded.png"/>
          <p:cNvPicPr>
            <a:picLocks noChangeAspect="1"/>
          </p:cNvPicPr>
          <p:nvPr/>
        </p:nvPicPr>
        <p:blipFill>
          <a:blip r:embed="rId4"/>
          <a:stretch>
            <a:fillRect/>
          </a:stretch>
        </p:blipFill>
        <p:spPr>
          <a:xfrm>
            <a:off x="714375" y="2096691"/>
            <a:ext cx="128588" cy="128588"/>
          </a:xfrm>
          <a:prstGeom prst="rect">
            <a:avLst/>
          </a:prstGeom>
        </p:spPr>
      </p:pic>
      <p:sp>
        <p:nvSpPr>
          <p:cNvPr id="9" name="Text 5"/>
          <p:cNvSpPr/>
          <p:nvPr/>
        </p:nvSpPr>
        <p:spPr>
          <a:xfrm>
            <a:off x="928688" y="2068116"/>
            <a:ext cx="2166928"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Scalable backend infrastructure for real-time matching and user management.</a:t>
            </a:r>
            <a:endParaRPr lang="en-US" sz="834" dirty="0"/>
          </a:p>
        </p:txBody>
      </p:sp>
      <p:pic>
        <p:nvPicPr>
          <p:cNvPr id="10" name="Image 2" descr="preencoded.png"/>
          <p:cNvPicPr>
            <a:picLocks noChangeAspect="1"/>
          </p:cNvPicPr>
          <p:nvPr/>
        </p:nvPicPr>
        <p:blipFill>
          <a:blip r:embed="rId5"/>
          <a:stretch>
            <a:fillRect/>
          </a:stretch>
        </p:blipFill>
        <p:spPr>
          <a:xfrm>
            <a:off x="714375" y="2605292"/>
            <a:ext cx="128588" cy="128588"/>
          </a:xfrm>
          <a:prstGeom prst="rect">
            <a:avLst/>
          </a:prstGeom>
        </p:spPr>
      </p:pic>
      <p:sp>
        <p:nvSpPr>
          <p:cNvPr id="11" name="Text 6"/>
          <p:cNvSpPr/>
          <p:nvPr/>
        </p:nvSpPr>
        <p:spPr>
          <a:xfrm>
            <a:off x="928688" y="2576717"/>
            <a:ext cx="2166928"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Cross-platform mobile development (iOS/Android) using modern frameworks.</a:t>
            </a:r>
            <a:endParaRPr lang="en-US" sz="834" dirty="0"/>
          </a:p>
        </p:txBody>
      </p:sp>
      <p:pic>
        <p:nvPicPr>
          <p:cNvPr id="12" name="Image 3" descr="preencoded.png"/>
          <p:cNvPicPr>
            <a:picLocks noChangeAspect="1"/>
          </p:cNvPicPr>
          <p:nvPr/>
        </p:nvPicPr>
        <p:blipFill>
          <a:blip r:embed="rId6"/>
          <a:stretch>
            <a:fillRect/>
          </a:stretch>
        </p:blipFill>
        <p:spPr>
          <a:xfrm>
            <a:off x="714375" y="3113894"/>
            <a:ext cx="128588" cy="128588"/>
          </a:xfrm>
          <a:prstGeom prst="rect">
            <a:avLst/>
          </a:prstGeom>
        </p:spPr>
      </p:pic>
      <p:sp>
        <p:nvSpPr>
          <p:cNvPr id="13" name="Text 7"/>
          <p:cNvSpPr/>
          <p:nvPr/>
        </p:nvSpPr>
        <p:spPr>
          <a:xfrm>
            <a:off x="928688" y="3085319"/>
            <a:ext cx="2166928"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Seamless integration with mapping and GPS services for live tracking.</a:t>
            </a:r>
            <a:endParaRPr lang="en-US" sz="834" dirty="0"/>
          </a:p>
        </p:txBody>
      </p:sp>
      <p:sp>
        <p:nvSpPr>
          <p:cNvPr id="14" name="Text 8"/>
          <p:cNvSpPr/>
          <p:nvPr/>
        </p:nvSpPr>
        <p:spPr>
          <a:xfrm>
            <a:off x="3381366" y="1714500"/>
            <a:ext cx="2381241" cy="246459"/>
          </a:xfrm>
          <a:prstGeom prst="rect">
            <a:avLst/>
          </a:prstGeom>
          <a:noFill/>
          <a:ln/>
        </p:spPr>
        <p:txBody>
          <a:bodyPr wrap="none" lIns="0" tIns="0" rIns="0" bIns="0" rtlCol="0" anchor="t">
            <a:spAutoFit/>
          </a:bodyPr>
          <a:lstStyle/>
          <a:p>
            <a:pPr marL="0" indent="0" algn="l">
              <a:lnSpc>
                <a:spcPts val="1600"/>
              </a:lnSpc>
              <a:buNone/>
            </a:pPr>
            <a:r>
              <a:rPr lang="en-US" sz="1193" b="1" kern="0" spc="1" dirty="0">
                <a:solidFill>
                  <a:srgbClr val="1A202C"/>
                </a:solidFill>
                <a:latin typeface="Segoe UI" pitchFamily="34" charset="0"/>
                <a:ea typeface="Segoe UI" pitchFamily="34" charset="-122"/>
                <a:cs typeface="Segoe UI" pitchFamily="34" charset="-120"/>
              </a:rPr>
              <a:t>ECONOMIC</a:t>
            </a:r>
            <a:endParaRPr lang="en-US" sz="1193" dirty="0"/>
          </a:p>
        </p:txBody>
      </p:sp>
      <p:pic>
        <p:nvPicPr>
          <p:cNvPr id="15" name="Image 4" descr="preencoded.png"/>
          <p:cNvPicPr>
            <a:picLocks noChangeAspect="1"/>
          </p:cNvPicPr>
          <p:nvPr/>
        </p:nvPicPr>
        <p:blipFill>
          <a:blip r:embed="rId7"/>
          <a:stretch>
            <a:fillRect/>
          </a:stretch>
        </p:blipFill>
        <p:spPr>
          <a:xfrm>
            <a:off x="3381366" y="2096691"/>
            <a:ext cx="128588" cy="128588"/>
          </a:xfrm>
          <a:prstGeom prst="rect">
            <a:avLst/>
          </a:prstGeom>
        </p:spPr>
      </p:pic>
      <p:sp>
        <p:nvSpPr>
          <p:cNvPr id="16" name="Text 9"/>
          <p:cNvSpPr/>
          <p:nvPr/>
        </p:nvSpPr>
        <p:spPr>
          <a:xfrm>
            <a:off x="3595678" y="2068116"/>
            <a:ext cx="2166928"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Low-cost operational model leveraging the existing student-led network.</a:t>
            </a:r>
            <a:endParaRPr lang="en-US" sz="834" dirty="0"/>
          </a:p>
        </p:txBody>
      </p:sp>
      <p:pic>
        <p:nvPicPr>
          <p:cNvPr id="17" name="Image 5" descr="preencoded.png"/>
          <p:cNvPicPr>
            <a:picLocks noChangeAspect="1"/>
          </p:cNvPicPr>
          <p:nvPr/>
        </p:nvPicPr>
        <p:blipFill>
          <a:blip r:embed="rId8"/>
          <a:stretch>
            <a:fillRect/>
          </a:stretch>
        </p:blipFill>
        <p:spPr>
          <a:xfrm>
            <a:off x="3381366" y="2605292"/>
            <a:ext cx="128588" cy="128588"/>
          </a:xfrm>
          <a:prstGeom prst="rect">
            <a:avLst/>
          </a:prstGeom>
        </p:spPr>
      </p:pic>
      <p:sp>
        <p:nvSpPr>
          <p:cNvPr id="18" name="Text 10"/>
          <p:cNvSpPr/>
          <p:nvPr/>
        </p:nvSpPr>
        <p:spPr>
          <a:xfrm>
            <a:off x="3595678" y="2576717"/>
            <a:ext cx="2166928"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Potential for small transaction fees to cover server and maintenance costs.</a:t>
            </a:r>
            <a:endParaRPr lang="en-US" sz="834" dirty="0"/>
          </a:p>
        </p:txBody>
      </p:sp>
      <p:pic>
        <p:nvPicPr>
          <p:cNvPr id="19" name="Image 6" descr="preencoded.png"/>
          <p:cNvPicPr>
            <a:picLocks noChangeAspect="1"/>
          </p:cNvPicPr>
          <p:nvPr/>
        </p:nvPicPr>
        <p:blipFill>
          <a:blip r:embed="rId9"/>
          <a:stretch>
            <a:fillRect/>
          </a:stretch>
        </p:blipFill>
        <p:spPr>
          <a:xfrm>
            <a:off x="3381366" y="3113894"/>
            <a:ext cx="128588" cy="128588"/>
          </a:xfrm>
          <a:prstGeom prst="rect">
            <a:avLst/>
          </a:prstGeom>
        </p:spPr>
      </p:pic>
      <p:sp>
        <p:nvSpPr>
          <p:cNvPr id="20" name="Text 11"/>
          <p:cNvSpPr/>
          <p:nvPr/>
        </p:nvSpPr>
        <p:spPr>
          <a:xfrm>
            <a:off x="3595678" y="3085319"/>
            <a:ext cx="2166928"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Significant cost savings for daily student commuters compared to private options.</a:t>
            </a:r>
            <a:endParaRPr lang="en-US" sz="834" dirty="0"/>
          </a:p>
        </p:txBody>
      </p:sp>
      <p:sp>
        <p:nvSpPr>
          <p:cNvPr id="21" name="Text 12"/>
          <p:cNvSpPr/>
          <p:nvPr/>
        </p:nvSpPr>
        <p:spPr>
          <a:xfrm>
            <a:off x="6048356" y="1714500"/>
            <a:ext cx="2381269" cy="246459"/>
          </a:xfrm>
          <a:prstGeom prst="rect">
            <a:avLst/>
          </a:prstGeom>
          <a:noFill/>
          <a:ln/>
        </p:spPr>
        <p:txBody>
          <a:bodyPr wrap="none" lIns="0" tIns="0" rIns="0" bIns="0" rtlCol="0" anchor="t">
            <a:spAutoFit/>
          </a:bodyPr>
          <a:lstStyle/>
          <a:p>
            <a:pPr marL="0" indent="0" algn="l">
              <a:lnSpc>
                <a:spcPts val="1600"/>
              </a:lnSpc>
              <a:buNone/>
            </a:pPr>
            <a:r>
              <a:rPr lang="en-US" sz="1193" b="1" kern="0" spc="1" dirty="0">
                <a:solidFill>
                  <a:srgbClr val="1A202C"/>
                </a:solidFill>
                <a:latin typeface="Segoe UI" pitchFamily="34" charset="0"/>
                <a:ea typeface="Segoe UI" pitchFamily="34" charset="-122"/>
                <a:cs typeface="Segoe UI" pitchFamily="34" charset="-120"/>
              </a:rPr>
              <a:t>OPERATIONAL</a:t>
            </a:r>
            <a:endParaRPr lang="en-US" sz="1193" dirty="0"/>
          </a:p>
        </p:txBody>
      </p:sp>
      <p:pic>
        <p:nvPicPr>
          <p:cNvPr id="22" name="Image 7" descr="preencoded.png"/>
          <p:cNvPicPr>
            <a:picLocks noChangeAspect="1"/>
          </p:cNvPicPr>
          <p:nvPr/>
        </p:nvPicPr>
        <p:blipFill>
          <a:blip r:embed="rId10"/>
          <a:stretch>
            <a:fillRect/>
          </a:stretch>
        </p:blipFill>
        <p:spPr>
          <a:xfrm>
            <a:off x="6048356" y="2096691"/>
            <a:ext cx="128588" cy="128588"/>
          </a:xfrm>
          <a:prstGeom prst="rect">
            <a:avLst/>
          </a:prstGeom>
        </p:spPr>
      </p:pic>
      <p:sp>
        <p:nvSpPr>
          <p:cNvPr id="23" name="Text 13"/>
          <p:cNvSpPr/>
          <p:nvPr/>
        </p:nvSpPr>
        <p:spPr>
          <a:xfrm>
            <a:off x="6262669" y="2068116"/>
            <a:ext cx="2166956"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High user acceptance and demand within the UIU student community.</a:t>
            </a:r>
            <a:endParaRPr lang="en-US" sz="834" dirty="0"/>
          </a:p>
        </p:txBody>
      </p:sp>
      <p:pic>
        <p:nvPicPr>
          <p:cNvPr id="24" name="Image 8" descr="preencoded.png"/>
          <p:cNvPicPr>
            <a:picLocks noChangeAspect="1"/>
          </p:cNvPicPr>
          <p:nvPr/>
        </p:nvPicPr>
        <p:blipFill>
          <a:blip r:embed="rId11"/>
          <a:stretch>
            <a:fillRect/>
          </a:stretch>
        </p:blipFill>
        <p:spPr>
          <a:xfrm>
            <a:off x="6048356" y="2605292"/>
            <a:ext cx="128588" cy="128588"/>
          </a:xfrm>
          <a:prstGeom prst="rect">
            <a:avLst/>
          </a:prstGeom>
        </p:spPr>
      </p:pic>
      <p:sp>
        <p:nvSpPr>
          <p:cNvPr id="25" name="Text 14"/>
          <p:cNvSpPr/>
          <p:nvPr/>
        </p:nvSpPr>
        <p:spPr>
          <a:xfrm>
            <a:off x="6262669" y="2576717"/>
            <a:ext cx="2166956"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Integration with university class schedules for automated ride matching.</a:t>
            </a:r>
            <a:endParaRPr lang="en-US" sz="834" dirty="0"/>
          </a:p>
        </p:txBody>
      </p:sp>
      <p:pic>
        <p:nvPicPr>
          <p:cNvPr id="26" name="Image 9" descr="preencoded.png"/>
          <p:cNvPicPr>
            <a:picLocks noChangeAspect="1"/>
          </p:cNvPicPr>
          <p:nvPr/>
        </p:nvPicPr>
        <p:blipFill>
          <a:blip r:embed="rId12"/>
          <a:stretch>
            <a:fillRect/>
          </a:stretch>
        </p:blipFill>
        <p:spPr>
          <a:xfrm>
            <a:off x="6048356" y="3113894"/>
            <a:ext cx="128588" cy="128588"/>
          </a:xfrm>
          <a:prstGeom prst="rect">
            <a:avLst/>
          </a:prstGeom>
        </p:spPr>
      </p:pic>
      <p:sp>
        <p:nvSpPr>
          <p:cNvPr id="27" name="Text 15"/>
          <p:cNvSpPr/>
          <p:nvPr/>
        </p:nvSpPr>
        <p:spPr>
          <a:xfrm>
            <a:off x="6262669" y="3085319"/>
            <a:ext cx="2166956"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Verified student network ensures a high level of trust and safety.</a:t>
            </a:r>
            <a:endParaRPr lang="en-US" sz="834" dirty="0"/>
          </a:p>
        </p:txBody>
      </p:sp>
      <p:sp>
        <p:nvSpPr>
          <p:cNvPr id="28" name="TextBox 27"/>
          <p:cNvSpPr txBox="1"/>
          <p:nvPr/>
        </p:nvSpPr>
        <p:spPr>
          <a:xfrm>
            <a:off x="8753111" y="4879127"/>
            <a:ext cx="316112" cy="246221"/>
          </a:xfrm>
          <a:prstGeom prst="rect">
            <a:avLst/>
          </a:prstGeom>
          <a:noFill/>
        </p:spPr>
        <p:txBody>
          <a:bodyPr wrap="none" rtlCol="0">
            <a:spAutoFit/>
          </a:bodyPr>
          <a:lstStyle/>
          <a:p>
            <a:r>
              <a:rPr lang="en-US" sz="1000" dirty="0" smtClean="0"/>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Final Verdict: The Project is Highly Feasible</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Campus-Cruise is Viable for Implementation</a:t>
            </a:r>
            <a:endParaRPr lang="en-US" sz="1050" dirty="0"/>
          </a:p>
        </p:txBody>
      </p:sp>
      <p:sp>
        <p:nvSpPr>
          <p:cNvPr id="7" name="Shape 4"/>
          <p:cNvSpPr/>
          <p:nvPr/>
        </p:nvSpPr>
        <p:spPr>
          <a:xfrm>
            <a:off x="714375" y="1571625"/>
            <a:ext cx="7715250" cy="1071563"/>
          </a:xfrm>
          <a:prstGeom prst="rect">
            <a:avLst/>
          </a:prstGeom>
          <a:solidFill>
            <a:srgbClr val="38A169"/>
          </a:solidFill>
          <a:ln/>
        </p:spPr>
      </p:sp>
      <p:sp>
        <p:nvSpPr>
          <p:cNvPr id="8" name="Text 5"/>
          <p:cNvSpPr/>
          <p:nvPr/>
        </p:nvSpPr>
        <p:spPr>
          <a:xfrm>
            <a:off x="1000125" y="1935063"/>
            <a:ext cx="7429500" cy="394692"/>
          </a:xfrm>
          <a:prstGeom prst="rect">
            <a:avLst/>
          </a:prstGeom>
          <a:noFill/>
          <a:ln/>
        </p:spPr>
        <p:txBody>
          <a:bodyPr wrap="none" lIns="0" tIns="0" rIns="0" bIns="0" rtlCol="0" anchor="t">
            <a:spAutoFit/>
          </a:bodyPr>
          <a:lstStyle/>
          <a:p>
            <a:pPr marL="0" indent="0" algn="l">
              <a:lnSpc>
                <a:spcPts val="3200"/>
              </a:lnSpc>
              <a:buNone/>
            </a:pPr>
            <a:r>
              <a:rPr lang="en-US" sz="2436" b="1" kern="0" spc="3" dirty="0">
                <a:solidFill>
                  <a:srgbClr val="FFFFFF"/>
                </a:solidFill>
                <a:latin typeface="Segoe UI" pitchFamily="34" charset="0"/>
                <a:ea typeface="Segoe UI" pitchFamily="34" charset="-122"/>
                <a:cs typeface="Segoe UI" pitchFamily="34" charset="-120"/>
              </a:rPr>
              <a:t>PROJECT FEASIBLE</a:t>
            </a:r>
            <a:endParaRPr lang="en-US" sz="2436" dirty="0"/>
          </a:p>
        </p:txBody>
      </p:sp>
      <p:sp>
        <p:nvSpPr>
          <p:cNvPr id="9" name="Text 6"/>
          <p:cNvSpPr/>
          <p:nvPr/>
        </p:nvSpPr>
        <p:spPr>
          <a:xfrm>
            <a:off x="1000125" y="2329755"/>
            <a:ext cx="742950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FFFFFF">
                    <a:alpha val="90000"/>
                  </a:srgbClr>
                </a:solidFill>
                <a:latin typeface="Segoe UI" pitchFamily="34" charset="0"/>
                <a:ea typeface="Segoe UI" pitchFamily="34" charset="-122"/>
                <a:cs typeface="Segoe UI" pitchFamily="34" charset="-120"/>
              </a:rPr>
              <a:t>Ready for Strategic Development and Launch</a:t>
            </a:r>
            <a:endParaRPr lang="en-US" sz="1050" dirty="0"/>
          </a:p>
        </p:txBody>
      </p:sp>
      <p:pic>
        <p:nvPicPr>
          <p:cNvPr id="10" name="Image 1" descr="preencoded.png"/>
          <p:cNvPicPr>
            <a:picLocks noChangeAspect="1"/>
          </p:cNvPicPr>
          <p:nvPr/>
        </p:nvPicPr>
        <p:blipFill>
          <a:blip r:embed="rId4"/>
          <a:stretch>
            <a:fillRect/>
          </a:stretch>
        </p:blipFill>
        <p:spPr>
          <a:xfrm>
            <a:off x="714375" y="3134320"/>
            <a:ext cx="196453" cy="157163"/>
          </a:xfrm>
          <a:prstGeom prst="rect">
            <a:avLst/>
          </a:prstGeom>
        </p:spPr>
      </p:pic>
      <p:sp>
        <p:nvSpPr>
          <p:cNvPr id="11" name="Text 7"/>
          <p:cNvSpPr/>
          <p:nvPr/>
        </p:nvSpPr>
        <p:spPr>
          <a:xfrm>
            <a:off x="982266" y="3121819"/>
            <a:ext cx="1012906"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202C"/>
                </a:solidFill>
                <a:latin typeface="Segoe UI" pitchFamily="34" charset="0"/>
                <a:ea typeface="Segoe UI" pitchFamily="34" charset="-122"/>
                <a:cs typeface="Segoe UI" pitchFamily="34" charset="-120"/>
              </a:rPr>
              <a:t>High Demand</a:t>
            </a:r>
            <a:endParaRPr lang="en-US" sz="1090" dirty="0"/>
          </a:p>
        </p:txBody>
      </p:sp>
      <p:sp>
        <p:nvSpPr>
          <p:cNvPr id="12" name="Text 8"/>
          <p:cNvSpPr/>
          <p:nvPr/>
        </p:nvSpPr>
        <p:spPr>
          <a:xfrm>
            <a:off x="714375" y="3411141"/>
            <a:ext cx="2381241"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78% student interest rate and clear dissatisfaction with current public transport options provide a strong user base from day one.</a:t>
            </a:r>
            <a:endParaRPr lang="en-US" sz="834" dirty="0"/>
          </a:p>
        </p:txBody>
      </p:sp>
      <p:pic>
        <p:nvPicPr>
          <p:cNvPr id="13" name="Image 2" descr="preencoded.png"/>
          <p:cNvPicPr>
            <a:picLocks noChangeAspect="1"/>
          </p:cNvPicPr>
          <p:nvPr/>
        </p:nvPicPr>
        <p:blipFill>
          <a:blip r:embed="rId5"/>
          <a:stretch>
            <a:fillRect/>
          </a:stretch>
        </p:blipFill>
        <p:spPr>
          <a:xfrm>
            <a:off x="3381366" y="3134320"/>
            <a:ext cx="157163" cy="157163"/>
          </a:xfrm>
          <a:prstGeom prst="rect">
            <a:avLst/>
          </a:prstGeom>
        </p:spPr>
      </p:pic>
      <p:sp>
        <p:nvSpPr>
          <p:cNvPr id="14" name="Text 9"/>
          <p:cNvSpPr/>
          <p:nvPr/>
        </p:nvSpPr>
        <p:spPr>
          <a:xfrm>
            <a:off x="3609966" y="3121819"/>
            <a:ext cx="838693"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202C"/>
                </a:solidFill>
                <a:latin typeface="Segoe UI" pitchFamily="34" charset="0"/>
                <a:ea typeface="Segoe UI" pitchFamily="34" charset="-122"/>
                <a:cs typeface="Segoe UI" pitchFamily="34" charset="-120"/>
              </a:rPr>
              <a:t>Practicality</a:t>
            </a:r>
            <a:endParaRPr lang="en-US" sz="1090" dirty="0"/>
          </a:p>
        </p:txBody>
      </p:sp>
      <p:sp>
        <p:nvSpPr>
          <p:cNvPr id="15" name="Text 10"/>
          <p:cNvSpPr/>
          <p:nvPr/>
        </p:nvSpPr>
        <p:spPr>
          <a:xfrm>
            <a:off x="3381366" y="3411141"/>
            <a:ext cx="2381241"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Dense student population and existing willingness of 50% of vehicle owners to share rides ensure a sustainable supply-demand balance.</a:t>
            </a:r>
            <a:endParaRPr lang="en-US" sz="834" dirty="0"/>
          </a:p>
        </p:txBody>
      </p:sp>
      <p:pic>
        <p:nvPicPr>
          <p:cNvPr id="16" name="Image 3" descr="preencoded.png"/>
          <p:cNvPicPr>
            <a:picLocks noChangeAspect="1"/>
          </p:cNvPicPr>
          <p:nvPr/>
        </p:nvPicPr>
        <p:blipFill>
          <a:blip r:embed="rId6"/>
          <a:stretch>
            <a:fillRect/>
          </a:stretch>
        </p:blipFill>
        <p:spPr>
          <a:xfrm>
            <a:off x="6048356" y="3134320"/>
            <a:ext cx="157163" cy="157163"/>
          </a:xfrm>
          <a:prstGeom prst="rect">
            <a:avLst/>
          </a:prstGeom>
        </p:spPr>
      </p:pic>
      <p:sp>
        <p:nvSpPr>
          <p:cNvPr id="17" name="Text 11"/>
          <p:cNvSpPr/>
          <p:nvPr/>
        </p:nvSpPr>
        <p:spPr>
          <a:xfrm>
            <a:off x="6276956" y="3121819"/>
            <a:ext cx="1473036"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202C"/>
                </a:solidFill>
                <a:latin typeface="Segoe UI" pitchFamily="34" charset="0"/>
                <a:ea typeface="Segoe UI" pitchFamily="34" charset="-122"/>
                <a:cs typeface="Segoe UI" pitchFamily="34" charset="-120"/>
              </a:rPr>
              <a:t>Technical Roadmap</a:t>
            </a:r>
            <a:endParaRPr lang="en-US" sz="1090" dirty="0"/>
          </a:p>
        </p:txBody>
      </p:sp>
      <p:sp>
        <p:nvSpPr>
          <p:cNvPr id="18" name="Text 12"/>
          <p:cNvSpPr/>
          <p:nvPr/>
        </p:nvSpPr>
        <p:spPr>
          <a:xfrm>
            <a:off x="6048356" y="3411141"/>
            <a:ext cx="2381269"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Clear development milestones and existing technology stacks (GPS, Real-time matching) support a successful and scalable launch.</a:t>
            </a:r>
            <a:endParaRPr lang="en-US" sz="834" dirty="0"/>
          </a:p>
        </p:txBody>
      </p:sp>
      <p:sp>
        <p:nvSpPr>
          <p:cNvPr id="19" name="TextBox 18"/>
          <p:cNvSpPr txBox="1"/>
          <p:nvPr/>
        </p:nvSpPr>
        <p:spPr>
          <a:xfrm>
            <a:off x="8762579" y="4823284"/>
            <a:ext cx="316112" cy="246221"/>
          </a:xfrm>
          <a:prstGeom prst="rect">
            <a:avLst/>
          </a:prstGeom>
          <a:noFill/>
        </p:spPr>
        <p:txBody>
          <a:bodyPr wrap="none" rtlCol="0">
            <a:spAutoFit/>
          </a:bodyPr>
          <a:lstStyle/>
          <a:p>
            <a:r>
              <a:rPr lang="en-US" sz="1000" dirty="0" smtClean="0"/>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Core Features of Campus-Cruise</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Designing a Solution Tailored for Students</a:t>
            </a:r>
            <a:endParaRPr lang="en-US" sz="1050" dirty="0"/>
          </a:p>
        </p:txBody>
      </p:sp>
      <p:pic>
        <p:nvPicPr>
          <p:cNvPr id="7" name="Image 1" descr="preencoded.png"/>
          <p:cNvPicPr>
            <a:picLocks noChangeAspect="1"/>
          </p:cNvPicPr>
          <p:nvPr/>
        </p:nvPicPr>
        <p:blipFill>
          <a:blip r:embed="rId4"/>
          <a:stretch>
            <a:fillRect/>
          </a:stretch>
        </p:blipFill>
        <p:spPr>
          <a:xfrm>
            <a:off x="714375" y="1723430"/>
            <a:ext cx="142875" cy="114300"/>
          </a:xfrm>
          <a:prstGeom prst="rect">
            <a:avLst/>
          </a:prstGeom>
        </p:spPr>
      </p:pic>
      <p:sp>
        <p:nvSpPr>
          <p:cNvPr id="8" name="Text 4"/>
          <p:cNvSpPr/>
          <p:nvPr/>
        </p:nvSpPr>
        <p:spPr>
          <a:xfrm>
            <a:off x="928688" y="1714500"/>
            <a:ext cx="730504" cy="132159"/>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182CE"/>
                </a:solidFill>
                <a:latin typeface="Segoe UI" pitchFamily="34" charset="0"/>
                <a:ea typeface="Segoe UI" pitchFamily="34" charset="-122"/>
                <a:cs typeface="Segoe UI" pitchFamily="34" charset="-120"/>
              </a:rPr>
              <a:t>Security First</a:t>
            </a:r>
            <a:endParaRPr lang="en-US" sz="784" dirty="0"/>
          </a:p>
        </p:txBody>
      </p:sp>
      <p:sp>
        <p:nvSpPr>
          <p:cNvPr id="9" name="Text 5"/>
          <p:cNvSpPr/>
          <p:nvPr/>
        </p:nvSpPr>
        <p:spPr>
          <a:xfrm>
            <a:off x="714375" y="1882378"/>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User Authentication</a:t>
            </a:r>
            <a:endParaRPr lang="en-US" sz="1193" dirty="0"/>
          </a:p>
        </p:txBody>
      </p:sp>
      <p:sp>
        <p:nvSpPr>
          <p:cNvPr id="10" name="Text 6"/>
          <p:cNvSpPr/>
          <p:nvPr/>
        </p:nvSpPr>
        <p:spPr>
          <a:xfrm>
            <a:off x="714375" y="2271713"/>
            <a:ext cx="3643313"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Secure login exclusively via university email and mandatory ID verification. This ensures that the network remains a trusted, student-only environment, significantly reducing safety risks.</a:t>
            </a:r>
            <a:endParaRPr lang="en-US" sz="834" dirty="0"/>
          </a:p>
        </p:txBody>
      </p:sp>
      <p:pic>
        <p:nvPicPr>
          <p:cNvPr id="11" name="Image 2" descr="preencoded.png"/>
          <p:cNvPicPr>
            <a:picLocks noChangeAspect="1"/>
          </p:cNvPicPr>
          <p:nvPr/>
        </p:nvPicPr>
        <p:blipFill>
          <a:blip r:embed="rId5"/>
          <a:stretch>
            <a:fillRect/>
          </a:stretch>
        </p:blipFill>
        <p:spPr>
          <a:xfrm>
            <a:off x="4786313" y="1723430"/>
            <a:ext cx="114300" cy="114300"/>
          </a:xfrm>
          <a:prstGeom prst="rect">
            <a:avLst/>
          </a:prstGeom>
        </p:spPr>
      </p:pic>
      <p:sp>
        <p:nvSpPr>
          <p:cNvPr id="12" name="Text 7"/>
          <p:cNvSpPr/>
          <p:nvPr/>
        </p:nvSpPr>
        <p:spPr>
          <a:xfrm>
            <a:off x="4972050" y="1714500"/>
            <a:ext cx="648016" cy="132159"/>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182CE"/>
                </a:solidFill>
                <a:latin typeface="Segoe UI" pitchFamily="34" charset="0"/>
                <a:ea typeface="Segoe UI" pitchFamily="34" charset="-122"/>
                <a:cs typeface="Segoe UI" pitchFamily="34" charset="-120"/>
              </a:rPr>
              <a:t>Ease of Use</a:t>
            </a:r>
            <a:endParaRPr lang="en-US" sz="784" dirty="0"/>
          </a:p>
        </p:txBody>
      </p:sp>
      <p:sp>
        <p:nvSpPr>
          <p:cNvPr id="13" name="Text 8"/>
          <p:cNvSpPr/>
          <p:nvPr/>
        </p:nvSpPr>
        <p:spPr>
          <a:xfrm>
            <a:off x="4786313" y="1882378"/>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Ride Posting &amp; Search</a:t>
            </a:r>
            <a:endParaRPr lang="en-US" sz="1193" dirty="0"/>
          </a:p>
        </p:txBody>
      </p:sp>
      <p:sp>
        <p:nvSpPr>
          <p:cNvPr id="14" name="Text 9"/>
          <p:cNvSpPr/>
          <p:nvPr/>
        </p:nvSpPr>
        <p:spPr>
          <a:xfrm>
            <a:off x="4786313" y="2271713"/>
            <a:ext cx="3643313"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An intuitive interface allows student drivers to post their routes and schedules in seconds. Riders can easily search for available trips that match their campus commute needs.</a:t>
            </a:r>
            <a:endParaRPr lang="en-US" sz="834" dirty="0"/>
          </a:p>
        </p:txBody>
      </p:sp>
      <p:pic>
        <p:nvPicPr>
          <p:cNvPr id="15" name="Image 3" descr="preencoded.png"/>
          <p:cNvPicPr>
            <a:picLocks noChangeAspect="1"/>
          </p:cNvPicPr>
          <p:nvPr/>
        </p:nvPicPr>
        <p:blipFill>
          <a:blip r:embed="rId6"/>
          <a:stretch>
            <a:fillRect/>
          </a:stretch>
        </p:blipFill>
        <p:spPr>
          <a:xfrm>
            <a:off x="714375" y="3652242"/>
            <a:ext cx="114300" cy="114300"/>
          </a:xfrm>
          <a:prstGeom prst="rect">
            <a:avLst/>
          </a:prstGeom>
        </p:spPr>
      </p:pic>
      <p:sp>
        <p:nvSpPr>
          <p:cNvPr id="16" name="Text 10"/>
          <p:cNvSpPr/>
          <p:nvPr/>
        </p:nvSpPr>
        <p:spPr>
          <a:xfrm>
            <a:off x="900113" y="3643313"/>
            <a:ext cx="539967" cy="132159"/>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182CE"/>
                </a:solidFill>
                <a:latin typeface="Segoe UI" pitchFamily="34" charset="0"/>
                <a:ea typeface="Segoe UI" pitchFamily="34" charset="-122"/>
                <a:cs typeface="Segoe UI" pitchFamily="34" charset="-120"/>
              </a:rPr>
              <a:t>Efficiency</a:t>
            </a:r>
            <a:endParaRPr lang="en-US" sz="784" dirty="0"/>
          </a:p>
        </p:txBody>
      </p:sp>
      <p:sp>
        <p:nvSpPr>
          <p:cNvPr id="17" name="Text 11"/>
          <p:cNvSpPr/>
          <p:nvPr/>
        </p:nvSpPr>
        <p:spPr>
          <a:xfrm>
            <a:off x="714375" y="3811191"/>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Smart Ride Matching</a:t>
            </a:r>
            <a:endParaRPr lang="en-US" sz="1193" dirty="0"/>
          </a:p>
        </p:txBody>
      </p:sp>
      <p:sp>
        <p:nvSpPr>
          <p:cNvPr id="18" name="Text 12"/>
          <p:cNvSpPr/>
          <p:nvPr/>
        </p:nvSpPr>
        <p:spPr>
          <a:xfrm>
            <a:off x="714375" y="4200525"/>
            <a:ext cx="3643313"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Advanced synchronization algorithms match riders and drivers based on route proximity and timing, maximizing efficiency and reducing wait times during peak academic hours.</a:t>
            </a:r>
            <a:endParaRPr lang="en-US" sz="834" dirty="0"/>
          </a:p>
        </p:txBody>
      </p:sp>
      <p:pic>
        <p:nvPicPr>
          <p:cNvPr id="19" name="Image 4" descr="preencoded.png"/>
          <p:cNvPicPr>
            <a:picLocks noChangeAspect="1"/>
          </p:cNvPicPr>
          <p:nvPr/>
        </p:nvPicPr>
        <p:blipFill>
          <a:blip r:embed="rId7"/>
          <a:stretch>
            <a:fillRect/>
          </a:stretch>
        </p:blipFill>
        <p:spPr>
          <a:xfrm>
            <a:off x="4786313" y="3652242"/>
            <a:ext cx="114300" cy="114300"/>
          </a:xfrm>
          <a:prstGeom prst="rect">
            <a:avLst/>
          </a:prstGeom>
        </p:spPr>
      </p:pic>
      <p:sp>
        <p:nvSpPr>
          <p:cNvPr id="20" name="Text 13"/>
          <p:cNvSpPr/>
          <p:nvPr/>
        </p:nvSpPr>
        <p:spPr>
          <a:xfrm>
            <a:off x="4972050" y="3643313"/>
            <a:ext cx="540023" cy="132159"/>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182CE"/>
                </a:solidFill>
                <a:latin typeface="Segoe UI" pitchFamily="34" charset="0"/>
                <a:ea typeface="Segoe UI" pitchFamily="34" charset="-122"/>
                <a:cs typeface="Segoe UI" pitchFamily="34" charset="-120"/>
              </a:rPr>
              <a:t>Fair Value</a:t>
            </a:r>
            <a:endParaRPr lang="en-US" sz="784" dirty="0"/>
          </a:p>
        </p:txBody>
      </p:sp>
      <p:sp>
        <p:nvSpPr>
          <p:cNvPr id="21" name="Text 14"/>
          <p:cNvSpPr/>
          <p:nvPr/>
        </p:nvSpPr>
        <p:spPr>
          <a:xfrm>
            <a:off x="4786313" y="3811191"/>
            <a:ext cx="3643313"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Dynamic Pricing</a:t>
            </a:r>
            <a:endParaRPr lang="en-US" sz="1193" dirty="0"/>
          </a:p>
        </p:txBody>
      </p:sp>
      <p:sp>
        <p:nvSpPr>
          <p:cNvPr id="22" name="Text 15"/>
          <p:cNvSpPr/>
          <p:nvPr/>
        </p:nvSpPr>
        <p:spPr>
          <a:xfrm>
            <a:off x="4786313" y="4200525"/>
            <a:ext cx="3643313"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Fair pricing models that adjust based on demand and traffic conditions. This ensures that the service remains affordable for students while providing fair compensation for drivers.</a:t>
            </a:r>
            <a:endParaRPr lang="en-US" sz="834" dirty="0"/>
          </a:p>
        </p:txBody>
      </p:sp>
      <p:sp>
        <p:nvSpPr>
          <p:cNvPr id="23" name="TextBox 22"/>
          <p:cNvSpPr txBox="1"/>
          <p:nvPr/>
        </p:nvSpPr>
        <p:spPr>
          <a:xfrm>
            <a:off x="8760091" y="4864293"/>
            <a:ext cx="316112" cy="246221"/>
          </a:xfrm>
          <a:prstGeom prst="rect">
            <a:avLst/>
          </a:prstGeom>
          <a:noFill/>
        </p:spPr>
        <p:txBody>
          <a:bodyPr wrap="none" rtlCol="0">
            <a:spAutoFit/>
          </a:bodyPr>
          <a:lstStyle/>
          <a:p>
            <a:r>
              <a:rPr lang="en-US" sz="1000" dirty="0" smtClean="0"/>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Advanced Features for Enhanced Experience</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Going Beyond Basic Ride-Sharing</a:t>
            </a:r>
            <a:endParaRPr lang="en-US" sz="1050" dirty="0"/>
          </a:p>
        </p:txBody>
      </p:sp>
      <p:pic>
        <p:nvPicPr>
          <p:cNvPr id="7" name="Image 1" descr="preencoded.png"/>
          <p:cNvPicPr>
            <a:picLocks noChangeAspect="1"/>
          </p:cNvPicPr>
          <p:nvPr/>
        </p:nvPicPr>
        <p:blipFill>
          <a:blip r:embed="rId4"/>
          <a:stretch>
            <a:fillRect/>
          </a:stretch>
        </p:blipFill>
        <p:spPr>
          <a:xfrm>
            <a:off x="714375" y="1727002"/>
            <a:ext cx="250031" cy="285750"/>
          </a:xfrm>
          <a:prstGeom prst="rect">
            <a:avLst/>
          </a:prstGeom>
        </p:spPr>
      </p:pic>
      <p:sp>
        <p:nvSpPr>
          <p:cNvPr id="8" name="Text 4"/>
          <p:cNvSpPr/>
          <p:nvPr/>
        </p:nvSpPr>
        <p:spPr>
          <a:xfrm>
            <a:off x="714375" y="2185988"/>
            <a:ext cx="2381241"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Smart Scheduling</a:t>
            </a:r>
            <a:endParaRPr lang="en-US" sz="1193" dirty="0"/>
          </a:p>
        </p:txBody>
      </p:sp>
      <p:sp>
        <p:nvSpPr>
          <p:cNvPr id="9" name="Text 5"/>
          <p:cNvSpPr/>
          <p:nvPr/>
        </p:nvSpPr>
        <p:spPr>
          <a:xfrm>
            <a:off x="714375" y="2539603"/>
            <a:ext cx="2381241" cy="914316"/>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Automated ride booking integrated directly with university class routines. Students can set recurring trips based on their weekly schedules, reducing the daily hassle of finding rides.</a:t>
            </a:r>
            <a:endParaRPr lang="en-US" sz="834" dirty="0"/>
          </a:p>
        </p:txBody>
      </p:sp>
      <p:pic>
        <p:nvPicPr>
          <p:cNvPr id="10" name="Image 2" descr="preencoded.png"/>
          <p:cNvPicPr>
            <a:picLocks noChangeAspect="1"/>
          </p:cNvPicPr>
          <p:nvPr/>
        </p:nvPicPr>
        <p:blipFill>
          <a:blip r:embed="rId5"/>
          <a:stretch>
            <a:fillRect/>
          </a:stretch>
        </p:blipFill>
        <p:spPr>
          <a:xfrm>
            <a:off x="3381366" y="1727002"/>
            <a:ext cx="357188" cy="285750"/>
          </a:xfrm>
          <a:prstGeom prst="rect">
            <a:avLst/>
          </a:prstGeom>
        </p:spPr>
      </p:pic>
      <p:sp>
        <p:nvSpPr>
          <p:cNvPr id="11" name="Text 6"/>
          <p:cNvSpPr/>
          <p:nvPr/>
        </p:nvSpPr>
        <p:spPr>
          <a:xfrm>
            <a:off x="3381366" y="2185988"/>
            <a:ext cx="2381241"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Safety &amp; Security</a:t>
            </a:r>
            <a:endParaRPr lang="en-US" sz="1193" dirty="0"/>
          </a:p>
        </p:txBody>
      </p:sp>
      <p:sp>
        <p:nvSpPr>
          <p:cNvPr id="12" name="Text 7"/>
          <p:cNvSpPr/>
          <p:nvPr/>
        </p:nvSpPr>
        <p:spPr>
          <a:xfrm>
            <a:off x="3381366" y="2539603"/>
            <a:ext cx="2381241" cy="914316"/>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A verified student-only network backed by mandatory ID verification. Includes an integrated Emergency SOS feature and live GPS tracking shared with trusted campus contacts.</a:t>
            </a:r>
            <a:endParaRPr lang="en-US" sz="834" dirty="0"/>
          </a:p>
        </p:txBody>
      </p:sp>
      <p:pic>
        <p:nvPicPr>
          <p:cNvPr id="13" name="Image 3" descr="preencoded.png"/>
          <p:cNvPicPr>
            <a:picLocks noChangeAspect="1"/>
          </p:cNvPicPr>
          <p:nvPr/>
        </p:nvPicPr>
        <p:blipFill>
          <a:blip r:embed="rId6"/>
          <a:stretch>
            <a:fillRect/>
          </a:stretch>
        </p:blipFill>
        <p:spPr>
          <a:xfrm>
            <a:off x="6048356" y="1727002"/>
            <a:ext cx="357188" cy="285750"/>
          </a:xfrm>
          <a:prstGeom prst="rect">
            <a:avLst/>
          </a:prstGeom>
        </p:spPr>
      </p:pic>
      <p:sp>
        <p:nvSpPr>
          <p:cNvPr id="14" name="Text 8"/>
          <p:cNvSpPr/>
          <p:nvPr/>
        </p:nvSpPr>
        <p:spPr>
          <a:xfrm>
            <a:off x="6048356" y="2185988"/>
            <a:ext cx="2381269"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D3748"/>
                </a:solidFill>
                <a:latin typeface="Segoe UI" pitchFamily="34" charset="0"/>
                <a:ea typeface="Segoe UI" pitchFamily="34" charset="-122"/>
                <a:cs typeface="Segoe UI" pitchFamily="34" charset="-120"/>
              </a:rPr>
              <a:t>User Preferences</a:t>
            </a:r>
            <a:endParaRPr lang="en-US" sz="1193" dirty="0"/>
          </a:p>
        </p:txBody>
      </p:sp>
      <p:sp>
        <p:nvSpPr>
          <p:cNvPr id="15" name="Text 9"/>
          <p:cNvSpPr/>
          <p:nvPr/>
        </p:nvSpPr>
        <p:spPr>
          <a:xfrm>
            <a:off x="6048356" y="2539603"/>
            <a:ext cx="2381269"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A5568"/>
                </a:solidFill>
                <a:latin typeface="Segoe UI" pitchFamily="34" charset="0"/>
                <a:ea typeface="Segoe UI" pitchFamily="34" charset="-122"/>
                <a:cs typeface="Segoe UI" pitchFamily="34" charset="-120"/>
              </a:rPr>
              <a:t>Enhanced comfort through personalized settings, including gender-specific ride preferences and in-app chat for seamless coordination between riders and drivers.</a:t>
            </a:r>
            <a:endParaRPr lang="en-US" sz="834" dirty="0"/>
          </a:p>
        </p:txBody>
      </p:sp>
      <p:sp>
        <p:nvSpPr>
          <p:cNvPr id="16" name="Text 10"/>
          <p:cNvSpPr/>
          <p:nvPr/>
        </p:nvSpPr>
        <p:spPr>
          <a:xfrm>
            <a:off x="0" y="4598789"/>
            <a:ext cx="9144000" cy="258961"/>
          </a:xfrm>
          <a:prstGeom prst="rect">
            <a:avLst/>
          </a:prstGeom>
          <a:noFill/>
          <a:ln/>
        </p:spPr>
        <p:txBody>
          <a:bodyPr wrap="square" lIns="850392" tIns="170053" rIns="850392" bIns="0" rtlCol="0" anchor="t">
            <a:spAutoFit/>
          </a:bodyPr>
          <a:lstStyle/>
          <a:p>
            <a:pPr marL="0" indent="0" algn="l">
              <a:lnSpc>
                <a:spcPts val="900"/>
              </a:lnSpc>
              <a:buNone/>
            </a:pPr>
            <a:r>
              <a:rPr lang="en-US" sz="727" i="1" dirty="0">
                <a:solidFill>
                  <a:srgbClr val="718096"/>
                </a:solidFill>
                <a:latin typeface="Segoe UI" pitchFamily="34" charset="0"/>
                <a:ea typeface="Segoe UI" pitchFamily="34" charset="-122"/>
                <a:cs typeface="Segoe UI" pitchFamily="34" charset="-120"/>
              </a:rPr>
              <a:t>*Features designed based on student feedback regarding safety and routine-based commuting needs.</a:t>
            </a:r>
            <a:endParaRPr lang="en-US" sz="727" dirty="0"/>
          </a:p>
        </p:txBody>
      </p:sp>
      <p:sp>
        <p:nvSpPr>
          <p:cNvPr id="17" name="TextBox 16"/>
          <p:cNvSpPr txBox="1"/>
          <p:nvPr/>
        </p:nvSpPr>
        <p:spPr>
          <a:xfrm>
            <a:off x="8767071" y="4834276"/>
            <a:ext cx="316112" cy="246221"/>
          </a:xfrm>
          <a:prstGeom prst="rect">
            <a:avLst/>
          </a:prstGeom>
          <a:noFill/>
        </p:spPr>
        <p:txBody>
          <a:bodyPr wrap="none" rtlCol="0">
            <a:spAutoFit/>
          </a:bodyPr>
          <a:lstStyle/>
          <a:p>
            <a:r>
              <a:rPr lang="en-US" sz="1000" dirty="0" smtClean="0"/>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314450"/>
          </a:xfrm>
          <a:prstGeom prst="rect">
            <a:avLst/>
          </a:prstGeom>
          <a:solidFill>
            <a:srgbClr val="F7FAFC"/>
          </a:solidFill>
          <a:ln/>
        </p:spPr>
      </p:sp>
      <p:sp>
        <p:nvSpPr>
          <p:cNvPr id="4" name="Shape 1"/>
          <p:cNvSpPr/>
          <p:nvPr/>
        </p:nvSpPr>
        <p:spPr>
          <a:xfrm>
            <a:off x="0" y="1285875"/>
            <a:ext cx="9144000" cy="28575"/>
          </a:xfrm>
          <a:prstGeom prst="rect">
            <a:avLst/>
          </a:prstGeom>
          <a:solidFill>
            <a:srgbClr val="3182CE"/>
          </a:solidFill>
          <a:ln/>
        </p:spPr>
      </p:sp>
      <p:sp>
        <p:nvSpPr>
          <p:cNvPr id="5" name="Text 2"/>
          <p:cNvSpPr/>
          <p:nvPr/>
        </p:nvSpPr>
        <p:spPr>
          <a:xfrm>
            <a:off x="714375" y="285750"/>
            <a:ext cx="7715250"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202C"/>
                </a:solidFill>
                <a:latin typeface="Segoe UI" pitchFamily="34" charset="0"/>
                <a:ea typeface="Segoe UI" pitchFamily="34" charset="-122"/>
                <a:cs typeface="Segoe UI" pitchFamily="34" charset="-120"/>
              </a:rPr>
              <a:t>Strategic Recommendations and Roadmap</a:t>
            </a:r>
            <a:endParaRPr lang="en-US" sz="1602" dirty="0"/>
          </a:p>
        </p:txBody>
      </p:sp>
      <p:sp>
        <p:nvSpPr>
          <p:cNvPr id="6" name="Text 3"/>
          <p:cNvSpPr/>
          <p:nvPr/>
        </p:nvSpPr>
        <p:spPr>
          <a:xfrm>
            <a:off x="714375" y="619720"/>
            <a:ext cx="7715250" cy="164306"/>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4A5568"/>
                </a:solidFill>
                <a:latin typeface="Segoe UI" pitchFamily="34" charset="0"/>
                <a:ea typeface="Segoe UI" pitchFamily="34" charset="-122"/>
                <a:cs typeface="Segoe UI" pitchFamily="34" charset="-120"/>
              </a:rPr>
              <a:t>Steps to Bring Campus-Cruise to Life</a:t>
            </a:r>
            <a:endParaRPr lang="en-US" sz="1050" dirty="0"/>
          </a:p>
        </p:txBody>
      </p:sp>
      <p:pic>
        <p:nvPicPr>
          <p:cNvPr id="7" name="Image 1" descr="preencoded.png"/>
          <p:cNvPicPr>
            <a:picLocks noChangeAspect="1"/>
          </p:cNvPicPr>
          <p:nvPr/>
        </p:nvPicPr>
        <p:blipFill>
          <a:blip r:embed="rId4"/>
          <a:stretch>
            <a:fillRect/>
          </a:stretch>
        </p:blipFill>
        <p:spPr>
          <a:xfrm>
            <a:off x="714375" y="1584127"/>
            <a:ext cx="176808" cy="157163"/>
          </a:xfrm>
          <a:prstGeom prst="rect">
            <a:avLst/>
          </a:prstGeom>
        </p:spPr>
      </p:pic>
      <p:sp>
        <p:nvSpPr>
          <p:cNvPr id="8" name="Text 4"/>
          <p:cNvSpPr/>
          <p:nvPr/>
        </p:nvSpPr>
        <p:spPr>
          <a:xfrm>
            <a:off x="962620" y="1571625"/>
            <a:ext cx="1641918"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202C"/>
                </a:solidFill>
                <a:latin typeface="Segoe UI" pitchFamily="34" charset="0"/>
                <a:ea typeface="Segoe UI" pitchFamily="34" charset="-122"/>
                <a:cs typeface="Segoe UI" pitchFamily="34" charset="-120"/>
              </a:rPr>
              <a:t>Enhanced Verification</a:t>
            </a:r>
            <a:endParaRPr lang="en-US" sz="1090" dirty="0"/>
          </a:p>
        </p:txBody>
      </p:sp>
      <p:sp>
        <p:nvSpPr>
          <p:cNvPr id="9" name="Text 5"/>
          <p:cNvSpPr/>
          <p:nvPr/>
        </p:nvSpPr>
        <p:spPr>
          <a:xfrm>
            <a:off x="714375" y="1825228"/>
            <a:ext cx="2381241"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A5568"/>
                </a:solidFill>
                <a:latin typeface="Segoe UI" pitchFamily="34" charset="0"/>
                <a:ea typeface="Segoe UI" pitchFamily="34" charset="-122"/>
                <a:cs typeface="Segoe UI" pitchFamily="34" charset="-120"/>
              </a:rPr>
              <a:t>Implement multi-factor ID card and official email verification to maintain network integrity and student trust.</a:t>
            </a:r>
            <a:endParaRPr lang="en-US" sz="780" dirty="0"/>
          </a:p>
        </p:txBody>
      </p:sp>
      <p:pic>
        <p:nvPicPr>
          <p:cNvPr id="10" name="Image 2" descr="preencoded.png"/>
          <p:cNvPicPr>
            <a:picLocks noChangeAspect="1"/>
          </p:cNvPicPr>
          <p:nvPr/>
        </p:nvPicPr>
        <p:blipFill>
          <a:blip r:embed="rId5"/>
          <a:stretch>
            <a:fillRect/>
          </a:stretch>
        </p:blipFill>
        <p:spPr>
          <a:xfrm>
            <a:off x="3381366" y="1584127"/>
            <a:ext cx="157163" cy="157163"/>
          </a:xfrm>
          <a:prstGeom prst="rect">
            <a:avLst/>
          </a:prstGeom>
        </p:spPr>
      </p:pic>
      <p:sp>
        <p:nvSpPr>
          <p:cNvPr id="11" name="Text 6"/>
          <p:cNvSpPr/>
          <p:nvPr/>
        </p:nvSpPr>
        <p:spPr>
          <a:xfrm>
            <a:off x="3609966" y="1571625"/>
            <a:ext cx="1161613"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202C"/>
                </a:solidFill>
                <a:latin typeface="Segoe UI" pitchFamily="34" charset="0"/>
                <a:ea typeface="Segoe UI" pitchFamily="34" charset="-122"/>
                <a:cs typeface="Segoe UI" pitchFamily="34" charset="-120"/>
              </a:rPr>
              <a:t>Flexible Pricing</a:t>
            </a:r>
            <a:endParaRPr lang="en-US" sz="1090" dirty="0"/>
          </a:p>
        </p:txBody>
      </p:sp>
      <p:sp>
        <p:nvSpPr>
          <p:cNvPr id="12" name="Text 7"/>
          <p:cNvSpPr/>
          <p:nvPr/>
        </p:nvSpPr>
        <p:spPr>
          <a:xfrm>
            <a:off x="3381366" y="1825228"/>
            <a:ext cx="2381241"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A5568"/>
                </a:solidFill>
                <a:latin typeface="Segoe UI" pitchFamily="34" charset="0"/>
                <a:ea typeface="Segoe UI" pitchFamily="34" charset="-122"/>
                <a:cs typeface="Segoe UI" pitchFamily="34" charset="-120"/>
              </a:rPr>
              <a:t>Explore variable fare options and bidding systems to accommodate different student budgets and traffic conditions.</a:t>
            </a:r>
            <a:endParaRPr lang="en-US" sz="780" dirty="0"/>
          </a:p>
        </p:txBody>
      </p:sp>
      <p:pic>
        <p:nvPicPr>
          <p:cNvPr id="13" name="Image 3" descr="preencoded.png"/>
          <p:cNvPicPr>
            <a:picLocks noChangeAspect="1"/>
          </p:cNvPicPr>
          <p:nvPr/>
        </p:nvPicPr>
        <p:blipFill>
          <a:blip r:embed="rId6"/>
          <a:stretch>
            <a:fillRect/>
          </a:stretch>
        </p:blipFill>
        <p:spPr>
          <a:xfrm>
            <a:off x="6048356" y="1584127"/>
            <a:ext cx="196453" cy="157163"/>
          </a:xfrm>
          <a:prstGeom prst="rect">
            <a:avLst/>
          </a:prstGeom>
        </p:spPr>
      </p:pic>
      <p:sp>
        <p:nvSpPr>
          <p:cNvPr id="14" name="Text 8"/>
          <p:cNvSpPr/>
          <p:nvPr/>
        </p:nvSpPr>
        <p:spPr>
          <a:xfrm>
            <a:off x="6316247" y="1571625"/>
            <a:ext cx="1371433" cy="182166"/>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202C"/>
                </a:solidFill>
                <a:latin typeface="Segoe UI" pitchFamily="34" charset="0"/>
                <a:ea typeface="Segoe UI" pitchFamily="34" charset="-122"/>
                <a:cs typeface="Segoe UI" pitchFamily="34" charset="-120"/>
              </a:rPr>
              <a:t>Inclusive Features</a:t>
            </a:r>
            <a:endParaRPr lang="en-US" sz="1090" dirty="0"/>
          </a:p>
        </p:txBody>
      </p:sp>
      <p:sp>
        <p:nvSpPr>
          <p:cNvPr id="15" name="Text 9"/>
          <p:cNvSpPr/>
          <p:nvPr/>
        </p:nvSpPr>
        <p:spPr>
          <a:xfrm>
            <a:off x="6048356" y="1825228"/>
            <a:ext cx="2381269"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A5568"/>
                </a:solidFill>
                <a:latin typeface="Segoe UI" pitchFamily="34" charset="0"/>
                <a:ea typeface="Segoe UI" pitchFamily="34" charset="-122"/>
                <a:cs typeface="Segoe UI" pitchFamily="34" charset="-120"/>
              </a:rPr>
              <a:t>Integrate gender-specific preferences to ensure all students feel comfortable and safe during their commute.</a:t>
            </a:r>
            <a:endParaRPr lang="en-US" sz="780" dirty="0"/>
          </a:p>
        </p:txBody>
      </p:sp>
      <p:sp>
        <p:nvSpPr>
          <p:cNvPr id="16" name="Text 10"/>
          <p:cNvSpPr/>
          <p:nvPr/>
        </p:nvSpPr>
        <p:spPr>
          <a:xfrm>
            <a:off x="714375" y="2736056"/>
            <a:ext cx="7715250" cy="246459"/>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202C"/>
                </a:solidFill>
                <a:latin typeface="Segoe UI" pitchFamily="34" charset="0"/>
                <a:ea typeface="Segoe UI" pitchFamily="34" charset="-122"/>
                <a:cs typeface="Segoe UI" pitchFamily="34" charset="-120"/>
              </a:rPr>
              <a:t>Implementation Roadmap</a:t>
            </a:r>
            <a:endParaRPr lang="en-US" sz="1193" dirty="0"/>
          </a:p>
        </p:txBody>
      </p:sp>
      <p:sp>
        <p:nvSpPr>
          <p:cNvPr id="17" name="Text 11"/>
          <p:cNvSpPr/>
          <p:nvPr/>
        </p:nvSpPr>
        <p:spPr>
          <a:xfrm>
            <a:off x="714375" y="3196828"/>
            <a:ext cx="1821656" cy="230386"/>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3182CE"/>
                </a:solidFill>
                <a:latin typeface="Segoe UI" pitchFamily="34" charset="0"/>
                <a:ea typeface="Segoe UI" pitchFamily="34" charset="-122"/>
                <a:cs typeface="Segoe UI" pitchFamily="34" charset="-120"/>
              </a:rPr>
              <a:t>01</a:t>
            </a:r>
            <a:endParaRPr lang="en-US" sz="1397" dirty="0"/>
          </a:p>
        </p:txBody>
      </p:sp>
      <p:sp>
        <p:nvSpPr>
          <p:cNvPr id="18" name="Text 12"/>
          <p:cNvSpPr/>
          <p:nvPr/>
        </p:nvSpPr>
        <p:spPr>
          <a:xfrm>
            <a:off x="714375" y="3620095"/>
            <a:ext cx="1821656" cy="14644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D3748"/>
                </a:solidFill>
                <a:latin typeface="Segoe UI" pitchFamily="34" charset="0"/>
                <a:ea typeface="Segoe UI" pitchFamily="34" charset="-122"/>
                <a:cs typeface="Segoe UI" pitchFamily="34" charset="-120"/>
              </a:rPr>
              <a:t>Planning</a:t>
            </a:r>
            <a:endParaRPr lang="en-US" sz="885" dirty="0"/>
          </a:p>
        </p:txBody>
      </p:sp>
      <p:sp>
        <p:nvSpPr>
          <p:cNvPr id="19" name="Text 13"/>
          <p:cNvSpPr/>
          <p:nvPr/>
        </p:nvSpPr>
        <p:spPr>
          <a:xfrm>
            <a:off x="714375" y="3823692"/>
            <a:ext cx="1821656" cy="42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4A5568"/>
                </a:solidFill>
                <a:latin typeface="Segoe UI" pitchFamily="34" charset="0"/>
                <a:ea typeface="Segoe UI" pitchFamily="34" charset="-122"/>
                <a:cs typeface="Segoe UI" pitchFamily="34" charset="-120"/>
              </a:rPr>
              <a:t>Business planning and financial sustainability modeling for long-term operations.</a:t>
            </a:r>
            <a:endParaRPr lang="en-US" sz="727" dirty="0"/>
          </a:p>
        </p:txBody>
      </p:sp>
      <p:sp>
        <p:nvSpPr>
          <p:cNvPr id="20" name="Text 14"/>
          <p:cNvSpPr/>
          <p:nvPr/>
        </p:nvSpPr>
        <p:spPr>
          <a:xfrm>
            <a:off x="2678906" y="3196828"/>
            <a:ext cx="1821656" cy="230386"/>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3182CE"/>
                </a:solidFill>
                <a:latin typeface="Segoe UI" pitchFamily="34" charset="0"/>
                <a:ea typeface="Segoe UI" pitchFamily="34" charset="-122"/>
                <a:cs typeface="Segoe UI" pitchFamily="34" charset="-120"/>
              </a:rPr>
              <a:t>02</a:t>
            </a:r>
            <a:endParaRPr lang="en-US" sz="1397" dirty="0"/>
          </a:p>
        </p:txBody>
      </p:sp>
      <p:sp>
        <p:nvSpPr>
          <p:cNvPr id="21" name="Text 15"/>
          <p:cNvSpPr/>
          <p:nvPr/>
        </p:nvSpPr>
        <p:spPr>
          <a:xfrm>
            <a:off x="2678906" y="3620095"/>
            <a:ext cx="1821656" cy="14644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D3748"/>
                </a:solidFill>
                <a:latin typeface="Segoe UI" pitchFamily="34" charset="0"/>
                <a:ea typeface="Segoe UI" pitchFamily="34" charset="-122"/>
                <a:cs typeface="Segoe UI" pitchFamily="34" charset="-120"/>
              </a:rPr>
              <a:t>Development</a:t>
            </a:r>
            <a:endParaRPr lang="en-US" sz="885" dirty="0"/>
          </a:p>
        </p:txBody>
      </p:sp>
      <p:sp>
        <p:nvSpPr>
          <p:cNvPr id="22" name="Text 16"/>
          <p:cNvSpPr/>
          <p:nvPr/>
        </p:nvSpPr>
        <p:spPr>
          <a:xfrm>
            <a:off x="2678906" y="3823692"/>
            <a:ext cx="1821656"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4A5568"/>
                </a:solidFill>
                <a:latin typeface="Segoe UI" pitchFamily="34" charset="0"/>
                <a:ea typeface="Segoe UI" pitchFamily="34" charset="-122"/>
                <a:cs typeface="Segoe UI" pitchFamily="34" charset="-120"/>
              </a:rPr>
              <a:t>MVP development focusing on core matching and verification features.</a:t>
            </a:r>
            <a:endParaRPr lang="en-US" sz="727" dirty="0"/>
          </a:p>
        </p:txBody>
      </p:sp>
      <p:sp>
        <p:nvSpPr>
          <p:cNvPr id="23" name="Text 17"/>
          <p:cNvSpPr/>
          <p:nvPr/>
        </p:nvSpPr>
        <p:spPr>
          <a:xfrm>
            <a:off x="4643438" y="3196828"/>
            <a:ext cx="1821656" cy="230386"/>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3182CE"/>
                </a:solidFill>
                <a:latin typeface="Segoe UI" pitchFamily="34" charset="0"/>
                <a:ea typeface="Segoe UI" pitchFamily="34" charset="-122"/>
                <a:cs typeface="Segoe UI" pitchFamily="34" charset="-120"/>
              </a:rPr>
              <a:t>03</a:t>
            </a:r>
            <a:endParaRPr lang="en-US" sz="1397" dirty="0"/>
          </a:p>
        </p:txBody>
      </p:sp>
      <p:sp>
        <p:nvSpPr>
          <p:cNvPr id="24" name="Text 18"/>
          <p:cNvSpPr/>
          <p:nvPr/>
        </p:nvSpPr>
        <p:spPr>
          <a:xfrm>
            <a:off x="4643438" y="3620095"/>
            <a:ext cx="1821656" cy="14644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D3748"/>
                </a:solidFill>
                <a:latin typeface="Segoe UI" pitchFamily="34" charset="0"/>
                <a:ea typeface="Segoe UI" pitchFamily="34" charset="-122"/>
                <a:cs typeface="Segoe UI" pitchFamily="34" charset="-120"/>
              </a:rPr>
              <a:t>Pilot Testing</a:t>
            </a:r>
            <a:endParaRPr lang="en-US" sz="885" dirty="0"/>
          </a:p>
        </p:txBody>
      </p:sp>
      <p:sp>
        <p:nvSpPr>
          <p:cNvPr id="25" name="Text 19"/>
          <p:cNvSpPr/>
          <p:nvPr/>
        </p:nvSpPr>
        <p:spPr>
          <a:xfrm>
            <a:off x="4643438" y="3823692"/>
            <a:ext cx="1821656"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4A5568"/>
                </a:solidFill>
                <a:latin typeface="Segoe UI" pitchFamily="34" charset="0"/>
                <a:ea typeface="Segoe UI" pitchFamily="34" charset="-122"/>
                <a:cs typeface="Segoe UI" pitchFamily="34" charset="-120"/>
              </a:rPr>
              <a:t>Alpha testing with selected student focus groups to refine user experience.</a:t>
            </a:r>
            <a:endParaRPr lang="en-US" sz="727" dirty="0"/>
          </a:p>
        </p:txBody>
      </p:sp>
      <p:sp>
        <p:nvSpPr>
          <p:cNvPr id="26" name="Text 20"/>
          <p:cNvSpPr/>
          <p:nvPr/>
        </p:nvSpPr>
        <p:spPr>
          <a:xfrm>
            <a:off x="6607969" y="3196828"/>
            <a:ext cx="1821656" cy="230386"/>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3182CE"/>
                </a:solidFill>
                <a:latin typeface="Segoe UI" pitchFamily="34" charset="0"/>
                <a:ea typeface="Segoe UI" pitchFamily="34" charset="-122"/>
                <a:cs typeface="Segoe UI" pitchFamily="34" charset="-120"/>
              </a:rPr>
              <a:t>04</a:t>
            </a:r>
            <a:endParaRPr lang="en-US" sz="1397" dirty="0"/>
          </a:p>
        </p:txBody>
      </p:sp>
      <p:sp>
        <p:nvSpPr>
          <p:cNvPr id="27" name="Text 21"/>
          <p:cNvSpPr/>
          <p:nvPr/>
        </p:nvSpPr>
        <p:spPr>
          <a:xfrm>
            <a:off x="6607969" y="3620095"/>
            <a:ext cx="1821656" cy="14644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D3748"/>
                </a:solidFill>
                <a:latin typeface="Segoe UI" pitchFamily="34" charset="0"/>
                <a:ea typeface="Segoe UI" pitchFamily="34" charset="-122"/>
                <a:cs typeface="Segoe UI" pitchFamily="34" charset="-120"/>
              </a:rPr>
              <a:t>Full Rollout</a:t>
            </a:r>
            <a:endParaRPr lang="en-US" sz="885" dirty="0"/>
          </a:p>
        </p:txBody>
      </p:sp>
      <p:sp>
        <p:nvSpPr>
          <p:cNvPr id="28" name="Text 22"/>
          <p:cNvSpPr/>
          <p:nvPr/>
        </p:nvSpPr>
        <p:spPr>
          <a:xfrm>
            <a:off x="6607969" y="3823692"/>
            <a:ext cx="1821656"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4A5568"/>
                </a:solidFill>
                <a:latin typeface="Segoe UI" pitchFamily="34" charset="0"/>
                <a:ea typeface="Segoe UI" pitchFamily="34" charset="-122"/>
                <a:cs typeface="Segoe UI" pitchFamily="34" charset="-120"/>
              </a:rPr>
              <a:t>Full-scale campus launch and user acquisition campaign across UIU.</a:t>
            </a:r>
            <a:endParaRPr lang="en-US" sz="727" dirty="0"/>
          </a:p>
        </p:txBody>
      </p:sp>
      <p:sp>
        <p:nvSpPr>
          <p:cNvPr id="29" name="TextBox 28"/>
          <p:cNvSpPr txBox="1"/>
          <p:nvPr/>
        </p:nvSpPr>
        <p:spPr>
          <a:xfrm>
            <a:off x="8776540" y="4843609"/>
            <a:ext cx="316112" cy="246221"/>
          </a:xfrm>
          <a:prstGeom prst="rect">
            <a:avLst/>
          </a:prstGeom>
          <a:noFill/>
        </p:spPr>
        <p:txBody>
          <a:bodyPr wrap="none" rtlCol="0">
            <a:spAutoFit/>
          </a:bodyPr>
          <a:lstStyle/>
          <a:p>
            <a:r>
              <a:rPr lang="en-US" sz="1000" dirty="0" smtClean="0"/>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849269" y="1886676"/>
            <a:ext cx="7445462" cy="502909"/>
          </a:xfrm>
          <a:prstGeom prst="rect">
            <a:avLst/>
          </a:prstGeom>
          <a:noFill/>
          <a:ln/>
        </p:spPr>
        <p:txBody>
          <a:bodyPr wrap="none" lIns="0" tIns="0" rIns="0" bIns="0" rtlCol="0" anchor="t">
            <a:spAutoFit/>
          </a:bodyPr>
          <a:lstStyle/>
          <a:p>
            <a:pPr marL="0" indent="0" algn="ctr">
              <a:lnSpc>
                <a:spcPts val="4000"/>
              </a:lnSpc>
              <a:buNone/>
            </a:pPr>
            <a:r>
              <a:rPr lang="en-US" sz="3294" b="1" dirty="0">
                <a:solidFill>
                  <a:srgbClr val="1A202C"/>
                </a:solidFill>
                <a:latin typeface="Segoe UI" pitchFamily="34" charset="0"/>
                <a:ea typeface="Segoe UI" pitchFamily="34" charset="-122"/>
                <a:cs typeface="Segoe UI" pitchFamily="34" charset="-120"/>
              </a:rPr>
              <a:t>Thank You</a:t>
            </a:r>
            <a:endParaRPr lang="en-US" sz="3294" dirty="0"/>
          </a:p>
        </p:txBody>
      </p:sp>
      <p:sp>
        <p:nvSpPr>
          <p:cNvPr id="4" name="Text 1"/>
          <p:cNvSpPr/>
          <p:nvPr/>
        </p:nvSpPr>
        <p:spPr>
          <a:xfrm>
            <a:off x="849269" y="2532459"/>
            <a:ext cx="7445462" cy="274309"/>
          </a:xfrm>
          <a:prstGeom prst="rect">
            <a:avLst/>
          </a:prstGeom>
          <a:noFill/>
          <a:ln/>
        </p:spPr>
        <p:txBody>
          <a:bodyPr wrap="none" lIns="0" tIns="0" rIns="0" bIns="0" rtlCol="0" anchor="t">
            <a:spAutoFit/>
          </a:bodyPr>
          <a:lstStyle/>
          <a:p>
            <a:pPr marL="0" indent="0" algn="ctr">
              <a:lnSpc>
                <a:spcPts val="2200"/>
              </a:lnSpc>
              <a:buNone/>
            </a:pPr>
            <a:r>
              <a:rPr lang="en-US" sz="1704" dirty="0">
                <a:solidFill>
                  <a:srgbClr val="4A5568"/>
                </a:solidFill>
                <a:latin typeface="Segoe UI" pitchFamily="34" charset="0"/>
                <a:ea typeface="Segoe UI" pitchFamily="34" charset="-122"/>
                <a:cs typeface="Segoe UI" pitchFamily="34" charset="-120"/>
              </a:rPr>
              <a:t>Revolutionizing Student Commuting with a Secure Campus-Only Network</a:t>
            </a:r>
            <a:endParaRPr lang="en-US" sz="1704" dirty="0"/>
          </a:p>
        </p:txBody>
      </p:sp>
      <p:sp>
        <p:nvSpPr>
          <p:cNvPr id="5" name="Text 2"/>
          <p:cNvSpPr/>
          <p:nvPr/>
        </p:nvSpPr>
        <p:spPr>
          <a:xfrm>
            <a:off x="4557563" y="3092518"/>
            <a:ext cx="28854" cy="169085"/>
          </a:xfrm>
          <a:prstGeom prst="rect">
            <a:avLst/>
          </a:prstGeom>
          <a:noFill/>
          <a:ln/>
        </p:spPr>
        <p:txBody>
          <a:bodyPr wrap="none" lIns="0" tIns="0" rIns="0" bIns="0" rtlCol="0" anchor="t">
            <a:spAutoFit/>
          </a:bodyPr>
          <a:lstStyle/>
          <a:p>
            <a:pPr marL="0" indent="0" algn="ctr">
              <a:lnSpc>
                <a:spcPts val="1400"/>
              </a:lnSpc>
              <a:buNone/>
            </a:pPr>
            <a:r>
              <a:rPr lang="en-US" sz="1050" dirty="0" smtClean="0">
                <a:solidFill>
                  <a:srgbClr val="718096"/>
                </a:solidFill>
                <a:latin typeface="Segoe UI" pitchFamily="34" charset="0"/>
                <a:ea typeface="Segoe UI" pitchFamily="34" charset="-122"/>
                <a:cs typeface="Segoe UI" pitchFamily="34" charset="-120"/>
              </a:rPr>
              <a:t>.</a:t>
            </a:r>
            <a:endParaRPr lang="en-US" sz="1050" dirty="0"/>
          </a:p>
        </p:txBody>
      </p:sp>
      <p:sp>
        <p:nvSpPr>
          <p:cNvPr id="6" name="TextBox 5"/>
          <p:cNvSpPr txBox="1"/>
          <p:nvPr/>
        </p:nvSpPr>
        <p:spPr>
          <a:xfrm>
            <a:off x="8736664" y="4778872"/>
            <a:ext cx="316112" cy="246221"/>
          </a:xfrm>
          <a:prstGeom prst="rect">
            <a:avLst/>
          </a:prstGeom>
          <a:noFill/>
        </p:spPr>
        <p:txBody>
          <a:bodyPr wrap="none" rtlCol="0">
            <a:spAutoFit/>
          </a:bodyPr>
          <a:lstStyle/>
          <a:p>
            <a:r>
              <a:rPr lang="en-US" sz="1000" dirty="0" smtClean="0"/>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1347</Words>
  <Application>Microsoft Office PowerPoint</Application>
  <PresentationFormat>On-screen Show (16:9)</PresentationFormat>
  <Paragraphs>166</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Neloy</cp:lastModifiedBy>
  <cp:revision>8</cp:revision>
  <dcterms:created xsi:type="dcterms:W3CDTF">2026-04-12T17:39:40Z</dcterms:created>
  <dcterms:modified xsi:type="dcterms:W3CDTF">2026-04-13T03:21:17Z</dcterms:modified>
</cp:coreProperties>
</file>