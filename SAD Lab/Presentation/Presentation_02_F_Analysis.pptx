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96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79328-CCA0-42D5-948A-E7E35512238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EC925-7DFC-4107-8FBA-841155601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70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173402"/>
            <a:ext cx="42862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Campus-Cruise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847761"/>
            <a:ext cx="42862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Revolutionizing Student Commuting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388900"/>
            <a:ext cx="3221831" cy="316111"/>
          </a:xfrm>
          <a:prstGeom prst="rect">
            <a:avLst/>
          </a:prstGeom>
          <a:noFill/>
          <a:ln/>
        </p:spPr>
        <p:txBody>
          <a:bodyPr wrap="square" lIns="238125" tIns="68072" rIns="238125" bIns="68072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• AFFORDABLE • COMMUNITY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5686425" y="2328863"/>
            <a:ext cx="2028825" cy="202882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344" y="2928938"/>
            <a:ext cx="1071563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Concept: A Dedicated Platform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32334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660922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1703784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Student-Centric Solution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143000" y="2041327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platform allowing students with vehicles to offer rides while others book available seats seamlessly.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71500" y="275279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2881387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2924249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Values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1143000" y="3261792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Prioritizes safety, trust, and affordability within a verified academic environment exclusively for UIU.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4714875" y="1532334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894" y="1660922"/>
            <a:ext cx="128588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86375" y="1703784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Inspiration &amp; Scope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286375" y="2041327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Inspired by global leaders like Uber and Pathao, but tailored for the unique needs of UIU students.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714875" y="275279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747" y="2881387"/>
            <a:ext cx="192881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6375" y="2924249"/>
            <a:ext cx="3286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Integration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5286375" y="3261792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registration using official UIU emails with flexible roles as either a Rider or a Driver.</a:t>
            </a:r>
            <a:endParaRPr lang="en-US" sz="942" dirty="0"/>
          </a:p>
        </p:txBody>
      </p:sp>
      <p:sp>
        <p:nvSpPr>
          <p:cNvPr id="20" name="Shape 13"/>
          <p:cNvSpPr/>
          <p:nvPr/>
        </p:nvSpPr>
        <p:spPr>
          <a:xfrm>
            <a:off x="7615238" y="3757613"/>
            <a:ext cx="814388" cy="814388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5269" y="4007644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Motivation: Solving Challenges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714375" y="1389459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2"/>
          <p:cNvSpPr/>
          <p:nvPr/>
        </p:nvSpPr>
        <p:spPr>
          <a:xfrm>
            <a:off x="800100" y="1475184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327" y="1582341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8738" y="1551087"/>
            <a:ext cx="678834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Addressing High Costs: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Significantly reduces daily transportation expenses through shared commuting.</a:t>
            </a:r>
            <a:endParaRPr lang="en-US" sz="987" dirty="0"/>
          </a:p>
        </p:txBody>
      </p:sp>
      <p:sp>
        <p:nvSpPr>
          <p:cNvPr id="8" name="Shape 4"/>
          <p:cNvSpPr/>
          <p:nvPr/>
        </p:nvSpPr>
        <p:spPr>
          <a:xfrm>
            <a:off x="714375" y="2032397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5"/>
          <p:cNvSpPr/>
          <p:nvPr/>
        </p:nvSpPr>
        <p:spPr>
          <a:xfrm>
            <a:off x="800100" y="2118122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397" y="2225278"/>
            <a:ext cx="178594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8738" y="2194024"/>
            <a:ext cx="581501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First: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Creates a trusted environment restricted to verified university members only.</a:t>
            </a:r>
            <a:endParaRPr lang="en-US" sz="987" dirty="0"/>
          </a:p>
        </p:txBody>
      </p:sp>
      <p:sp>
        <p:nvSpPr>
          <p:cNvPr id="12" name="Shape 7"/>
          <p:cNvSpPr/>
          <p:nvPr/>
        </p:nvSpPr>
        <p:spPr>
          <a:xfrm>
            <a:off x="714375" y="2675334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8"/>
          <p:cNvSpPr/>
          <p:nvPr/>
        </p:nvSpPr>
        <p:spPr>
          <a:xfrm>
            <a:off x="800100" y="2761059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" y="2868216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8738" y="2836962"/>
            <a:ext cx="639544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Resource Optimization: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Utilizes underused personal vehicles to improve overall campus mobility.</a:t>
            </a:r>
            <a:endParaRPr lang="en-US" sz="987" dirty="0"/>
          </a:p>
        </p:txBody>
      </p:sp>
      <p:sp>
        <p:nvSpPr>
          <p:cNvPr id="16" name="Shape 10"/>
          <p:cNvSpPr/>
          <p:nvPr/>
        </p:nvSpPr>
        <p:spPr>
          <a:xfrm>
            <a:off x="714375" y="3318272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/>
          <p:cNvSpPr/>
          <p:nvPr/>
        </p:nvSpPr>
        <p:spPr>
          <a:xfrm>
            <a:off x="800100" y="3403997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256" y="3511153"/>
            <a:ext cx="142875" cy="1428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8738" y="3479899"/>
            <a:ext cx="604004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Experience: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Offers a simple, user-friendly interface tailored to student schedules.</a:t>
            </a:r>
            <a:endParaRPr lang="en-US" sz="987" dirty="0"/>
          </a:p>
        </p:txBody>
      </p:sp>
      <p:sp>
        <p:nvSpPr>
          <p:cNvPr id="20" name="Shape 13"/>
          <p:cNvSpPr/>
          <p:nvPr/>
        </p:nvSpPr>
        <p:spPr>
          <a:xfrm>
            <a:off x="714375" y="3961209"/>
            <a:ext cx="7715250" cy="557213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4"/>
          <p:cNvSpPr/>
          <p:nvPr/>
        </p:nvSpPr>
        <p:spPr>
          <a:xfrm>
            <a:off x="800100" y="4046934"/>
            <a:ext cx="385763" cy="385763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397" y="4154091"/>
            <a:ext cx="178594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8738" y="4122837"/>
            <a:ext cx="554533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Building:</a:t>
            </a:r>
            <a:r>
              <a:rPr lang="en-US" sz="105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Promotes cooperation and social interaction among students.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34845" y="428625"/>
            <a:ext cx="1237655" cy="264319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43F5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34845" y="428625"/>
            <a:ext cx="1237655" cy="264319"/>
          </a:xfrm>
          <a:prstGeom prst="rect">
            <a:avLst/>
          </a:prstGeom>
          <a:noFill/>
          <a:ln/>
        </p:spPr>
        <p:txBody>
          <a:bodyPr wrap="square" lIns="204089" tIns="68072" rIns="204089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ECOSYSTEM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Features: Empowering the Journey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533506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669" y="1489472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086" y="2189559"/>
            <a:ext cx="161091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Authentication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1500" y="2580680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UIU email verification for all participants to ensure a trusted community.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271935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48947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26343" y="2189559"/>
            <a:ext cx="149125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 Management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3309928" y="2580680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Intuitive posting for drivers and easy searching for riders with real-time updates.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7010391" y="1318022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416" y="1489472"/>
            <a:ext cx="20002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05888" y="2189559"/>
            <a:ext cx="120908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Booking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6048356" y="2580680"/>
            <a:ext cx="2524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request system with instant status notifications and seat tracking.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1533506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244" y="3566517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20049" y="4266605"/>
            <a:ext cx="162698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Matching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71500" y="4657725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algorithms to find the best ride options based on route and timing.</a:t>
            </a:r>
            <a:endParaRPr lang="en-US" sz="834" dirty="0"/>
          </a:p>
        </p:txBody>
      </p:sp>
      <p:sp>
        <p:nvSpPr>
          <p:cNvPr id="22" name="Shape 15"/>
          <p:cNvSpPr/>
          <p:nvPr/>
        </p:nvSpPr>
        <p:spPr>
          <a:xfrm>
            <a:off x="4271935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097" y="3566517"/>
            <a:ext cx="28575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7964" y="4266605"/>
            <a:ext cx="126801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Chat</a:t>
            </a:r>
            <a:endParaRPr lang="en-US" sz="1090" dirty="0"/>
          </a:p>
        </p:txBody>
      </p:sp>
      <p:sp>
        <p:nvSpPr>
          <p:cNvPr id="25" name="Text 17"/>
          <p:cNvSpPr/>
          <p:nvPr/>
        </p:nvSpPr>
        <p:spPr>
          <a:xfrm>
            <a:off x="3309928" y="4657725"/>
            <a:ext cx="25241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 in-app communication for coordination between riders and drivers.</a:t>
            </a:r>
            <a:endParaRPr lang="en-US" sz="834" dirty="0"/>
          </a:p>
        </p:txBody>
      </p:sp>
      <p:sp>
        <p:nvSpPr>
          <p:cNvPr id="26" name="Shape 18"/>
          <p:cNvSpPr/>
          <p:nvPr/>
        </p:nvSpPr>
        <p:spPr>
          <a:xfrm>
            <a:off x="7010391" y="3395067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1841" y="3566517"/>
            <a:ext cx="257175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93399" y="4266605"/>
            <a:ext cx="103405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System</a:t>
            </a:r>
            <a:endParaRPr lang="en-US" sz="1090" dirty="0"/>
          </a:p>
        </p:txBody>
      </p:sp>
      <p:sp>
        <p:nvSpPr>
          <p:cNvPr id="29" name="Text 20"/>
          <p:cNvSpPr/>
          <p:nvPr/>
        </p:nvSpPr>
        <p:spPr>
          <a:xfrm>
            <a:off x="6048356" y="4657725"/>
            <a:ext cx="25241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rating and review mechanism to maintain high service quality.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93744" y="421481"/>
            <a:ext cx="1478756" cy="250031"/>
          </a:xfrm>
          <a:prstGeom prst="roundRect">
            <a:avLst/>
          </a:prstGeom>
          <a:solidFill>
            <a:srgbClr val="8B5CF6">
              <a:alpha val="10000"/>
            </a:srgbClr>
          </a:solidFill>
          <a:ln w="9144">
            <a:solidFill>
              <a:srgbClr val="8B5CF6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906" y="487561"/>
            <a:ext cx="100013" cy="100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50919" y="478631"/>
            <a:ext cx="10787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UIU EMAIL VERIFIED</a:t>
            </a:r>
            <a:endParaRPr lang="en-US" sz="683" dirty="0"/>
          </a:p>
        </p:txBody>
      </p:sp>
      <p:sp>
        <p:nvSpPr>
          <p:cNvPr id="6" name="Text 2"/>
          <p:cNvSpPr/>
          <p:nvPr/>
        </p:nvSpPr>
        <p:spPr>
          <a:xfrm>
            <a:off x="571500" y="421481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Access: Authentication</a:t>
            </a:r>
            <a:endParaRPr lang="en-US" sz="2436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44" y="1660922"/>
            <a:ext cx="128588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5850" y="1696641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Registration</a:t>
            </a:r>
            <a:endParaRPr lang="en-US" sz="1090" dirty="0"/>
          </a:p>
        </p:txBody>
      </p:sp>
      <p:sp>
        <p:nvSpPr>
          <p:cNvPr id="9" name="Text 4"/>
          <p:cNvSpPr/>
          <p:nvPr/>
        </p:nvSpPr>
        <p:spPr>
          <a:xfrm>
            <a:off x="1085850" y="2009180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Exclusive access granted only via official UIU email addresses to ensure a closed, safe community.</a:t>
            </a:r>
            <a:endParaRPr lang="en-US" sz="888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980" y="2787848"/>
            <a:ext cx="11251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5850" y="2823567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Login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1085850" y="3136106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authentication protocols to protect user data and maintain the integrity of the platform.</a:t>
            </a:r>
            <a:endParaRPr lang="en-US" sz="888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944" y="3914775"/>
            <a:ext cx="128588" cy="1285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5850" y="3950494"/>
            <a:ext cx="33432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Onboarding</a:t>
            </a:r>
            <a:endParaRPr lang="en-US" sz="1090" dirty="0"/>
          </a:p>
        </p:txBody>
      </p:sp>
      <p:sp>
        <p:nvSpPr>
          <p:cNvPr id="15" name="Text 8"/>
          <p:cNvSpPr/>
          <p:nvPr/>
        </p:nvSpPr>
        <p:spPr>
          <a:xfrm>
            <a:off x="1085850" y="4263033"/>
            <a:ext cx="33432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profile setup process designed to get students moving safely in just a few steps.</a:t>
            </a:r>
            <a:endParaRPr lang="en-US" sz="888" dirty="0"/>
          </a:p>
        </p:txBody>
      </p:sp>
      <p:sp>
        <p:nvSpPr>
          <p:cNvPr id="16" name="Shape 9"/>
          <p:cNvSpPr/>
          <p:nvPr/>
        </p:nvSpPr>
        <p:spPr>
          <a:xfrm>
            <a:off x="5214938" y="2358330"/>
            <a:ext cx="2857500" cy="523280"/>
          </a:xfrm>
          <a:prstGeom prst="roundRect">
            <a:avLst/>
          </a:prstGeom>
          <a:solidFill>
            <a:srgbClr val="8B5CF6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500688" y="2515493"/>
            <a:ext cx="104120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AFA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am a Rider</a:t>
            </a:r>
            <a:endParaRPr lang="en-US" sz="1193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1672" y="2519958"/>
            <a:ext cx="125016" cy="200025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214938" y="2995910"/>
            <a:ext cx="2857500" cy="523280"/>
          </a:xfrm>
          <a:prstGeom prst="roundRect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500688" y="3153073"/>
            <a:ext cx="11037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am a Driver</a:t>
            </a:r>
            <a:endParaRPr lang="en-US" sz="1193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663" y="3157538"/>
            <a:ext cx="200025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989141" y="3676352"/>
            <a:ext cx="13090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 Role Selection</a:t>
            </a:r>
            <a:endParaRPr lang="en-US" sz="7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1285875"/>
            <a:ext cx="2571750" cy="257175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4" name="Shape 1"/>
          <p:cNvSpPr/>
          <p:nvPr/>
        </p:nvSpPr>
        <p:spPr>
          <a:xfrm>
            <a:off x="928688" y="1500188"/>
            <a:ext cx="2143125" cy="2143125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2288679"/>
            <a:ext cx="400050" cy="400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5869" y="2774454"/>
            <a:ext cx="15287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Dashboard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4000500" y="571500"/>
            <a:ext cx="48006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Drivers: Effortless Ride Posting</a:t>
            </a:r>
            <a:endParaRPr lang="en-US" sz="2436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850231"/>
            <a:ext cx="85725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29125" y="1721644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Specification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4429125" y="1955602"/>
            <a:ext cx="190023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 pickup points and destinations with smart suggestions.</a:t>
            </a:r>
            <a:endParaRPr lang="en-US" sz="888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394" y="1850231"/>
            <a:ext cx="100013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00863" y="1721644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Control</a:t>
            </a:r>
            <a:endParaRPr lang="en-US" sz="1090" dirty="0"/>
          </a:p>
        </p:txBody>
      </p:sp>
      <p:sp>
        <p:nvSpPr>
          <p:cNvPr id="13" name="Text 7"/>
          <p:cNvSpPr/>
          <p:nvPr/>
        </p:nvSpPr>
        <p:spPr>
          <a:xfrm>
            <a:off x="6900863" y="1955602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dates and times that fit your class schedule.</a:t>
            </a:r>
            <a:endParaRPr lang="en-US" sz="888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656" y="2679911"/>
            <a:ext cx="100013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29125" y="2551323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Seat Management</a:t>
            </a:r>
            <a:endParaRPr lang="en-US" sz="1090" dirty="0"/>
          </a:p>
        </p:txBody>
      </p:sp>
      <p:sp>
        <p:nvSpPr>
          <p:cNvPr id="16" name="Text 9"/>
          <p:cNvSpPr/>
          <p:nvPr/>
        </p:nvSpPr>
        <p:spPr>
          <a:xfrm>
            <a:off x="4429125" y="2785281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available seats in real time to avoid overbooking.</a:t>
            </a:r>
            <a:endParaRPr lang="en-US" sz="888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106" y="2679911"/>
            <a:ext cx="128588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00863" y="2551323"/>
            <a:ext cx="19002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Ride Visibility</a:t>
            </a:r>
            <a:endParaRPr lang="en-US" sz="1090" dirty="0"/>
          </a:p>
        </p:txBody>
      </p:sp>
      <p:sp>
        <p:nvSpPr>
          <p:cNvPr id="19" name="Text 11"/>
          <p:cNvSpPr/>
          <p:nvPr/>
        </p:nvSpPr>
        <p:spPr>
          <a:xfrm>
            <a:off x="6900863" y="2785281"/>
            <a:ext cx="19002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Posted rides become searchable for students on the same route.</a:t>
            </a:r>
            <a:endParaRPr lang="en-US" sz="888" dirty="0"/>
          </a:p>
        </p:txBody>
      </p:sp>
      <p:sp>
        <p:nvSpPr>
          <p:cNvPr id="20" name="Shape 12"/>
          <p:cNvSpPr/>
          <p:nvPr/>
        </p:nvSpPr>
        <p:spPr>
          <a:xfrm>
            <a:off x="7343775" y="4679156"/>
            <a:ext cx="1457325" cy="292894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F2937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7343775" y="4679156"/>
            <a:ext cx="1457325" cy="292894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 MODE ACTIVE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Riders: Smart Search &amp; Booking</a:t>
            </a:r>
            <a:endParaRPr lang="en-US" sz="2436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33" y="1518047"/>
            <a:ext cx="117872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57288" y="1560909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Location-Based Search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1157288" y="1898452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 rides starting from or heading to specific campus landmarks and nearby student hubs.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2655689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57288" y="2698552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Filtering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1157288" y="3036094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Narrow down options based on class schedules, ensuring you never miss a lecture.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463" y="1518047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00663" y="1560909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Listings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5300663" y="1898452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driver ratings, vehicle details, and available seats before making a commitment.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5300663" y="2698552"/>
            <a:ext cx="32718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Requests</a:t>
            </a:r>
            <a:endParaRPr lang="en-US" sz="1193" dirty="0"/>
          </a:p>
        </p:txBody>
      </p:sp>
      <p:sp>
        <p:nvSpPr>
          <p:cNvPr id="14" name="Text 8"/>
          <p:cNvSpPr/>
          <p:nvPr/>
        </p:nvSpPr>
        <p:spPr>
          <a:xfrm>
            <a:off x="5300663" y="3036094"/>
            <a:ext cx="32718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 booking requests directly to drivers with a single tap for immediate confirmation.</a:t>
            </a:r>
            <a:endParaRPr lang="en-US" sz="942" dirty="0"/>
          </a:p>
        </p:txBody>
      </p:sp>
      <p:sp>
        <p:nvSpPr>
          <p:cNvPr id="15" name="Text 9"/>
          <p:cNvSpPr/>
          <p:nvPr/>
        </p:nvSpPr>
        <p:spPr>
          <a:xfrm>
            <a:off x="4714875" y="3721894"/>
            <a:ext cx="1707356" cy="310753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YOUR RIDE NOW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Coordination: Matching and Chat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46584"/>
            <a:ext cx="1405533" cy="253603"/>
          </a:xfrm>
          <a:prstGeom prst="rect">
            <a:avLst/>
          </a:prstGeom>
          <a:noFill/>
          <a:ln/>
        </p:spPr>
        <p:txBody>
          <a:bodyPr wrap="square" lIns="170053" tIns="51054" rIns="170053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MATCHING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571500" y="1671638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778794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828800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 Matching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1000125" y="2062758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logic to suggest rides that align with the user's path to or from campus.</a:t>
            </a:r>
            <a:endParaRPr lang="en-US" sz="888" dirty="0"/>
          </a:p>
        </p:txBody>
      </p:sp>
      <p:sp>
        <p:nvSpPr>
          <p:cNvPr id="9" name="Shape 5"/>
          <p:cNvSpPr/>
          <p:nvPr/>
        </p:nvSpPr>
        <p:spPr>
          <a:xfrm>
            <a:off x="571500" y="2527102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634258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0125" y="2684264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Alignment</a:t>
            </a:r>
            <a:endParaRPr lang="en-US" sz="1090" dirty="0"/>
          </a:p>
        </p:txBody>
      </p:sp>
      <p:sp>
        <p:nvSpPr>
          <p:cNvPr id="12" name="Text 7"/>
          <p:cNvSpPr/>
          <p:nvPr/>
        </p:nvSpPr>
        <p:spPr>
          <a:xfrm>
            <a:off x="1000125" y="2918222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pickup and drop-off times work for both parties, syncing with class schedules.</a:t>
            </a:r>
            <a:endParaRPr lang="en-US" sz="888" dirty="0"/>
          </a:p>
        </p:txBody>
      </p:sp>
      <p:sp>
        <p:nvSpPr>
          <p:cNvPr id="13" name="Text 8"/>
          <p:cNvSpPr/>
          <p:nvPr/>
        </p:nvSpPr>
        <p:spPr>
          <a:xfrm>
            <a:off x="4679156" y="1246584"/>
            <a:ext cx="1301948" cy="253603"/>
          </a:xfrm>
          <a:prstGeom prst="rect">
            <a:avLst/>
          </a:prstGeom>
          <a:noFill/>
          <a:ln/>
        </p:spPr>
        <p:txBody>
          <a:bodyPr wrap="square" lIns="170053" tIns="51054" rIns="170053" bIns="51054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SYNC</a:t>
            </a:r>
            <a:endParaRPr lang="en-US" sz="784" dirty="0"/>
          </a:p>
        </p:txBody>
      </p:sp>
      <p:sp>
        <p:nvSpPr>
          <p:cNvPr id="14" name="Shape 9"/>
          <p:cNvSpPr/>
          <p:nvPr/>
        </p:nvSpPr>
        <p:spPr>
          <a:xfrm>
            <a:off x="4679156" y="1671638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239" y="1778794"/>
            <a:ext cx="160734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07781" y="1828800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In-App Chat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5107781" y="2062758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messaging to coordinate pickup spots and handle last-minute changes securely.</a:t>
            </a:r>
            <a:endParaRPr lang="en-US" sz="888" dirty="0"/>
          </a:p>
        </p:txBody>
      </p:sp>
      <p:sp>
        <p:nvSpPr>
          <p:cNvPr id="18" name="Shape 12"/>
          <p:cNvSpPr/>
          <p:nvPr/>
        </p:nvSpPr>
        <p:spPr>
          <a:xfrm>
            <a:off x="4679156" y="2527102"/>
            <a:ext cx="371475" cy="3714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349" y="2634258"/>
            <a:ext cx="112514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7781" y="2684264"/>
            <a:ext cx="34647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Tracking</a:t>
            </a:r>
            <a:endParaRPr lang="en-US" sz="1090" dirty="0"/>
          </a:p>
        </p:txBody>
      </p:sp>
      <p:sp>
        <p:nvSpPr>
          <p:cNvPr id="21" name="Text 14"/>
          <p:cNvSpPr/>
          <p:nvPr/>
        </p:nvSpPr>
        <p:spPr>
          <a:xfrm>
            <a:off x="5107781" y="2918222"/>
            <a:ext cx="3464719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updates on booking acceptance, driver arrival, and ride progress.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38380" y="428625"/>
            <a:ext cx="1534120" cy="310753"/>
          </a:xfrm>
          <a:prstGeom prst="round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F43F5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38380" y="428625"/>
            <a:ext cx="1534120" cy="310753"/>
          </a:xfrm>
          <a:prstGeom prst="rect">
            <a:avLst/>
          </a:prstGeom>
          <a:noFill/>
          <a:ln/>
        </p:spPr>
        <p:txBody>
          <a:bodyPr wrap="square" lIns="204089" tIns="85090" rIns="204089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43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TRUST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Control: Ratings and Trust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571500" y="156090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88" y="168949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1575" y="173235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Loop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1171575" y="206990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Post-ride rating system for both drivers and riders to ensure mutual accountability and service excellence.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714875" y="156090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14950" y="173235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 Building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314950" y="206990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Transparent reviews help students choose the most reliable commuting partners within the UIU network.</a:t>
            </a:r>
            <a:endParaRPr lang="en-US" sz="942" dirty="0"/>
          </a:p>
        </p:txBody>
      </p:sp>
      <p:sp>
        <p:nvSpPr>
          <p:cNvPr id="13" name="Shape 9"/>
          <p:cNvSpPr/>
          <p:nvPr/>
        </p:nvSpPr>
        <p:spPr>
          <a:xfrm>
            <a:off x="571500" y="303854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167137"/>
            <a:ext cx="214313" cy="1714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1575" y="320999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 Management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1171575" y="354754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comprehensive ride history and manage personal details in one central, secure student hub.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4714875" y="3038549"/>
            <a:ext cx="457200" cy="457200"/>
          </a:xfrm>
          <a:prstGeom prst="ellipse">
            <a:avLst/>
          </a:prstGeom>
          <a:solidFill>
            <a:srgbClr val="FAFAFA"/>
          </a:solidFill>
          <a:ln w="18288">
            <a:solidFill>
              <a:srgbClr val="8B5CF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3167137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14950" y="3209999"/>
            <a:ext cx="32575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Oversight</a:t>
            </a:r>
            <a:endParaRPr lang="en-US" sz="1193" dirty="0"/>
          </a:p>
        </p:txBody>
      </p:sp>
      <p:sp>
        <p:nvSpPr>
          <p:cNvPr id="20" name="Text 14"/>
          <p:cNvSpPr/>
          <p:nvPr/>
        </p:nvSpPr>
        <p:spPr>
          <a:xfrm>
            <a:off x="5314950" y="3547542"/>
            <a:ext cx="32575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Conceptual administrative controls to monitor activities and ensure the safety of the entire community.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6987490" cy="4103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Comparison: </a:t>
            </a:r>
            <a:r>
              <a:rPr lang="en-US" sz="2436" b="1" dirty="0" smtClean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Campus-Cruise</a:t>
            </a:r>
            <a:r>
              <a:rPr lang="en-US" sz="2436" b="1" dirty="0" smtClean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vs. Giants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46597"/>
            <a:ext cx="8001000" cy="273427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46597"/>
            <a:ext cx="200025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2571750" y="1346597"/>
            <a:ext cx="280035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Uber / Pathao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372100" y="1346597"/>
            <a:ext cx="3200400" cy="48398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UIU Ride Sharing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1830586"/>
            <a:ext cx="2000250" cy="4893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Audience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571750" y="1830586"/>
            <a:ext cx="2800350" cy="4893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Public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514975" y="1978819"/>
            <a:ext cx="1278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UIU Students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865144" y="1966317"/>
            <a:ext cx="687586" cy="221456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EXCLUSIVE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571500" y="2319933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 Level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571750" y="2319933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 / Public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372100" y="2319933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(University Verified)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71500" y="2759273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 Structure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571750" y="2759273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/ Surge Pricing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372100" y="2759273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Affordable / Student-Friendly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71500" y="3198614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Safety Focus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571750" y="3198614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General Security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372100" y="3198614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Closed Community Trust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71500" y="3637955"/>
            <a:ext cx="20002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Control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571750" y="3637955"/>
            <a:ext cx="280035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to All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372100" y="3637955"/>
            <a:ext cx="3200400" cy="439341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8B5CF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Restricted (UIU Email)</a:t>
            </a:r>
            <a:endParaRPr lang="en-US" sz="885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3619"/>
            <a:ext cx="9143999" cy="3359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695" y="1286182"/>
            <a:ext cx="660261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Driving the Future of UIU Commuting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5574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61316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356545" y="2875666"/>
            <a:ext cx="100191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Reduction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42719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361316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34445" y="2875666"/>
            <a:ext cx="87510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</a:t>
            </a:r>
            <a:endParaRPr lang="en-US" sz="885" dirty="0"/>
          </a:p>
        </p:txBody>
      </p:sp>
      <p:sp>
        <p:nvSpPr>
          <p:cNvPr id="10" name="Shape 5"/>
          <p:cNvSpPr/>
          <p:nvPr/>
        </p:nvSpPr>
        <p:spPr>
          <a:xfrm>
            <a:off x="5986463" y="2189866"/>
            <a:ext cx="600075" cy="600075"/>
          </a:xfrm>
          <a:prstGeom prst="ellipse">
            <a:avLst/>
          </a:prstGeom>
          <a:solidFill>
            <a:srgbClr val="FAFAFA"/>
          </a:solidFill>
          <a:ln w="18288">
            <a:solidFill>
              <a:srgbClr val="F43F5E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2375604"/>
            <a:ext cx="28575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00738" y="2889954"/>
            <a:ext cx="7715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</a:t>
            </a:r>
            <a:endParaRPr lang="en-US" sz="885" dirty="0"/>
          </a:p>
        </p:txBody>
      </p:sp>
      <p:sp>
        <p:nvSpPr>
          <p:cNvPr id="13" name="Text 7"/>
          <p:cNvSpPr/>
          <p:nvPr/>
        </p:nvSpPr>
        <p:spPr>
          <a:xfrm>
            <a:off x="1270695" y="3475741"/>
            <a:ext cx="660261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1602" dirty="0"/>
          </a:p>
        </p:txBody>
      </p:sp>
      <p:sp>
        <p:nvSpPr>
          <p:cNvPr id="14" name="Text 8"/>
          <p:cNvSpPr/>
          <p:nvPr/>
        </p:nvSpPr>
        <p:spPr>
          <a:xfrm>
            <a:off x="3442395" y="4040098"/>
            <a:ext cx="2259211" cy="373261"/>
          </a:xfrm>
          <a:prstGeom prst="rect">
            <a:avLst/>
          </a:prstGeom>
          <a:noFill/>
          <a:ln/>
        </p:spPr>
        <p:txBody>
          <a:bodyPr wrap="square" lIns="272161" tIns="102108" rIns="272161" bIns="1021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8B5C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RIDE TOGETHER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699</Words>
  <Application>Microsoft Office PowerPoint</Application>
  <PresentationFormat>On-screen Show (16:9)</PresentationFormat>
  <Paragraphs>122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Neloy</cp:lastModifiedBy>
  <cp:revision>3</cp:revision>
  <dcterms:created xsi:type="dcterms:W3CDTF">2026-03-30T17:50:20Z</dcterms:created>
  <dcterms:modified xsi:type="dcterms:W3CDTF">2026-03-31T07:48:02Z</dcterms:modified>
</cp:coreProperties>
</file>