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3" r:id="rId1"/>
    <p:sldMasterId id="2147483706" r:id="rId2"/>
  </p:sldMasterIdLst>
  <p:notesMasterIdLst>
    <p:notesMasterId r:id="rId65"/>
  </p:notesMasterIdLst>
  <p:handoutMasterIdLst>
    <p:handoutMasterId r:id="rId66"/>
  </p:handoutMasterIdLst>
  <p:sldIdLst>
    <p:sldId id="446" r:id="rId3"/>
    <p:sldId id="256" r:id="rId4"/>
    <p:sldId id="311" r:id="rId5"/>
    <p:sldId id="431" r:id="rId6"/>
    <p:sldId id="366" r:id="rId7"/>
    <p:sldId id="258" r:id="rId8"/>
    <p:sldId id="259" r:id="rId9"/>
    <p:sldId id="260" r:id="rId10"/>
    <p:sldId id="261" r:id="rId11"/>
    <p:sldId id="425" r:id="rId12"/>
    <p:sldId id="262" r:id="rId13"/>
    <p:sldId id="375" r:id="rId14"/>
    <p:sldId id="432" r:id="rId15"/>
    <p:sldId id="433" r:id="rId16"/>
    <p:sldId id="434" r:id="rId17"/>
    <p:sldId id="385" r:id="rId18"/>
    <p:sldId id="435" r:id="rId19"/>
    <p:sldId id="384" r:id="rId20"/>
    <p:sldId id="437" r:id="rId21"/>
    <p:sldId id="386" r:id="rId22"/>
    <p:sldId id="387" r:id="rId23"/>
    <p:sldId id="388" r:id="rId24"/>
    <p:sldId id="426" r:id="rId25"/>
    <p:sldId id="266" r:id="rId26"/>
    <p:sldId id="438" r:id="rId27"/>
    <p:sldId id="441" r:id="rId28"/>
    <p:sldId id="439" r:id="rId29"/>
    <p:sldId id="458" r:id="rId30"/>
    <p:sldId id="306" r:id="rId31"/>
    <p:sldId id="271" r:id="rId32"/>
    <p:sldId id="272" r:id="rId33"/>
    <p:sldId id="459" r:id="rId34"/>
    <p:sldId id="324" r:id="rId35"/>
    <p:sldId id="452" r:id="rId36"/>
    <p:sldId id="451" r:id="rId37"/>
    <p:sldId id="453" r:id="rId38"/>
    <p:sldId id="454" r:id="rId39"/>
    <p:sldId id="455" r:id="rId40"/>
    <p:sldId id="456" r:id="rId41"/>
    <p:sldId id="447" r:id="rId42"/>
    <p:sldId id="329" r:id="rId43"/>
    <p:sldId id="427" r:id="rId44"/>
    <p:sldId id="442" r:id="rId45"/>
    <p:sldId id="443" r:id="rId46"/>
    <p:sldId id="444" r:id="rId47"/>
    <p:sldId id="337" r:id="rId48"/>
    <p:sldId id="338" r:id="rId49"/>
    <p:sldId id="285" r:id="rId50"/>
    <p:sldId id="331" r:id="rId51"/>
    <p:sldId id="309" r:id="rId52"/>
    <p:sldId id="445" r:id="rId53"/>
    <p:sldId id="391" r:id="rId54"/>
    <p:sldId id="392" r:id="rId55"/>
    <p:sldId id="393" r:id="rId56"/>
    <p:sldId id="428" r:id="rId57"/>
    <p:sldId id="286" r:id="rId58"/>
    <p:sldId id="343" r:id="rId59"/>
    <p:sldId id="354" r:id="rId60"/>
    <p:sldId id="347" r:id="rId61"/>
    <p:sldId id="359" r:id="rId62"/>
    <p:sldId id="399" r:id="rId63"/>
    <p:sldId id="355" r:id="rId6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00"/>
    <a:srgbClr val="336600"/>
    <a:srgbClr val="000099"/>
    <a:srgbClr val="33CCFF"/>
    <a:srgbClr val="0099CC"/>
    <a:srgbClr val="FF0000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50FBA464-BA95-4A66-AA5D-71AAB621B7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968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2728ABFF-E0F3-4C2F-9E78-F6E3798F67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785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82862B39-EA33-43BD-9270-8EEA6A80D0C0}" type="slidenum">
              <a:rPr lang="en-US" sz="1300" smtClean="0">
                <a:latin typeface="Times New Roman" pitchFamily="18" charset="0"/>
              </a:rPr>
              <a:pPr/>
              <a:t>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80872BB0-DD2A-476F-91FC-1AC1D97643BF}" type="slidenum">
              <a:rPr lang="en-US" sz="1300" smtClean="0">
                <a:latin typeface="Times New Roman" pitchFamily="18" charset="0"/>
              </a:rPr>
              <a:pPr/>
              <a:t>3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129180E8-3F81-458B-AB4B-052C14A3664C}" type="slidenum">
              <a:rPr lang="en-US" sz="1300">
                <a:latin typeface="Times New Roman" pitchFamily="18" charset="0"/>
              </a:rPr>
              <a:pPr algn="r"/>
              <a:t>4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12455695-1C24-4A83-9603-14CFF53A086A}" type="slidenum">
              <a:rPr lang="en-US" sz="1300" smtClean="0">
                <a:latin typeface="Times New Roman" pitchFamily="18" charset="0"/>
              </a:rPr>
              <a:pPr/>
              <a:t>5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838547BD-3FBA-4742-B57C-C92477929F74}" type="slidenum">
              <a:rPr lang="en-US" sz="1300" smtClean="0">
                <a:latin typeface="Times New Roman" pitchFamily="18" charset="0"/>
              </a:rPr>
              <a:pPr/>
              <a:t>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64C6B67-A287-4E2E-A88A-E2818BA3E99C}" type="slidenum">
              <a:rPr lang="en-US" sz="1300" smtClean="0">
                <a:latin typeface="Times New Roman" pitchFamily="18" charset="0"/>
              </a:rPr>
              <a:pPr/>
              <a:t>7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10DB3B9-84F4-4FC9-A960-CDB08327D5EB}" type="slidenum">
              <a:rPr lang="en-US" sz="1300" smtClean="0">
                <a:latin typeface="Times New Roman" pitchFamily="18" charset="0"/>
              </a:rPr>
              <a:pPr/>
              <a:t>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D08505D-9D3E-49BB-B6E3-C10D5555A6C7}" type="slidenum">
              <a:rPr lang="en-US" sz="1300" smtClean="0">
                <a:latin typeface="Times New Roman" pitchFamily="18" charset="0"/>
              </a:rPr>
              <a:pPr/>
              <a:t>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15803338-FEFB-4E57-889E-C3B589E363C7}" type="slidenum">
              <a:rPr lang="en-US" sz="1300">
                <a:latin typeface="Times New Roman" pitchFamily="18" charset="0"/>
              </a:rPr>
              <a:pPr algn="r"/>
              <a:t>10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5886477D-B2A2-49C0-BCAA-21F22DEA275B}" type="slidenum">
              <a:rPr lang="en-US" sz="1300" smtClean="0">
                <a:latin typeface="Times New Roman" pitchFamily="18" charset="0"/>
              </a:rPr>
              <a:pPr/>
              <a:t>11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132D0177-42A6-4F85-A00B-E03C43B678B4}" type="slidenum">
              <a:rPr lang="en-US" sz="1300" smtClean="0">
                <a:latin typeface="Times New Roman" pitchFamily="18" charset="0"/>
              </a:rPr>
              <a:pPr/>
              <a:t>12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23208521-1F7B-4029-94B2-38B71DA8D73A}" type="slidenum">
              <a:rPr lang="en-US" sz="1300" smtClean="0">
                <a:latin typeface="Times New Roman" pitchFamily="18" charset="0"/>
              </a:rPr>
              <a:pPr/>
              <a:t>16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8929073-8B81-4DB5-A9E4-14BFB0D521A1}" type="slidenum">
              <a:rPr lang="en-US" sz="1300" smtClean="0">
                <a:latin typeface="Times New Roman" pitchFamily="18" charset="0"/>
              </a:rPr>
              <a:pPr/>
              <a:t>18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BC567533-98ED-4AD6-97E5-BDCE4D7D344C}" type="slidenum">
              <a:rPr lang="en-US" sz="1300" smtClean="0">
                <a:latin typeface="Times New Roman" pitchFamily="18" charset="0"/>
              </a:rPr>
              <a:pPr/>
              <a:t>20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753CF476-1FBA-48FE-BB1C-467868163905}" type="slidenum">
              <a:rPr lang="en-US" sz="1300" smtClean="0">
                <a:latin typeface="Times New Roman" pitchFamily="18" charset="0"/>
              </a:rPr>
              <a:pPr/>
              <a:t>21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D9C447C-A21F-430E-A3C0-F1F095981C8B}" type="slidenum">
              <a:rPr lang="en-US" sz="1300" smtClean="0">
                <a:latin typeface="Times New Roman" pitchFamily="18" charset="0"/>
              </a:rPr>
              <a:pPr/>
              <a:t>22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46D2FC56-90C2-4179-8CAC-84858D4C831B}" type="slidenum">
              <a:rPr lang="en-US" sz="1300">
                <a:latin typeface="Times New Roman" pitchFamily="18" charset="0"/>
              </a:rPr>
              <a:pPr algn="r"/>
              <a:t>23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3E49593-377C-482E-8A7F-4F7B4B6BCF49}" type="slidenum">
              <a:rPr lang="en-US" sz="1300" smtClean="0">
                <a:latin typeface="Times New Roman" pitchFamily="18" charset="0"/>
              </a:rPr>
              <a:pPr/>
              <a:t>24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416365C-1BB0-47C0-AC1C-398E93853066}" type="slidenum">
              <a:rPr lang="en-US" sz="1300" smtClean="0">
                <a:solidFill>
                  <a:srgbClr val="000000"/>
                </a:solidFill>
                <a:latin typeface="Times New Roman" pitchFamily="18" charset="0"/>
              </a:rPr>
              <a:pPr/>
              <a:t>25</a:t>
            </a:fld>
            <a:endParaRPr lang="en-US" sz="13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CA18B162-76D7-44FD-8B7C-13A45300DF46}" type="slidenum">
              <a:rPr lang="en-US" sz="1300" smtClean="0">
                <a:latin typeface="Times New Roman" pitchFamily="18" charset="0"/>
              </a:rPr>
              <a:pPr/>
              <a:t>26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51DE8F16-B6A3-49C8-846B-C328A5ECB7F8}" type="slidenum">
              <a:rPr lang="en-US" sz="1300" smtClean="0">
                <a:latin typeface="Times New Roman" pitchFamily="18" charset="0"/>
              </a:rPr>
              <a:pPr/>
              <a:t>28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649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094B1D1-0CC5-4AC9-B378-0B83A8DA9C02}" type="slidenum">
              <a:rPr lang="en-US" sz="1300" smtClean="0">
                <a:latin typeface="Times New Roman" pitchFamily="18" charset="0"/>
              </a:rPr>
              <a:pPr/>
              <a:t>29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Two simple multiple access control techniques.</a:t>
            </a:r>
          </a:p>
          <a:p>
            <a:endParaRPr lang="en-US" smtClean="0">
              <a:ea typeface="ＭＳ Ｐゴシック" pitchFamily="34" charset="-128"/>
            </a:endParaRPr>
          </a:p>
          <a:p>
            <a:r>
              <a:rPr lang="en-US" smtClean="0">
                <a:ea typeface="ＭＳ Ｐゴシック" pitchFamily="34" charset="-128"/>
              </a:rPr>
              <a:t>Each mobile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share of the bandwidth is divided into portions for the uplink and the downlink. Also, possibly, out of band signaling.</a:t>
            </a:r>
          </a:p>
          <a:p>
            <a:endParaRPr lang="en-US" smtClean="0">
              <a:ea typeface="ＭＳ Ｐゴシック" pitchFamily="34" charset="-128"/>
            </a:endParaRPr>
          </a:p>
          <a:p>
            <a:r>
              <a:rPr lang="en-US" smtClean="0">
                <a:ea typeface="ＭＳ Ｐゴシック" pitchFamily="34" charset="-128"/>
              </a:rPr>
              <a:t>As we will see, used in AMPS, GSM, IS-54/136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5B94D3BF-5C9F-47EC-98E7-BBA5A8CFD482}" type="slidenum">
              <a:rPr lang="en-US" sz="1300" smtClean="0">
                <a:latin typeface="Times New Roman" pitchFamily="18" charset="0"/>
              </a:rPr>
              <a:pPr/>
              <a:t>30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854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CAFCF60-1738-4833-A429-9A6879CBDC7C}" type="slidenum">
              <a:rPr lang="en-US" sz="1300" smtClean="0">
                <a:latin typeface="Times New Roman" pitchFamily="18" charset="0"/>
              </a:rPr>
              <a:pPr/>
              <a:t>31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95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59B0598-F86F-4F6B-842A-74E26B2F431B}" type="slidenum">
              <a:rPr lang="en-US" sz="1300" smtClean="0">
                <a:latin typeface="Times New Roman" pitchFamily="18" charset="0"/>
              </a:rPr>
              <a:pPr/>
              <a:t>32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059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ACCEFDE-429C-442D-B49B-998DEE17D1FF}" type="slidenum">
              <a:rPr lang="en-US" sz="1300" smtClean="0">
                <a:latin typeface="Times New Roman" pitchFamily="18" charset="0"/>
              </a:rPr>
              <a:pPr/>
              <a:t>33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74C1E5A-2369-41C2-8256-246D79079970}" type="slidenum">
              <a:rPr lang="en-US" sz="1300" smtClean="0">
                <a:latin typeface="Times New Roman" pitchFamily="18" charset="0"/>
              </a:rPr>
              <a:pPr/>
              <a:t>34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264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4846DCB-5660-4169-882C-61162E2792E2}" type="slidenum">
              <a:rPr lang="en-US" sz="1300" smtClean="0">
                <a:latin typeface="Times New Roman" pitchFamily="18" charset="0"/>
              </a:rPr>
              <a:pPr/>
              <a:t>35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366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DDAB0FC-82EC-43A2-8D78-402F92604A12}" type="slidenum">
              <a:rPr lang="en-US" sz="1300" smtClean="0">
                <a:latin typeface="Times New Roman" pitchFamily="18" charset="0"/>
              </a:rPr>
              <a:pPr/>
              <a:t>36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469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41EAC196-0679-4B21-A71D-6A824A672443}" type="slidenum">
              <a:rPr lang="en-US" sz="1300" smtClean="0">
                <a:latin typeface="Times New Roman" pitchFamily="18" charset="0"/>
              </a:rPr>
              <a:pPr/>
              <a:t>37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77653AE-7AEF-4A9C-BAB8-032E103F0EBB}" type="slidenum">
              <a:rPr lang="en-US" sz="1300" smtClean="0">
                <a:latin typeface="Times New Roman" pitchFamily="18" charset="0"/>
              </a:rPr>
              <a:pPr/>
              <a:t>38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673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4E2851A-C186-4B95-9612-978698B2B450}" type="slidenum">
              <a:rPr lang="en-US" sz="1300" smtClean="0">
                <a:latin typeface="Times New Roman" pitchFamily="18" charset="0"/>
              </a:rPr>
              <a:pPr/>
              <a:t>39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776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C089196-85EA-41C4-AF1B-D4220BD2742C}" type="slidenum">
              <a:rPr lang="en-US" sz="1300" smtClean="0">
                <a:latin typeface="Times New Roman" pitchFamily="18" charset="0"/>
              </a:rPr>
              <a:pPr/>
              <a:t>40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878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028F18C-3244-4154-A8B4-2C014BC8582B}" type="slidenum">
              <a:rPr lang="en-US" sz="1300" smtClean="0">
                <a:latin typeface="Times New Roman" pitchFamily="18" charset="0"/>
              </a:rPr>
              <a:pPr/>
              <a:t>41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98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AC7D4957-3097-4155-8BE4-7D8FE16B7C84}" type="slidenum">
              <a:rPr lang="en-US" sz="1300">
                <a:latin typeface="Times New Roman" pitchFamily="18" charset="0"/>
              </a:rPr>
              <a:pPr algn="r"/>
              <a:t>42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12083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17D8B09-06AE-4DE8-8A11-C346A715556B}" type="slidenum">
              <a:rPr lang="en-US" sz="1300" smtClean="0">
                <a:solidFill>
                  <a:srgbClr val="000000"/>
                </a:solidFill>
                <a:latin typeface="Times New Roman" pitchFamily="18" charset="0"/>
              </a:rPr>
              <a:pPr/>
              <a:t>43</a:t>
            </a:fld>
            <a:endParaRPr lang="en-US" sz="13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FE7B5DD-3B06-4897-9FF6-7F399D5F3562}" type="slidenum">
              <a:rPr lang="en-US" sz="1300" smtClean="0">
                <a:solidFill>
                  <a:srgbClr val="000000"/>
                </a:solidFill>
                <a:latin typeface="Times New Roman" pitchFamily="18" charset="0"/>
              </a:rPr>
              <a:pPr/>
              <a:t>44</a:t>
            </a:fld>
            <a:endParaRPr lang="en-US" sz="13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7095BAD2-1035-4D1B-9632-B00C55D0FFFE}" type="slidenum">
              <a:rPr lang="en-US" sz="1300">
                <a:solidFill>
                  <a:srgbClr val="000000"/>
                </a:solidFill>
                <a:latin typeface="Times New Roman" pitchFamily="18" charset="0"/>
              </a:rPr>
              <a:pPr algn="r"/>
              <a:t>45</a:t>
            </a:fld>
            <a:endParaRPr lang="en-US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39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7EEEF961-405E-4DD3-96C7-A9F53F10047D}" type="slidenum">
              <a:rPr lang="en-US" sz="1300" smtClean="0">
                <a:latin typeface="Times New Roman" pitchFamily="18" charset="0"/>
              </a:rPr>
              <a:pPr/>
              <a:t>46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493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662C229-C4E7-4AC3-B334-A8F25734EB0F}" type="slidenum">
              <a:rPr lang="en-US" sz="1300" smtClean="0">
                <a:latin typeface="Times New Roman" pitchFamily="18" charset="0"/>
              </a:rPr>
              <a:pPr/>
              <a:t>47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59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98CF726-DE87-4946-A88F-91C6547DEFB1}" type="slidenum">
              <a:rPr lang="en-US" sz="1300" smtClean="0">
                <a:latin typeface="Times New Roman" pitchFamily="18" charset="0"/>
              </a:rPr>
              <a:pPr/>
              <a:t>48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C421CEE0-D025-4430-9E0D-C20266F3DB44}" type="slidenum">
              <a:rPr lang="en-US" sz="1300" smtClean="0">
                <a:latin typeface="Times New Roman" pitchFamily="18" charset="0"/>
              </a:rPr>
              <a:pPr/>
              <a:t>49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800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E5195E90-27D6-44BD-98D3-7A452FB91246}" type="slidenum">
              <a:rPr lang="en-US" sz="1300" smtClean="0">
                <a:latin typeface="Times New Roman" pitchFamily="18" charset="0"/>
              </a:rPr>
              <a:pPr/>
              <a:t>50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6665A77-4137-4389-8019-C864A197EB86}" type="slidenum">
              <a:rPr lang="en-US" sz="1300" smtClean="0">
                <a:latin typeface="Times New Roman" pitchFamily="18" charset="0"/>
              </a:rPr>
              <a:pPr/>
              <a:t>51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005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4444656D-61C0-4D37-82D3-810A77635D94}" type="slidenum">
              <a:rPr lang="en-US" sz="1300">
                <a:latin typeface="Times New Roman" pitchFamily="18" charset="0"/>
              </a:rPr>
              <a:pPr algn="r"/>
              <a:t>55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13107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42CDBD26-044F-416E-90D5-C4C85F7124BD}" type="slidenum">
              <a:rPr lang="en-US" sz="1300" smtClean="0">
                <a:latin typeface="Times New Roman" pitchFamily="18" charset="0"/>
              </a:rPr>
              <a:pPr/>
              <a:t>56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209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A4390DF-C65C-43AE-8091-802F8E3D2DBC}" type="slidenum">
              <a:rPr lang="en-US" sz="1300" smtClean="0">
                <a:latin typeface="Times New Roman" pitchFamily="18" charset="0"/>
              </a:rPr>
              <a:pPr/>
              <a:t>57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31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F6C983D-B94A-4C66-9BD4-9DE71F10C54E}" type="slidenum">
              <a:rPr lang="en-US" sz="1300" smtClean="0">
                <a:latin typeface="Times New Roman" pitchFamily="18" charset="0"/>
              </a:rPr>
              <a:pPr/>
              <a:t>58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414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12390FD1-BA41-49A0-A3DE-BDA30B278BC1}" type="slidenum">
              <a:rPr lang="en-US" sz="1300" smtClean="0">
                <a:latin typeface="Times New Roman" pitchFamily="18" charset="0"/>
              </a:rPr>
              <a:pPr/>
              <a:t>59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51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B3EC9178-05C4-4217-BED9-E0CB5D5CA54B}" type="slidenum">
              <a:rPr lang="en-US" sz="1300" smtClean="0">
                <a:latin typeface="Times New Roman" pitchFamily="18" charset="0"/>
              </a:rPr>
              <a:pPr/>
              <a:t>60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619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EB887C7-CF6F-4CA7-837B-701F85295EF9}" type="slidenum">
              <a:rPr lang="en-US" sz="1300" smtClean="0">
                <a:latin typeface="Times New Roman" pitchFamily="18" charset="0"/>
              </a:rPr>
              <a:pPr/>
              <a:t>61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72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22355350-1E18-4ABB-A036-40585ED62604}" type="slidenum">
              <a:rPr lang="en-US" sz="1300" smtClean="0">
                <a:latin typeface="Times New Roman" pitchFamily="18" charset="0"/>
              </a:rPr>
              <a:pPr/>
              <a:t>62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824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9C172-A8A0-4842-91D6-526B6E5587A5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CCF019C7-DA3A-418A-A1F4-0F64A40091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1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C7895-DD7C-4214-AE2A-44153C314825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645150CC-0529-40B1-A914-644E6E1852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2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E0419-E589-472C-9FE7-C074BE5B809E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DEE84DCD-89E1-4441-9F9D-79DA43B776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9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446F5-07B8-44E9-85AD-D5CD417CDCA8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AAC65506-5104-411E-B5B5-D370C160A0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7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F1621-6444-449C-8C22-2A91D5C41412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1B557E0F-9F22-4C29-B208-26B9DD6310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9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B1733-C39A-4942-826F-333F841AC2B7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88B75A23-D06A-4566-9EFA-758F904152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7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CB0BB-AB40-4AC7-B61C-B5A8F9C4EEF4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C1F8BF3B-6D2A-4D14-98A9-3A63F159C6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22843-A441-4D78-8034-410DC2C50783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C63BB499-B79E-452A-86A3-92052211FA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0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D7399-F1D9-45D4-A1B3-2CD381233D51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37ECE747-BE74-43F0-B01B-C71A27A11E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66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80F3C-9B41-46BC-B3ED-2B0E2C72538B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A5E4D6F9-5103-4285-8AE6-F122E1DB08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8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57760-8DB0-4045-9200-D701283A964A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88A1582A-9E66-4ED4-8B07-8BEF249FE0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68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4A258-5B01-4DBC-9433-BE58751EE890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  <a:fld id="{40C454F9-DCE8-48C8-A557-D255FBF08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13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B86C0BA0-094B-447F-875C-1073C1E3E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7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9E383841-16C0-480B-90FF-8DD6CD7DA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81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10476FE-FF59-4EBA-A5A0-53DE4D191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91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130490D7-C119-42E2-96AE-70BFE67D8A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47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64A84795-A048-486E-9712-5F44381805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92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09961594-A717-4EF8-A018-EBED0AA087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11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5673FD76-CCAA-4B6F-BC0F-0292734D24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53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776C226-709F-4F45-A376-D9D4C42DA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44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4B87177-9DFE-4A3B-9306-134954AC4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06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26C5431E-F4CF-458A-AFF0-F016652C77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51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F0F3E05-EEB6-4DBB-90FA-936F67B4E7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139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8C803E81-AC2E-48BB-A0FA-A4464CCAF3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7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F686B0C4-341E-4717-9143-DBF95664D971}" type="datetime1">
              <a:rPr lang="en-US"/>
              <a:pPr>
                <a:defRPr/>
              </a:pPr>
              <a:t>11/13/2024</a:t>
            </a:fld>
            <a:endParaRPr lang="en-US"/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2-</a:t>
            </a:r>
            <a:fld id="{61F7A2A9-9F6B-49CB-A7E6-F5C463DA13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62" r:id="rId7"/>
    <p:sldLayoutId id="2147484063" r:id="rId8"/>
    <p:sldLayoutId id="2147484049" r:id="rId9"/>
    <p:sldLayoutId id="2147484064" r:id="rId10"/>
    <p:sldLayoutId id="2147484065" r:id="rId11"/>
    <p:sldLayoutId id="2147484066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3243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4-</a:t>
            </a:r>
            <a:fld id="{922161AE-0460-47DC-9512-6E7447F9B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55" r:id="rId6"/>
    <p:sldLayoutId id="2147484056" r:id="rId7"/>
    <p:sldLayoutId id="2147484057" r:id="rId8"/>
    <p:sldLayoutId id="2147484058" r:id="rId9"/>
    <p:sldLayoutId id="2147484059" r:id="rId10"/>
    <p:sldLayoutId id="2147484060" r:id="rId11"/>
    <p:sldLayoutId id="2147484061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jpeg"/><Relationship Id="rId11" Type="http://schemas.openxmlformats.org/officeDocument/2006/relationships/image" Target="../media/image34.emf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6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3.png"/><Relationship Id="rId19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6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3.png"/><Relationship Id="rId19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Relationship Id="rId22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6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3.png"/><Relationship Id="rId19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38.png"/><Relationship Id="rId14" Type="http://schemas.openxmlformats.org/officeDocument/2006/relationships/image" Target="../media/image4.png"/><Relationship Id="rId22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18" Type="http://schemas.openxmlformats.org/officeDocument/2006/relationships/image" Target="../media/image4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39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7.png"/><Relationship Id="rId5" Type="http://schemas.openxmlformats.org/officeDocument/2006/relationships/image" Target="../media/image41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37.png"/><Relationship Id="rId4" Type="http://schemas.openxmlformats.org/officeDocument/2006/relationships/image" Target="../media/image5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2.png"/><Relationship Id="rId3" Type="http://schemas.openxmlformats.org/officeDocument/2006/relationships/image" Target="../media/image45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45.png"/><Relationship Id="rId15" Type="http://schemas.openxmlformats.org/officeDocument/2006/relationships/image" Target="../media/image67.png"/><Relationship Id="rId10" Type="http://schemas.openxmlformats.org/officeDocument/2006/relationships/image" Target="../media/image63.png"/><Relationship Id="rId4" Type="http://schemas.openxmlformats.org/officeDocument/2006/relationships/image" Target="../media/image5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5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14.png"/><Relationship Id="rId9" Type="http://schemas.openxmlformats.org/officeDocument/2006/relationships/image" Target="../media/image77.png"/><Relationship Id="rId1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6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81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E1B9AC1-5237-409C-BDC4-6E5837E5D110}" type="slidenum">
              <a:rPr lang="en-US" sz="1200" smtClean="0">
                <a:latin typeface="Tahoma" pitchFamily="34" charset="0"/>
              </a:rPr>
              <a:pPr/>
              <a:t>1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>
                <a:solidFill>
                  <a:srgbClr val="000099"/>
                </a:solidFill>
                <a:latin typeface="Gill Sans MT" pitchFamily="34" charset="0"/>
              </a:rPr>
              <a:t>Chapter 1</a:t>
            </a:r>
            <a:r>
              <a:rPr lang="en-US" sz="4800">
                <a:solidFill>
                  <a:srgbClr val="000099"/>
                </a:solidFill>
                <a:latin typeface="Gill Sans MT" pitchFamily="34" charset="0"/>
              </a:rPr>
              <a:t/>
            </a:r>
            <a:br>
              <a:rPr lang="en-US" sz="4800">
                <a:solidFill>
                  <a:srgbClr val="000099"/>
                </a:solidFill>
                <a:latin typeface="Gill Sans MT" pitchFamily="34" charset="0"/>
              </a:rPr>
            </a:br>
            <a:r>
              <a:rPr lang="en-US" sz="4400">
                <a:solidFill>
                  <a:srgbClr val="000099"/>
                </a:solidFill>
                <a:latin typeface="Gill Sans MT" pitchFamily="34" charset="0"/>
              </a:rPr>
              <a:t>Introduction</a:t>
            </a: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6184900" y="3078163"/>
            <a:ext cx="2881313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2800" i="1">
                <a:solidFill>
                  <a:srgbClr val="008000"/>
                </a:solidFill>
                <a:latin typeface="Gill Sans MT" pitchFamily="34" charset="0"/>
              </a:rPr>
              <a:t>Computer Networking: A Top Down Approach </a:t>
            </a:r>
            <a:r>
              <a:rPr lang="en-US" sz="2800">
                <a:solidFill>
                  <a:srgbClr val="008000"/>
                </a:solidFill>
                <a:latin typeface="Gill Sans MT" pitchFamily="34" charset="0"/>
              </a:rPr>
              <a:t/>
            </a:r>
            <a:br>
              <a:rPr lang="en-US" sz="28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6</a:t>
            </a:r>
            <a:r>
              <a:rPr lang="en-US" sz="2000" baseline="30000">
                <a:solidFill>
                  <a:srgbClr val="008000"/>
                </a:solidFill>
                <a:latin typeface="Gill Sans MT" pitchFamily="34" charset="0"/>
              </a:rPr>
              <a:t>th</a:t>
            </a: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 edition </a:t>
            </a:r>
            <a:br>
              <a:rPr lang="en-US" sz="20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Jim Kurose, Keith Ross</a:t>
            </a:r>
            <a:br>
              <a:rPr lang="en-US" sz="20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Addison-Wesley</a:t>
            </a:r>
            <a:br>
              <a:rPr lang="en-US" sz="20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March 2012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69888" y="3268663"/>
            <a:ext cx="537845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/>
              <a:t>A note on the use of these ppt slides:</a:t>
            </a:r>
          </a:p>
          <a:p>
            <a:r>
              <a:rPr lang="en-US" sz="1200"/>
              <a:t>We</a:t>
            </a:r>
            <a:r>
              <a:rPr lang="ja-JP" altLang="en-US" sz="1200"/>
              <a:t>’</a:t>
            </a:r>
            <a:r>
              <a:rPr lang="en-US" altLang="ja-JP" sz="1200"/>
              <a:t>re making these slides freely available to all (faculty, students, readers). They</a:t>
            </a:r>
            <a:r>
              <a:rPr lang="ja-JP" altLang="en-US" sz="1200"/>
              <a:t>’</a:t>
            </a:r>
            <a:r>
              <a:rPr lang="en-US" altLang="ja-JP" sz="1200"/>
              <a:t>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/>
              <a:t>lot</a:t>
            </a:r>
            <a:r>
              <a:rPr lang="en-US" altLang="ja-JP" sz="120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/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73063" y="4267200"/>
            <a:ext cx="5378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sz="1400">
              <a:latin typeface="Gill Sans MT" pitchFamily="34" charset="0"/>
            </a:endParaRP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1200"/>
              <a:t>If you use these slides (e.g., in a class) that you mention their source (after all, we</a:t>
            </a:r>
            <a:r>
              <a:rPr lang="ja-JP" altLang="en-US" sz="1200"/>
              <a:t>’</a:t>
            </a:r>
            <a:r>
              <a:rPr lang="en-US" altLang="ja-JP" sz="1200"/>
              <a:t>d like people to use our book!)</a:t>
            </a: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120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pitchFamily="2" charset="2"/>
              <a:buChar char="q"/>
            </a:pPr>
            <a:endParaRPr lang="en-US" sz="120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sz="1200"/>
              <a:t>Thanks and enjoy!  JFK/KWR</a:t>
            </a:r>
          </a:p>
          <a:p>
            <a:pPr>
              <a:lnSpc>
                <a:spcPct val="85000"/>
              </a:lnSpc>
            </a:pPr>
            <a:endParaRPr lang="en-US" sz="1200"/>
          </a:p>
          <a:p>
            <a:pPr>
              <a:lnSpc>
                <a:spcPct val="85000"/>
              </a:lnSpc>
            </a:pPr>
            <a:r>
              <a:rPr lang="en-US" sz="1200"/>
              <a:t>     All material copyright 1996-2012</a:t>
            </a:r>
          </a:p>
          <a:p>
            <a:pPr>
              <a:lnSpc>
                <a:spcPct val="85000"/>
              </a:lnSpc>
            </a:pPr>
            <a:r>
              <a:rPr lang="en-US" sz="1200"/>
              <a:t>     J.F Kurose and K.W. Ross, All Rights Reserved</a:t>
            </a:r>
          </a:p>
        </p:txBody>
      </p:sp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5942013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9708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" descr="6e_cov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511175"/>
            <a:ext cx="2306638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413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introduction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our goal:</a:t>
            </a:r>
            <a:r>
              <a:rPr lang="en-US" smtClean="0">
                <a:ea typeface="ＭＳ Ｐゴシック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ea typeface="ＭＳ Ｐゴシック" pitchFamily="34" charset="-128"/>
              </a:rPr>
              <a:t>get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feel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and terminology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ea typeface="ＭＳ Ｐゴシック" pitchFamily="34" charset="-128"/>
              </a:rPr>
              <a:t>more depth, detail </a:t>
            </a:r>
            <a:r>
              <a:rPr lang="en-US" i="1" smtClean="0">
                <a:ea typeface="ＭＳ Ｐゴシック" pitchFamily="34" charset="-128"/>
              </a:rPr>
              <a:t>later</a:t>
            </a:r>
            <a:r>
              <a:rPr lang="en-US" smtClean="0">
                <a:ea typeface="ＭＳ Ｐゴシック" pitchFamily="34" charset="-128"/>
              </a:rPr>
              <a:t> in course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ea typeface="ＭＳ Ｐゴシック" pitchFamily="34" charset="-128"/>
              </a:rPr>
              <a:t>approach:</a:t>
            </a:r>
          </a:p>
          <a:p>
            <a:pPr lvl="1" eaLnBrk="1" hangingPunct="1">
              <a:lnSpc>
                <a:spcPct val="90000"/>
              </a:lnSpc>
              <a:buSzPct val="85000"/>
            </a:pPr>
            <a:r>
              <a:rPr lang="en-US" sz="2800" smtClean="0"/>
              <a:t>use Internet as example</a:t>
            </a:r>
          </a:p>
          <a:p>
            <a:pPr lvl="1" eaLnBrk="1" hangingPunct="1">
              <a:lnSpc>
                <a:spcPct val="90000"/>
              </a:lnSpc>
            </a:pPr>
            <a:endParaRPr lang="en-US" sz="2800" smtClean="0"/>
          </a:p>
        </p:txBody>
      </p:sp>
      <p:sp>
        <p:nvSpPr>
          <p:cNvPr id="9221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14800" y="1371600"/>
            <a:ext cx="5029200" cy="52451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overview</a:t>
            </a:r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: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what</a:t>
            </a:r>
            <a:r>
              <a:rPr lang="ja-JP" altLang="en-US" sz="2400" smtClean="0">
                <a:ea typeface="ＭＳ Ｐゴシック" pitchFamily="34" charset="-128"/>
              </a:rPr>
              <a:t>’</a:t>
            </a:r>
            <a:r>
              <a:rPr lang="en-US" altLang="ja-JP" sz="2400" smtClean="0">
                <a:ea typeface="ＭＳ Ｐゴシック" pitchFamily="34" charset="-128"/>
              </a:rPr>
              <a:t>s the Internet?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what</a:t>
            </a:r>
            <a:r>
              <a:rPr lang="ja-JP" altLang="en-US" sz="2400" smtClean="0">
                <a:ea typeface="ＭＳ Ｐゴシック" pitchFamily="34" charset="-128"/>
              </a:rPr>
              <a:t>’</a:t>
            </a:r>
            <a:r>
              <a:rPr lang="en-US" altLang="ja-JP" sz="2400" smtClean="0">
                <a:ea typeface="ＭＳ Ｐゴシック" pitchFamily="34" charset="-128"/>
              </a:rPr>
              <a:t>s a protocol?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network edge; hosts, access net, physical media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network core: packet/circuit switching, Internet structure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performance: loss, delay, throughput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security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protocol layers, service models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history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>
              <a:ea typeface="ＭＳ Ｐゴシック" pitchFamily="34" charset="-128"/>
            </a:endParaRPr>
          </a:p>
        </p:txBody>
      </p:sp>
      <p:pic>
        <p:nvPicPr>
          <p:cNvPr id="9222" name="Picture 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03028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ECEDD763-61D4-43B4-87CE-A2C7B0E37727}" type="slidenum">
              <a:rPr lang="en-US" sz="1200" smtClean="0">
                <a:latin typeface="Tahoma" pitchFamily="34" charset="0"/>
              </a:rPr>
              <a:pPr/>
              <a:t>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10243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1.1 what </a:t>
            </a:r>
            <a:r>
              <a:rPr lang="en-US" sz="2800" i="1" smtClean="0">
                <a:solidFill>
                  <a:srgbClr val="CC0000"/>
                </a:solidFill>
              </a:rPr>
              <a:t>is</a:t>
            </a:r>
            <a:r>
              <a:rPr lang="en-US" sz="2800" smtClean="0">
                <a:solidFill>
                  <a:srgbClr val="CC0000"/>
                </a:solidFill>
              </a:rPr>
              <a:t> the Internet?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1.2</a:t>
            </a:r>
            <a:r>
              <a:rPr lang="en-US" sz="2800" smtClean="0"/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1.3 </a:t>
            </a:r>
            <a:r>
              <a:rPr lang="en-US" sz="2800" smtClean="0"/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400" smtClean="0">
                <a:latin typeface="Gill Sans MT" pitchFamily="34" charset="0"/>
              </a:rPr>
              <a:t>packet switching, circuit switching, network structure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1.4 </a:t>
            </a:r>
            <a:r>
              <a:rPr lang="en-US" sz="2800" smtClean="0"/>
              <a:t>delay, loss, throughput in networks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1.5</a:t>
            </a:r>
            <a:r>
              <a:rPr lang="en-US" sz="2800" smtClean="0"/>
              <a:t> protocol layers, service models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1024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E7F1ECE9-85A6-4E18-84C3-85EE974C131E}" type="slidenum">
              <a:rPr lang="en-US" sz="1200" smtClean="0">
                <a:latin typeface="Tahoma" pitchFamily="34" charset="0"/>
              </a:rPr>
              <a:pPr/>
              <a:t>3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2725" y="190500"/>
            <a:ext cx="8382000" cy="93662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What</a:t>
            </a:r>
            <a:r>
              <a:rPr lang="ja-JP" altLang="en-US" sz="3600" smtClean="0">
                <a:ea typeface="ＭＳ Ｐゴシック" pitchFamily="34" charset="-128"/>
              </a:rPr>
              <a:t>’</a:t>
            </a:r>
            <a:r>
              <a:rPr lang="en-US" altLang="ja-JP" sz="3600" smtClean="0">
                <a:ea typeface="ＭＳ Ｐゴシック" pitchFamily="34" charset="-128"/>
              </a:rPr>
              <a:t>s the Internet: </a:t>
            </a:r>
            <a:r>
              <a:rPr lang="ja-JP" altLang="en-US" sz="3600" smtClean="0">
                <a:ea typeface="ＭＳ Ｐゴシック" pitchFamily="34" charset="-128"/>
              </a:rPr>
              <a:t>“</a:t>
            </a:r>
            <a:r>
              <a:rPr lang="en-US" altLang="ja-JP" sz="3600" smtClean="0">
                <a:ea typeface="ＭＳ Ｐゴシック" pitchFamily="34" charset="-128"/>
              </a:rPr>
              <a:t>nuts and bolts</a:t>
            </a:r>
            <a:r>
              <a:rPr lang="ja-JP" altLang="en-US" sz="3600" smtClean="0">
                <a:ea typeface="ＭＳ Ｐゴシック" pitchFamily="34" charset="-128"/>
              </a:rPr>
              <a:t>”</a:t>
            </a:r>
            <a:r>
              <a:rPr lang="en-US" altLang="ja-JP" sz="3600" smtClean="0">
                <a:ea typeface="ＭＳ Ｐゴシック" pitchFamily="34" charset="-128"/>
              </a:rPr>
              <a:t> view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57350" y="1436688"/>
            <a:ext cx="3779838" cy="1271587"/>
          </a:xfrm>
        </p:spPr>
        <p:txBody>
          <a:bodyPr/>
          <a:lstStyle/>
          <a:p>
            <a:pPr marL="231775" indent="-231775" eaLnBrk="1" hangingPunct="1">
              <a:spcBef>
                <a:spcPct val="15000"/>
              </a:spcBef>
              <a:buSzPct val="75000"/>
            </a:pPr>
            <a:r>
              <a:rPr lang="en-US" sz="2400" smtClean="0">
                <a:ea typeface="ＭＳ Ｐゴシック" pitchFamily="34" charset="-128"/>
              </a:rPr>
              <a:t>millions of connected computing devices: </a:t>
            </a:r>
          </a:p>
          <a:p>
            <a:pPr marL="631825" lvl="1" indent="-231775" eaLnBrk="1" hangingPunct="1">
              <a:spcBef>
                <a:spcPct val="15000"/>
              </a:spcBef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hosts </a:t>
            </a:r>
            <a:r>
              <a:rPr lang="en-US" i="1" smtClean="0">
                <a:ea typeface="ＭＳ Ｐゴシック" pitchFamily="34" charset="-128"/>
              </a:rPr>
              <a:t>=</a:t>
            </a: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 end systems</a:t>
            </a:r>
            <a:r>
              <a:rPr lang="en-US" i="1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</a:p>
          <a:p>
            <a:pPr marL="631825" lvl="1" indent="-231775" eaLnBrk="1" hangingPunct="1">
              <a:buSzPct val="75000"/>
            </a:pPr>
            <a:r>
              <a:rPr lang="en-US" smtClean="0"/>
              <a:t>running </a:t>
            </a:r>
            <a:r>
              <a:rPr lang="en-US" i="1" smtClean="0">
                <a:solidFill>
                  <a:srgbClr val="CC0000"/>
                </a:solidFill>
              </a:rPr>
              <a:t>network apps</a:t>
            </a:r>
            <a:endParaRPr lang="en-US" smtClean="0">
              <a:solidFill>
                <a:srgbClr val="CC0000"/>
              </a:solidFill>
            </a:endParaRPr>
          </a:p>
        </p:txBody>
      </p:sp>
      <p:sp>
        <p:nvSpPr>
          <p:cNvPr id="4766" name="Rectangle 670"/>
          <p:cNvSpPr>
            <a:spLocks noChangeArrowheads="1"/>
          </p:cNvSpPr>
          <p:nvPr/>
        </p:nvSpPr>
        <p:spPr bwMode="auto">
          <a:xfrm>
            <a:off x="1695450" y="3152775"/>
            <a:ext cx="3368675" cy="188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communication links</a:t>
            </a:r>
            <a:endParaRPr lang="en-US">
              <a:solidFill>
                <a:srgbClr val="CC0000"/>
              </a:solidFill>
              <a:latin typeface="Gill Sans MT" pitchFamily="34" charset="0"/>
            </a:endParaRPr>
          </a:p>
          <a:p>
            <a:pPr marL="747713" lvl="1" indent="-285750">
              <a:lnSpc>
                <a:spcPct val="80000"/>
              </a:lnSpc>
              <a:spcBef>
                <a:spcPct val="1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fiber, copper, radio, satellite</a:t>
            </a:r>
          </a:p>
          <a:p>
            <a:pPr marL="747713" lvl="1" indent="-285750">
              <a:lnSpc>
                <a:spcPct val="80000"/>
              </a:lnSpc>
              <a:spcBef>
                <a:spcPct val="1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transmission rate: </a:t>
            </a: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bandwidth</a:t>
            </a:r>
            <a:endParaRPr lang="en-US">
              <a:solidFill>
                <a:srgbClr val="CC0000"/>
              </a:solidFill>
              <a:latin typeface="Gill Sans MT" pitchFamily="34" charset="0"/>
            </a:endParaRPr>
          </a:p>
        </p:txBody>
      </p:sp>
      <p:sp>
        <p:nvSpPr>
          <p:cNvPr id="4767" name="Rectangle 671"/>
          <p:cNvSpPr>
            <a:spLocks noChangeArrowheads="1"/>
          </p:cNvSpPr>
          <p:nvPr/>
        </p:nvSpPr>
        <p:spPr bwMode="auto">
          <a:xfrm>
            <a:off x="1811338" y="5307013"/>
            <a:ext cx="3779837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Packet switches:</a:t>
            </a:r>
            <a:r>
              <a:rPr lang="en-US">
                <a:latin typeface="Gill Sans MT" pitchFamily="34" charset="0"/>
              </a:rPr>
              <a:t> forward packets (chunks of data)</a:t>
            </a: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§"/>
            </a:pPr>
            <a:r>
              <a:rPr lang="en-US" i="1">
                <a:solidFill>
                  <a:srgbClr val="C00000"/>
                </a:solidFill>
                <a:latin typeface="Gill Sans MT" pitchFamily="34" charset="0"/>
              </a:rPr>
              <a:t>routers</a:t>
            </a:r>
            <a:r>
              <a:rPr lang="en-US">
                <a:latin typeface="Gill Sans MT" pitchFamily="34" charset="0"/>
              </a:rPr>
              <a:t> and </a:t>
            </a:r>
            <a:r>
              <a:rPr lang="en-US" i="1">
                <a:solidFill>
                  <a:srgbClr val="C00000"/>
                </a:solidFill>
                <a:latin typeface="Gill Sans MT" pitchFamily="34" charset="0"/>
              </a:rPr>
              <a:t>switches</a:t>
            </a: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endParaRPr lang="en-US">
              <a:latin typeface="Gill Sans MT" pitchFamily="34" charset="0"/>
            </a:endParaRPr>
          </a:p>
        </p:txBody>
      </p:sp>
      <p:grpSp>
        <p:nvGrpSpPr>
          <p:cNvPr id="2" name="Group 842"/>
          <p:cNvGrpSpPr>
            <a:grpSpLocks/>
          </p:cNvGrpSpPr>
          <p:nvPr/>
        </p:nvGrpSpPr>
        <p:grpSpPr bwMode="auto">
          <a:xfrm>
            <a:off x="338138" y="3454400"/>
            <a:ext cx="1573212" cy="1060450"/>
            <a:chOff x="98" y="2320"/>
            <a:chExt cx="991" cy="668"/>
          </a:xfrm>
        </p:grpSpPr>
        <p:sp>
          <p:nvSpPr>
            <p:cNvPr id="11709" name="Text Box 666"/>
            <p:cNvSpPr txBox="1">
              <a:spLocks noChangeArrowheads="1"/>
            </p:cNvSpPr>
            <p:nvPr/>
          </p:nvSpPr>
          <p:spPr bwMode="auto">
            <a:xfrm>
              <a:off x="564" y="2728"/>
              <a:ext cx="383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400"/>
                <a:t>wired</a:t>
              </a:r>
            </a:p>
            <a:p>
              <a:pPr>
                <a:lnSpc>
                  <a:spcPct val="75000"/>
                </a:lnSpc>
              </a:pPr>
              <a:r>
                <a:rPr lang="en-US" sz="1400"/>
                <a:t>links</a:t>
              </a:r>
            </a:p>
          </p:txBody>
        </p:sp>
        <p:sp>
          <p:nvSpPr>
            <p:cNvPr id="11710" name="Text Box 669"/>
            <p:cNvSpPr txBox="1">
              <a:spLocks noChangeArrowheads="1"/>
            </p:cNvSpPr>
            <p:nvPr/>
          </p:nvSpPr>
          <p:spPr bwMode="auto">
            <a:xfrm>
              <a:off x="569" y="2465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400"/>
                <a:t>wireless</a:t>
              </a:r>
            </a:p>
            <a:p>
              <a:pPr>
                <a:lnSpc>
                  <a:spcPct val="75000"/>
                </a:lnSpc>
              </a:pPr>
              <a:r>
                <a:rPr lang="en-US" sz="1400"/>
                <a:t>links</a:t>
              </a:r>
            </a:p>
          </p:txBody>
        </p:sp>
        <p:grpSp>
          <p:nvGrpSpPr>
            <p:cNvPr id="11711" name="Group 819"/>
            <p:cNvGrpSpPr>
              <a:grpSpLocks/>
            </p:cNvGrpSpPr>
            <p:nvPr/>
          </p:nvGrpSpPr>
          <p:grpSpPr bwMode="auto">
            <a:xfrm>
              <a:off x="385" y="2320"/>
              <a:ext cx="201" cy="282"/>
              <a:chOff x="742" y="2409"/>
              <a:chExt cx="576" cy="881"/>
            </a:xfrm>
          </p:grpSpPr>
          <p:grpSp>
            <p:nvGrpSpPr>
              <p:cNvPr id="11716" name="Group 820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171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0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1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2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3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4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5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6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7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8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9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30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31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32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33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1717" name="Picture 836" descr="cell_tower_radiation copy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718" name="Oval 837"/>
              <p:cNvSpPr>
                <a:spLocks noChangeArrowheads="1"/>
              </p:cNvSpPr>
              <p:nvPr/>
            </p:nvSpPr>
            <p:spPr bwMode="auto">
              <a:xfrm>
                <a:off x="986" y="2596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12" name="Group 838"/>
            <p:cNvGrpSpPr>
              <a:grpSpLocks/>
            </p:cNvGrpSpPr>
            <p:nvPr/>
          </p:nvGrpSpPr>
          <p:grpSpPr bwMode="auto">
            <a:xfrm>
              <a:off x="98" y="2444"/>
              <a:ext cx="355" cy="265"/>
              <a:chOff x="2967" y="478"/>
              <a:chExt cx="788" cy="625"/>
            </a:xfrm>
          </p:grpSpPr>
          <p:pic>
            <p:nvPicPr>
              <p:cNvPr id="11714" name="Picture 839" descr="access_point_stylized_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715" name="Picture 840" descr="antenna_radiation_stylized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713" name="Line 841"/>
            <p:cNvSpPr>
              <a:spLocks noChangeShapeType="1"/>
            </p:cNvSpPr>
            <p:nvPr/>
          </p:nvSpPr>
          <p:spPr bwMode="auto">
            <a:xfrm>
              <a:off x="288" y="283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852"/>
          <p:cNvGrpSpPr>
            <a:grpSpLocks/>
          </p:cNvGrpSpPr>
          <p:nvPr/>
        </p:nvGrpSpPr>
        <p:grpSpPr bwMode="auto">
          <a:xfrm>
            <a:off x="633413" y="5457825"/>
            <a:ext cx="646112" cy="477838"/>
            <a:chOff x="293" y="3440"/>
            <a:chExt cx="407" cy="301"/>
          </a:xfrm>
        </p:grpSpPr>
        <p:sp>
          <p:nvSpPr>
            <p:cNvPr id="11699" name="Text Box 662"/>
            <p:cNvSpPr txBox="1">
              <a:spLocks noChangeArrowheads="1"/>
            </p:cNvSpPr>
            <p:nvPr/>
          </p:nvSpPr>
          <p:spPr bwMode="auto">
            <a:xfrm>
              <a:off x="293" y="3549"/>
              <a:ext cx="4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router</a:t>
              </a:r>
            </a:p>
          </p:txBody>
        </p:sp>
        <p:grpSp>
          <p:nvGrpSpPr>
            <p:cNvPr id="11700" name="Group 843"/>
            <p:cNvGrpSpPr>
              <a:grpSpLocks/>
            </p:cNvGrpSpPr>
            <p:nvPr/>
          </p:nvGrpSpPr>
          <p:grpSpPr bwMode="auto">
            <a:xfrm>
              <a:off x="337" y="3440"/>
              <a:ext cx="306" cy="128"/>
              <a:chOff x="4650" y="1129"/>
              <a:chExt cx="246" cy="95"/>
            </a:xfrm>
          </p:grpSpPr>
          <p:sp>
            <p:nvSpPr>
              <p:cNvPr id="1170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70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70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704" name="Group 847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707" name="Freeform 8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08" name="Freeform 8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705" name="Line 85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6" name="Line 851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11273" name="Picture 853" descr="underline_bas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846138"/>
            <a:ext cx="8228013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74" name="Group 1"/>
          <p:cNvGrpSpPr>
            <a:grpSpLocks/>
          </p:cNvGrpSpPr>
          <p:nvPr/>
        </p:nvGrpSpPr>
        <p:grpSpPr bwMode="auto">
          <a:xfrm>
            <a:off x="5202238" y="1384300"/>
            <a:ext cx="3551237" cy="4743450"/>
            <a:chOff x="5202238" y="1384300"/>
            <a:chExt cx="3551237" cy="4743450"/>
          </a:xfrm>
        </p:grpSpPr>
        <p:sp>
          <p:nvSpPr>
            <p:cNvPr id="11344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47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1697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8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1348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9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2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3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4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5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6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7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8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0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6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7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5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6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77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1695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96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378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1693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94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379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1691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92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380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1689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90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1381" name="Picture 603" descr="car_icon_small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382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1687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688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383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167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8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8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82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85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86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83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4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84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167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7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7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74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77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78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75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6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85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166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6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6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66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69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70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67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8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86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165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5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5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58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61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62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59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0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387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88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164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4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4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50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53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54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51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2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89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163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4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4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42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45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46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43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4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0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163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3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3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34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37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38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35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6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1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162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2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2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26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29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30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27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8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2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161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1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1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18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21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22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19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0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3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160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0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0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10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13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14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11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2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4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159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0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0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02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05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06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03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4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5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159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59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59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594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97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98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595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6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6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1589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590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397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1587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588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398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11569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1572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3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4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5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6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7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8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9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0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1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2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3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4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5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6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1570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571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399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mobile network</a:t>
              </a:r>
            </a:p>
          </p:txBody>
        </p:sp>
        <p:sp>
          <p:nvSpPr>
            <p:cNvPr id="11400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global ISP</a:t>
              </a:r>
            </a:p>
          </p:txBody>
        </p:sp>
        <p:sp>
          <p:nvSpPr>
            <p:cNvPr id="11401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regional ISP</a:t>
              </a:r>
            </a:p>
          </p:txBody>
        </p:sp>
        <p:sp>
          <p:nvSpPr>
            <p:cNvPr id="11402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network</a:t>
              </a:r>
            </a:p>
          </p:txBody>
        </p:sp>
        <p:sp>
          <p:nvSpPr>
            <p:cNvPr id="11403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       network</a:t>
              </a:r>
            </a:p>
          </p:txBody>
        </p:sp>
        <p:grpSp>
          <p:nvGrpSpPr>
            <p:cNvPr id="11404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153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3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4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56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6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4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4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56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6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4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4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4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56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6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4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54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56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6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5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55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6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405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1505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6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07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8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9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10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535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36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11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12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533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34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13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14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15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531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32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16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517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529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30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18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19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0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1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2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3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4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5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6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527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8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406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1482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83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84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485" name="Picture 1020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86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7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8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9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0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1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92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499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0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1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2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3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4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493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4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5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6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7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8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07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1459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60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61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462" name="Picture 1068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63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4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5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6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7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8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69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476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77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78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79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80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81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470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3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4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5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08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1436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37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38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439" name="Picture 1118" descr="screen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40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1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2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3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4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5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46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453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4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5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6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7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8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447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8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9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0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1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2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09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1434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35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410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1411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12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13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414" name="Picture 1146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15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6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7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8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9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0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21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428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29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30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31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32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33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422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3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4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5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6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7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439" name="Group 1201"/>
          <p:cNvGrpSpPr>
            <a:grpSpLocks/>
          </p:cNvGrpSpPr>
          <p:nvPr/>
        </p:nvGrpSpPr>
        <p:grpSpPr bwMode="auto">
          <a:xfrm>
            <a:off x="333375" y="1322388"/>
            <a:ext cx="1555750" cy="1622425"/>
            <a:chOff x="210" y="833"/>
            <a:chExt cx="980" cy="1022"/>
          </a:xfrm>
        </p:grpSpPr>
        <p:sp>
          <p:nvSpPr>
            <p:cNvPr id="11277" name="Text Box 667"/>
            <p:cNvSpPr txBox="1">
              <a:spLocks noChangeArrowheads="1"/>
            </p:cNvSpPr>
            <p:nvPr/>
          </p:nvSpPr>
          <p:spPr bwMode="auto">
            <a:xfrm>
              <a:off x="479" y="1667"/>
              <a:ext cx="71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400"/>
                <a:t>smartphone</a:t>
              </a:r>
            </a:p>
          </p:txBody>
        </p:sp>
        <p:sp>
          <p:nvSpPr>
            <p:cNvPr id="11278" name="Text Box 663"/>
            <p:cNvSpPr txBox="1">
              <a:spLocks noChangeArrowheads="1"/>
            </p:cNvSpPr>
            <p:nvPr/>
          </p:nvSpPr>
          <p:spPr bwMode="auto">
            <a:xfrm>
              <a:off x="487" y="872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PC</a:t>
              </a:r>
            </a:p>
          </p:txBody>
        </p:sp>
        <p:sp>
          <p:nvSpPr>
            <p:cNvPr id="11279" name="Text Box 664"/>
            <p:cNvSpPr txBox="1">
              <a:spLocks noChangeArrowheads="1"/>
            </p:cNvSpPr>
            <p:nvPr/>
          </p:nvSpPr>
          <p:spPr bwMode="auto">
            <a:xfrm>
              <a:off x="488" y="1096"/>
              <a:ext cx="42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server</a:t>
              </a:r>
            </a:p>
          </p:txBody>
        </p:sp>
        <p:sp>
          <p:nvSpPr>
            <p:cNvPr id="11280" name="Text Box 665"/>
            <p:cNvSpPr txBox="1">
              <a:spLocks noChangeArrowheads="1"/>
            </p:cNvSpPr>
            <p:nvPr/>
          </p:nvSpPr>
          <p:spPr bwMode="auto">
            <a:xfrm>
              <a:off x="493" y="1390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400"/>
                <a:t>wireless</a:t>
              </a:r>
            </a:p>
            <a:p>
              <a:pPr>
                <a:lnSpc>
                  <a:spcPct val="75000"/>
                </a:lnSpc>
              </a:pPr>
              <a:r>
                <a:rPr lang="en-US" sz="1400"/>
                <a:t>laptop</a:t>
              </a:r>
            </a:p>
          </p:txBody>
        </p:sp>
        <p:grpSp>
          <p:nvGrpSpPr>
            <p:cNvPr id="11281" name="Group 805"/>
            <p:cNvGrpSpPr>
              <a:grpSpLocks/>
            </p:cNvGrpSpPr>
            <p:nvPr/>
          </p:nvGrpSpPr>
          <p:grpSpPr bwMode="auto">
            <a:xfrm flipH="1">
              <a:off x="244" y="833"/>
              <a:ext cx="261" cy="235"/>
              <a:chOff x="2839" y="3501"/>
              <a:chExt cx="755" cy="803"/>
            </a:xfrm>
          </p:grpSpPr>
          <p:pic>
            <p:nvPicPr>
              <p:cNvPr id="11342" name="Picture 80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43" name="Freeform 807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282" name="Group 808"/>
            <p:cNvGrpSpPr>
              <a:grpSpLocks/>
            </p:cNvGrpSpPr>
            <p:nvPr/>
          </p:nvGrpSpPr>
          <p:grpSpPr bwMode="auto">
            <a:xfrm>
              <a:off x="298" y="1682"/>
              <a:ext cx="234" cy="173"/>
              <a:chOff x="2751" y="1851"/>
              <a:chExt cx="462" cy="478"/>
            </a:xfrm>
          </p:grpSpPr>
          <p:pic>
            <p:nvPicPr>
              <p:cNvPr id="11340" name="Picture 809" descr="iphone_stylized_small"/>
              <p:cNvPicPr>
                <a:picLocks noChangeAspect="1" noChangeArrowheads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341" name="Picture 810" descr="antenna_radiation_stylized"/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283" name="Group 1088"/>
            <p:cNvGrpSpPr>
              <a:grpSpLocks/>
            </p:cNvGrpSpPr>
            <p:nvPr/>
          </p:nvGrpSpPr>
          <p:grpSpPr bwMode="auto">
            <a:xfrm>
              <a:off x="210" y="1368"/>
              <a:ext cx="301" cy="236"/>
              <a:chOff x="877" y="1008"/>
              <a:chExt cx="2747" cy="2591"/>
            </a:xfrm>
          </p:grpSpPr>
          <p:pic>
            <p:nvPicPr>
              <p:cNvPr id="11317" name="Picture 1089" descr="antenna_stylized"/>
              <p:cNvPicPr>
                <a:picLocks noChangeAspect="1" noChangeArrowheads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318" name="Picture 1090" descr="laptop_keyboard"/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19" name="Freeform 1091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320" name="Picture 1092" descr="screen"/>
              <p:cNvPicPr>
                <a:picLocks noChangeAspect="1" noChangeArrowheads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21" name="Freeform 1093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2" name="Freeform 1094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3" name="Freeform 1095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4" name="Freeform 1096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5" name="Freeform 1097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6" name="Freeform 1098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327" name="Group 1099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334" name="Freeform 1100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5" name="Freeform 1101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6" name="Freeform 1102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7" name="Freeform 1103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8" name="Freeform 1104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9" name="Freeform 1105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328" name="Freeform 1106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9" name="Freeform 1107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0" name="Freeform 1108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1" name="Freeform 1109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2" name="Freeform 1110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3" name="Freeform 1111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4" name="Group 1168"/>
            <p:cNvGrpSpPr>
              <a:grpSpLocks/>
            </p:cNvGrpSpPr>
            <p:nvPr/>
          </p:nvGrpSpPr>
          <p:grpSpPr bwMode="auto">
            <a:xfrm>
              <a:off x="340" y="1097"/>
              <a:ext cx="157" cy="256"/>
              <a:chOff x="4140" y="429"/>
              <a:chExt cx="1425" cy="2396"/>
            </a:xfrm>
          </p:grpSpPr>
          <p:sp>
            <p:nvSpPr>
              <p:cNvPr id="11285" name="Freeform 1169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6" name="Rectangle 1170"/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7" name="Freeform 1171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8" name="Freeform 1172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9" name="Rectangle 1173"/>
              <p:cNvSpPr>
                <a:spLocks noChangeArrowheads="1"/>
              </p:cNvSpPr>
              <p:nvPr/>
            </p:nvSpPr>
            <p:spPr bwMode="auto">
              <a:xfrm>
                <a:off x="4213" y="691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290" name="Group 1174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315" name="AutoShape 1175"/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25" cy="1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6" name="AutoShape 1176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691" cy="9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291" name="Rectangle 1177"/>
              <p:cNvSpPr>
                <a:spLocks noChangeArrowheads="1"/>
              </p:cNvSpPr>
              <p:nvPr/>
            </p:nvSpPr>
            <p:spPr bwMode="auto">
              <a:xfrm>
                <a:off x="4222" y="1019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292" name="Group 1178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313" name="AutoShape 1179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5" cy="1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4" name="AutoShape 1180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691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293" name="Rectangle 1181"/>
              <p:cNvSpPr>
                <a:spLocks noChangeArrowheads="1"/>
              </p:cNvSpPr>
              <p:nvPr/>
            </p:nvSpPr>
            <p:spPr bwMode="auto">
              <a:xfrm>
                <a:off x="4213" y="1356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94" name="Rectangle 1182"/>
              <p:cNvSpPr>
                <a:spLocks noChangeArrowheads="1"/>
              </p:cNvSpPr>
              <p:nvPr/>
            </p:nvSpPr>
            <p:spPr bwMode="auto">
              <a:xfrm>
                <a:off x="4231" y="1655"/>
                <a:ext cx="590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295" name="Group 1183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311" name="AutoShape 1184"/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4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2" name="AutoShape 1185"/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296" name="Freeform 1186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97" name="Group 1187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309" name="AutoShape 1188"/>
                <p:cNvSpPr>
                  <a:spLocks noChangeArrowheads="1"/>
                </p:cNvSpPr>
                <p:nvPr/>
              </p:nvSpPr>
              <p:spPr bwMode="auto">
                <a:xfrm>
                  <a:off x="614" y="2569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0" name="AutoShape 1189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298" name="Rectangle 1190"/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3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99" name="Freeform 1191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0" name="Freeform 1192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1" name="Oval 1193"/>
              <p:cNvSpPr>
                <a:spLocks noChangeArrowheads="1"/>
              </p:cNvSpPr>
              <p:nvPr/>
            </p:nvSpPr>
            <p:spPr bwMode="auto">
              <a:xfrm>
                <a:off x="5520" y="2610"/>
                <a:ext cx="45" cy="94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2" name="Freeform 1194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3" name="AutoShape 1195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8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4" name="AutoShape 1196"/>
              <p:cNvSpPr>
                <a:spLocks noChangeArrowheads="1"/>
              </p:cNvSpPr>
              <p:nvPr/>
            </p:nvSpPr>
            <p:spPr bwMode="auto">
              <a:xfrm>
                <a:off x="4204" y="2713"/>
                <a:ext cx="1071" cy="8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5" name="Oval 1197"/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6" name="Oval 1198"/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3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307" name="Oval 1199"/>
              <p:cNvSpPr>
                <a:spLocks noChangeArrowheads="1"/>
              </p:cNvSpPr>
              <p:nvPr/>
            </p:nvSpPr>
            <p:spPr bwMode="auto">
              <a:xfrm>
                <a:off x="4666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8" name="Rectangle 1200"/>
              <p:cNvSpPr>
                <a:spLocks noChangeArrowheads="1"/>
              </p:cNvSpPr>
              <p:nvPr/>
            </p:nvSpPr>
            <p:spPr bwMode="auto">
              <a:xfrm>
                <a:off x="5066" y="1833"/>
                <a:ext cx="82" cy="76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12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33A34AFF-D4AF-4661-A4E8-95B18D631845}" type="slidenum">
              <a:rPr lang="en-US" sz="1200" smtClean="0">
                <a:latin typeface="Tahoma" pitchFamily="34" charset="0"/>
              </a:rPr>
              <a:pPr/>
              <a:t>4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766" grpId="0"/>
      <p:bldP spid="47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12291" name="Picture 19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96202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20663"/>
            <a:ext cx="7772400" cy="1006475"/>
          </a:xfrm>
        </p:spPr>
        <p:txBody>
          <a:bodyPr/>
          <a:lstStyle/>
          <a:p>
            <a:pPr eaLnBrk="1" hangingPunct="1"/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Fun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internet appliances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12293" name="Picture 3" descr="toast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0" y="1460500"/>
            <a:ext cx="249555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4" descr="whis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1425575"/>
            <a:ext cx="1895475" cy="156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895350" y="2789238"/>
            <a:ext cx="21621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IP picture frame</a:t>
            </a:r>
          </a:p>
          <a:p>
            <a:r>
              <a:rPr lang="en-US" sz="1600"/>
              <a:t>http://www.ceiva.com/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5626100" y="1989138"/>
            <a:ext cx="22463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Web-enabled toaster +</a:t>
            </a:r>
          </a:p>
          <a:p>
            <a:r>
              <a:rPr lang="en-US" sz="1600"/>
              <a:t>weather forecaster</a:t>
            </a:r>
          </a:p>
        </p:txBody>
      </p:sp>
      <p:pic>
        <p:nvPicPr>
          <p:cNvPr id="12297" name="Picture 9" descr="cisc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50" y="4387850"/>
            <a:ext cx="2395538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5911850" y="6016625"/>
            <a:ext cx="159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Internet phones</a:t>
            </a:r>
          </a:p>
        </p:txBody>
      </p:sp>
      <p:graphicFrame>
        <p:nvGraphicFramePr>
          <p:cNvPr id="12299" name="Object 14"/>
          <p:cNvGraphicFramePr>
            <a:graphicFrameLocks noChangeAspect="1"/>
          </p:cNvGraphicFramePr>
          <p:nvPr/>
        </p:nvGraphicFramePr>
        <p:xfrm>
          <a:off x="919163" y="3581400"/>
          <a:ext cx="803275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r:id="rId8" imgW="1434415" imgH="3873016" progId="">
                  <p:embed/>
                </p:oleObj>
              </mc:Choice>
              <mc:Fallback>
                <p:oleObj r:id="rId8" imgW="1434415" imgH="3873016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3581400"/>
                        <a:ext cx="803275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Text Box 8"/>
          <p:cNvSpPr txBox="1">
            <a:spLocks noChangeArrowheads="1"/>
          </p:cNvSpPr>
          <p:nvPr/>
        </p:nvSpPr>
        <p:spPr bwMode="auto">
          <a:xfrm>
            <a:off x="981075" y="5789613"/>
            <a:ext cx="11795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Internet </a:t>
            </a:r>
          </a:p>
          <a:p>
            <a:r>
              <a:rPr lang="en-US" sz="1600"/>
              <a:t>refrigerator</a:t>
            </a:r>
          </a:p>
        </p:txBody>
      </p:sp>
      <p:pic>
        <p:nvPicPr>
          <p:cNvPr id="12301" name="Picture 1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4584700"/>
            <a:ext cx="15525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2" name="Text Box 8"/>
          <p:cNvSpPr txBox="1">
            <a:spLocks noChangeArrowheads="1"/>
          </p:cNvSpPr>
          <p:nvPr/>
        </p:nvSpPr>
        <p:spPr bwMode="auto">
          <a:xfrm>
            <a:off x="2824163" y="5202238"/>
            <a:ext cx="24876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Slingbox: watch,</a:t>
            </a:r>
          </a:p>
          <a:p>
            <a:r>
              <a:rPr lang="en-US" sz="1600"/>
              <a:t>control cable TV remotely</a:t>
            </a:r>
          </a:p>
        </p:txBody>
      </p:sp>
      <p:sp>
        <p:nvSpPr>
          <p:cNvPr id="123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1D321817-58E4-4723-AFFA-71DF239C80E9}" type="slidenum">
              <a:rPr lang="en-US" sz="1200" smtClean="0">
                <a:latin typeface="Tahoma" pitchFamily="34" charset="0"/>
              </a:rPr>
              <a:pPr/>
              <a:t>5</a:t>
            </a:fld>
            <a:endParaRPr lang="en-US" sz="1200" smtClean="0">
              <a:latin typeface="Tahoma" pitchFamily="34" charset="0"/>
            </a:endParaRPr>
          </a:p>
        </p:txBody>
      </p:sp>
      <p:pic>
        <p:nvPicPr>
          <p:cNvPr id="12304" name="Picture 2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338" y="2754313"/>
            <a:ext cx="69532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5" name="Text Box 10"/>
          <p:cNvSpPr txBox="1">
            <a:spLocks noChangeArrowheads="1"/>
          </p:cNvSpPr>
          <p:nvPr/>
        </p:nvSpPr>
        <p:spPr bwMode="auto">
          <a:xfrm>
            <a:off x="6753225" y="3841750"/>
            <a:ext cx="1941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Tweet-a-watt: </a:t>
            </a:r>
          </a:p>
          <a:p>
            <a:r>
              <a:rPr lang="en-US" sz="1600"/>
              <a:t>monitor energy 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6088" y="1516063"/>
            <a:ext cx="4768850" cy="44577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Internet: </a:t>
            </a:r>
            <a:r>
              <a:rPr lang="ja-JP" altLang="en-US" sz="2400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sz="2400" smtClean="0">
                <a:solidFill>
                  <a:srgbClr val="CC0000"/>
                </a:solidFill>
                <a:ea typeface="ＭＳ Ｐゴシック" pitchFamily="34" charset="-128"/>
              </a:rPr>
              <a:t>network of networks</a:t>
            </a:r>
            <a:r>
              <a:rPr lang="ja-JP" altLang="en-US" sz="2400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endParaRPr lang="en-US" altLang="ja-JP" sz="2400" smtClean="0">
              <a:solidFill>
                <a:srgbClr val="CC0000"/>
              </a:solidFill>
              <a:ea typeface="ＭＳ Ｐゴシック" pitchFamily="34" charset="-128"/>
            </a:endParaRPr>
          </a:p>
          <a:p>
            <a:pPr lvl="1" eaLnBrk="1" hangingPunct="1"/>
            <a:r>
              <a:rPr lang="en-US" sz="2000" smtClean="0"/>
              <a:t>Interconnected ISPs</a:t>
            </a:r>
          </a:p>
          <a:p>
            <a:pPr eaLnBrk="1" hangingPunct="1"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protocols</a:t>
            </a:r>
            <a:r>
              <a:rPr lang="en-US" sz="2400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z="2400" smtClean="0">
                <a:ea typeface="ＭＳ Ｐゴシック" pitchFamily="34" charset="-128"/>
              </a:rPr>
              <a:t>control sending, receiving of msgs</a:t>
            </a:r>
          </a:p>
          <a:p>
            <a:pPr lvl="1" eaLnBrk="1" hangingPunct="1"/>
            <a:r>
              <a:rPr lang="en-US" sz="2000" smtClean="0"/>
              <a:t>e.g., TCP, IP, HTTP, Skype,  802.11</a:t>
            </a:r>
            <a:endParaRPr lang="en-US" smtClean="0"/>
          </a:p>
          <a:p>
            <a:pPr eaLnBrk="1" hangingPunct="1">
              <a:buSzPct val="75000"/>
            </a:pPr>
            <a:r>
              <a:rPr lang="en-US" sz="2400" i="1" smtClean="0">
                <a:solidFill>
                  <a:srgbClr val="C00000"/>
                </a:solidFill>
                <a:ea typeface="ＭＳ Ｐゴシック" pitchFamily="34" charset="-128"/>
              </a:rPr>
              <a:t>Internet  standards</a:t>
            </a:r>
          </a:p>
          <a:p>
            <a:pPr lvl="1" eaLnBrk="1" hangingPunct="1"/>
            <a:r>
              <a:rPr lang="en-US" sz="2000" smtClean="0"/>
              <a:t>RFC: Request for comments</a:t>
            </a:r>
          </a:p>
          <a:p>
            <a:pPr lvl="1" eaLnBrk="1" hangingPunct="1"/>
            <a:r>
              <a:rPr lang="en-US" sz="2000" smtClean="0"/>
              <a:t>IETF: Internet Engineering Task Force</a:t>
            </a:r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212725" y="190500"/>
            <a:ext cx="8382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What</a:t>
            </a:r>
            <a:r>
              <a:rPr lang="ja-JP" altLang="en-US" sz="3600">
                <a:solidFill>
                  <a:srgbClr val="000099"/>
                </a:solidFill>
                <a:latin typeface="Gill Sans MT" pitchFamily="34" charset="0"/>
              </a:rPr>
              <a:t>’</a:t>
            </a:r>
            <a:r>
              <a:rPr lang="en-US" altLang="ja-JP" sz="3600">
                <a:solidFill>
                  <a:srgbClr val="000099"/>
                </a:solidFill>
                <a:latin typeface="Gill Sans MT" pitchFamily="34" charset="0"/>
              </a:rPr>
              <a:t>s the Internet: </a:t>
            </a:r>
            <a:r>
              <a:rPr lang="ja-JP" altLang="en-US" sz="3600">
                <a:solidFill>
                  <a:srgbClr val="000099"/>
                </a:solidFill>
                <a:latin typeface="Gill Sans MT" pitchFamily="34" charset="0"/>
              </a:rPr>
              <a:t>“</a:t>
            </a:r>
            <a:r>
              <a:rPr lang="en-US" altLang="ja-JP" sz="3600">
                <a:solidFill>
                  <a:srgbClr val="000099"/>
                </a:solidFill>
                <a:latin typeface="Gill Sans MT" pitchFamily="34" charset="0"/>
              </a:rPr>
              <a:t>nuts and bolts</a:t>
            </a:r>
            <a:r>
              <a:rPr lang="ja-JP" altLang="en-US" sz="3600">
                <a:solidFill>
                  <a:srgbClr val="000099"/>
                </a:solidFill>
                <a:latin typeface="Gill Sans MT" pitchFamily="34" charset="0"/>
              </a:rPr>
              <a:t>”</a:t>
            </a:r>
            <a:r>
              <a:rPr lang="en-US" altLang="ja-JP" sz="3600">
                <a:solidFill>
                  <a:srgbClr val="000099"/>
                </a:solidFill>
                <a:latin typeface="Gill Sans MT" pitchFamily="34" charset="0"/>
              </a:rPr>
              <a:t> view</a:t>
            </a:r>
            <a:endParaRPr lang="en-US" sz="4400">
              <a:solidFill>
                <a:srgbClr val="000099"/>
              </a:solidFill>
              <a:latin typeface="Gill Sans MT" pitchFamily="34" charset="0"/>
            </a:endParaRPr>
          </a:p>
        </p:txBody>
      </p:sp>
      <p:pic>
        <p:nvPicPr>
          <p:cNvPr id="13317" name="Picture 330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846138"/>
            <a:ext cx="8228013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18" name="Group 366"/>
          <p:cNvGrpSpPr>
            <a:grpSpLocks/>
          </p:cNvGrpSpPr>
          <p:nvPr/>
        </p:nvGrpSpPr>
        <p:grpSpPr bwMode="auto">
          <a:xfrm>
            <a:off x="5202238" y="1384300"/>
            <a:ext cx="3551237" cy="4743450"/>
            <a:chOff x="5202238" y="1384300"/>
            <a:chExt cx="3551237" cy="4743450"/>
          </a:xfrm>
        </p:grpSpPr>
        <p:sp>
          <p:nvSpPr>
            <p:cNvPr id="13320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1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323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3673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74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3324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3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4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9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0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353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3671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72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3354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3669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70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3355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3667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68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3356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3665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66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3357" name="Picture 603" descr="car_icon_small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358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3663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664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359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365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5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5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58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61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62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59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0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0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364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4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4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50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53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54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51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52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1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363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4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4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42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45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46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43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44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2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363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3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3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34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37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38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35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36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363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364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362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2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2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26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29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30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27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8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5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361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1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1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18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21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22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19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0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6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360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0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0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10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13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14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11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2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7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359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0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0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02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05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06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03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4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8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359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9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9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594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597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98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595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96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9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358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8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8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586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589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90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587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8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70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357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7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7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578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581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82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579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0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71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356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6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6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570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573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74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571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72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72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3565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566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373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3563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564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374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13545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3548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49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0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1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2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3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4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5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6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7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8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9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60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61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62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3546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547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375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mobile network</a:t>
              </a:r>
            </a:p>
          </p:txBody>
        </p:sp>
        <p:sp>
          <p:nvSpPr>
            <p:cNvPr id="13376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global ISP</a:t>
              </a:r>
            </a:p>
          </p:txBody>
        </p:sp>
        <p:sp>
          <p:nvSpPr>
            <p:cNvPr id="13377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regional ISP</a:t>
              </a:r>
            </a:p>
          </p:txBody>
        </p:sp>
        <p:sp>
          <p:nvSpPr>
            <p:cNvPr id="13378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network</a:t>
              </a:r>
            </a:p>
          </p:txBody>
        </p:sp>
        <p:sp>
          <p:nvSpPr>
            <p:cNvPr id="13379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       network</a:t>
              </a:r>
            </a:p>
          </p:txBody>
        </p:sp>
        <p:grpSp>
          <p:nvGrpSpPr>
            <p:cNvPr id="13380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3513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4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15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6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7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518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3543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44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519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520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541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42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521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22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523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539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40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524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525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537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38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526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27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8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9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0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31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2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3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4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535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6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81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3481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2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83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4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5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486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3511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12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487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488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509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10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489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90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491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507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08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492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93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505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06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494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95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6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7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98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9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00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01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02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503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04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82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3458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459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60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3461" name="Picture 1020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62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3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4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5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6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7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68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475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76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77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78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79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80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469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0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1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2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3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4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83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3435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436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37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3438" name="Picture 1068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39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0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1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2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3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4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45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452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3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4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5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6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7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446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7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8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9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0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1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84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3412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413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14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3415" name="Picture 1118" descr="screen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16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7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8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9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0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1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22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429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0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1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2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3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4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423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4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5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6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7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8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85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3410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11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3386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3387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88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389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3390" name="Picture 1146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391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2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3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4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5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6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397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404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5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6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7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8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9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398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9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0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1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2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3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33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739EC20C-7A70-465E-AFE5-6D295FEACC56}" type="slidenum">
              <a:rPr lang="en-US" sz="1200" smtClean="0">
                <a:latin typeface="Tahoma" pitchFamily="34" charset="0"/>
              </a:rPr>
              <a:pPr/>
              <a:t>6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69863"/>
            <a:ext cx="8382000" cy="846137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What</a:t>
            </a:r>
            <a:r>
              <a:rPr lang="ja-JP" altLang="en-US" sz="3600" smtClean="0">
                <a:ea typeface="ＭＳ Ｐゴシック" pitchFamily="34" charset="-128"/>
              </a:rPr>
              <a:t>’</a:t>
            </a:r>
            <a:r>
              <a:rPr lang="en-US" altLang="ja-JP" sz="3600" smtClean="0">
                <a:ea typeface="ＭＳ Ｐゴシック" pitchFamily="34" charset="-128"/>
              </a:rPr>
              <a:t>s the Internet: a service view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74650" y="1655763"/>
            <a:ext cx="4435475" cy="41052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Infrastructure that provides services to applications:</a:t>
            </a:r>
            <a:endParaRPr lang="en-US" sz="2400" smtClean="0">
              <a:ea typeface="ＭＳ Ｐゴシック" pitchFamily="34" charset="-128"/>
            </a:endParaRPr>
          </a:p>
          <a:p>
            <a:pPr lvl="1" eaLnBrk="1" hangingPunct="1"/>
            <a:r>
              <a:rPr lang="en-US" smtClean="0"/>
              <a:t>Web, VoIP, email, games, e-commerce, social nets, …</a:t>
            </a:r>
          </a:p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provides programming interface to apps</a:t>
            </a:r>
          </a:p>
          <a:p>
            <a:pPr lvl="1" eaLnBrk="1" hangingPunct="1"/>
            <a:r>
              <a:rPr lang="en-US" smtClean="0"/>
              <a:t>hooks that allow sending and receiving  app programs to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connect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to Internet</a:t>
            </a:r>
          </a:p>
          <a:p>
            <a:pPr lvl="1" eaLnBrk="1" hangingPunct="1"/>
            <a:r>
              <a:rPr lang="en-US" smtClean="0"/>
              <a:t>provides service options, analogous to postal service</a:t>
            </a:r>
          </a:p>
        </p:txBody>
      </p:sp>
      <p:pic>
        <p:nvPicPr>
          <p:cNvPr id="14340" name="Picture 64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782638"/>
            <a:ext cx="6548437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41" name="Group 725"/>
          <p:cNvGrpSpPr>
            <a:grpSpLocks/>
          </p:cNvGrpSpPr>
          <p:nvPr/>
        </p:nvGrpSpPr>
        <p:grpSpPr bwMode="auto">
          <a:xfrm>
            <a:off x="5167313" y="1395413"/>
            <a:ext cx="3551237" cy="4743450"/>
            <a:chOff x="5202238" y="1384300"/>
            <a:chExt cx="3551237" cy="4743450"/>
          </a:xfrm>
        </p:grpSpPr>
        <p:sp>
          <p:nvSpPr>
            <p:cNvPr id="14344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347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4697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98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4348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Line 428"/>
            <p:cNvSpPr>
              <a:spLocks noChangeShapeType="1"/>
            </p:cNvSpPr>
            <p:nvPr/>
          </p:nvSpPr>
          <p:spPr bwMode="auto">
            <a:xfrm rot="-5400000">
              <a:off x="7845425" y="5159375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6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2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7" name="Line 430"/>
            <p:cNvSpPr>
              <a:spLocks noChangeShapeType="1"/>
            </p:cNvSpPr>
            <p:nvPr/>
          </p:nvSpPr>
          <p:spPr bwMode="auto">
            <a:xfrm rot="-5400000">
              <a:off x="8177213" y="5116512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8" name="Line 431"/>
            <p:cNvSpPr>
              <a:spLocks noChangeShapeType="1"/>
            </p:cNvSpPr>
            <p:nvPr/>
          </p:nvSpPr>
          <p:spPr bwMode="auto">
            <a:xfrm>
              <a:off x="7358063" y="4697412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Line 432"/>
            <p:cNvSpPr>
              <a:spLocks noChangeShapeType="1"/>
            </p:cNvSpPr>
            <p:nvPr/>
          </p:nvSpPr>
          <p:spPr bwMode="auto">
            <a:xfrm flipV="1">
              <a:off x="6737350" y="4684712"/>
              <a:ext cx="322263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Line 433"/>
            <p:cNvSpPr>
              <a:spLocks noChangeShapeType="1"/>
            </p:cNvSpPr>
            <p:nvPr/>
          </p:nvSpPr>
          <p:spPr bwMode="auto">
            <a:xfrm flipV="1">
              <a:off x="6780213" y="4976812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Line 435"/>
            <p:cNvSpPr>
              <a:spLocks noChangeShapeType="1"/>
            </p:cNvSpPr>
            <p:nvPr/>
          </p:nvSpPr>
          <p:spPr bwMode="auto">
            <a:xfrm>
              <a:off x="6100763" y="4773612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Line 436"/>
            <p:cNvSpPr>
              <a:spLocks noChangeShapeType="1"/>
            </p:cNvSpPr>
            <p:nvPr/>
          </p:nvSpPr>
          <p:spPr bwMode="auto">
            <a:xfrm flipV="1">
              <a:off x="5842000" y="4983162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Line 440"/>
            <p:cNvSpPr>
              <a:spLocks noChangeShapeType="1"/>
            </p:cNvSpPr>
            <p:nvPr/>
          </p:nvSpPr>
          <p:spPr bwMode="auto">
            <a:xfrm flipH="1" flipV="1">
              <a:off x="6588125" y="5097462"/>
              <a:ext cx="74613" cy="173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Line 441"/>
            <p:cNvSpPr>
              <a:spLocks noChangeShapeType="1"/>
            </p:cNvSpPr>
            <p:nvPr/>
          </p:nvSpPr>
          <p:spPr bwMode="auto">
            <a:xfrm>
              <a:off x="6743700" y="5053012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Line 443"/>
            <p:cNvSpPr>
              <a:spLocks noChangeShapeType="1"/>
            </p:cNvSpPr>
            <p:nvPr/>
          </p:nvSpPr>
          <p:spPr bwMode="auto">
            <a:xfrm>
              <a:off x="6281738" y="3522662"/>
              <a:ext cx="0" cy="131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Line 445"/>
            <p:cNvSpPr>
              <a:spLocks noChangeShapeType="1"/>
            </p:cNvSpPr>
            <p:nvPr/>
          </p:nvSpPr>
          <p:spPr bwMode="auto">
            <a:xfrm>
              <a:off x="7405688" y="2665412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Line 447"/>
            <p:cNvSpPr>
              <a:spLocks noChangeShapeType="1"/>
            </p:cNvSpPr>
            <p:nvPr/>
          </p:nvSpPr>
          <p:spPr bwMode="auto">
            <a:xfrm>
              <a:off x="7942263" y="2560637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Line 541"/>
            <p:cNvSpPr>
              <a:spLocks noChangeShapeType="1"/>
            </p:cNvSpPr>
            <p:nvPr/>
          </p:nvSpPr>
          <p:spPr bwMode="auto">
            <a:xfrm flipV="1">
              <a:off x="7272338" y="4075112"/>
              <a:ext cx="227012" cy="436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377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4695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96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4378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4693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94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4379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4691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92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4380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4689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90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4381" name="Picture 603" descr="car_icon_small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382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4687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688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383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467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8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8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82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85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86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83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4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84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467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7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7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74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77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78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75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6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85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466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6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6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66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69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70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67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8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86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465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5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5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58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61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62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59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0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7" name="Line 693"/>
            <p:cNvSpPr>
              <a:spLocks noChangeShapeType="1"/>
            </p:cNvSpPr>
            <p:nvPr/>
          </p:nvSpPr>
          <p:spPr bwMode="auto">
            <a:xfrm>
              <a:off x="8345488" y="2855912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388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464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4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4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50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53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54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51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2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89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463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4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4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42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45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46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43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4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0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463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3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3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34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37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38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35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6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1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462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2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2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26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29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30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27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8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2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461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1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1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18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21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22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19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0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3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460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0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0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10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13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14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11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2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4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459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0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0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02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05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06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03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4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5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459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59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59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594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597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98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595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6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6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4589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590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397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4587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588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398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14569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4572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3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4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5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6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7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8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9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0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1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2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3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4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5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6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4570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571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399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mobile network</a:t>
              </a:r>
            </a:p>
          </p:txBody>
        </p:sp>
        <p:sp>
          <p:nvSpPr>
            <p:cNvPr id="14400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global ISP</a:t>
              </a:r>
            </a:p>
          </p:txBody>
        </p:sp>
        <p:sp>
          <p:nvSpPr>
            <p:cNvPr id="14401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regional ISP</a:t>
              </a:r>
            </a:p>
          </p:txBody>
        </p:sp>
        <p:sp>
          <p:nvSpPr>
            <p:cNvPr id="14402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network</a:t>
              </a:r>
            </a:p>
          </p:txBody>
        </p:sp>
        <p:sp>
          <p:nvSpPr>
            <p:cNvPr id="14403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       network</a:t>
              </a:r>
            </a:p>
          </p:txBody>
        </p:sp>
        <p:grpSp>
          <p:nvGrpSpPr>
            <p:cNvPr id="14404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453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3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4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56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6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4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4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56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6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4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4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56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6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4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54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56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6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5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455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6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405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4505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6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07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8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9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10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535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36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11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12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533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34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13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14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15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531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32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16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517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529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30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18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19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0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1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2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3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4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5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6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4527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8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406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4482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83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84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485" name="Picture 1020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86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7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8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9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0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1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492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499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0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1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2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3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4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493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4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5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6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7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8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07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4459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60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61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462" name="Picture 1068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63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4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5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6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7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8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469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476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77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78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79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80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81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470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1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2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08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4436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37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38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439" name="Picture 1118" descr="screen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40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1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2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3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4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5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446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453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4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5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6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7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8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447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8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9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0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1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2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09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4434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35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4410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4411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12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13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414" name="Picture 1146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15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6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7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8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9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0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421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428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29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30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31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32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33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422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3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4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5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6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7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434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43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11B6237E-2F6A-4FB4-BE2D-BC132E29DAD0}" type="slidenum">
              <a:rPr lang="en-US" sz="1200" smtClean="0">
                <a:latin typeface="Tahoma" pitchFamily="34" charset="0"/>
              </a:rPr>
              <a:pPr/>
              <a:t>7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15363" name="Picture 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7363" y="206375"/>
            <a:ext cx="5657850" cy="868363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What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a protocol?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6100" y="1371600"/>
            <a:ext cx="35814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human protocols:</a:t>
            </a:r>
          </a:p>
          <a:p>
            <a:pPr eaLnBrk="1" hangingPunct="1">
              <a:buSzPct val="75000"/>
            </a:pP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what</a:t>
            </a:r>
            <a:r>
              <a:rPr lang="ja-JP" altLang="en-US" sz="2400" smtClean="0">
                <a:ea typeface="ＭＳ Ｐゴシック" pitchFamily="34" charset="-128"/>
              </a:rPr>
              <a:t>’</a:t>
            </a:r>
            <a:r>
              <a:rPr lang="en-US" altLang="ja-JP" sz="2400" smtClean="0">
                <a:ea typeface="ＭＳ Ｐゴシック" pitchFamily="34" charset="-128"/>
              </a:rPr>
              <a:t>s the time?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endParaRPr lang="en-US" altLang="ja-JP" sz="2400" smtClean="0"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I have a question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endParaRPr lang="en-US" altLang="ja-JP" sz="2400" smtClean="0"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introductions</a:t>
            </a:r>
            <a:endParaRPr lang="en-US" smtClean="0">
              <a:ea typeface="ＭＳ Ｐゴシック" pitchFamily="34" charset="-128"/>
            </a:endParaRPr>
          </a:p>
          <a:p>
            <a:pPr lvl="1" eaLnBrk="1" hangingPunct="1"/>
            <a:endParaRPr lang="en-US" sz="2000" smtClean="0"/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ea typeface="ＭＳ Ｐゴシック" pitchFamily="34" charset="-128"/>
              </a:rPr>
              <a:t>… specific msgs sent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ea typeface="ＭＳ Ｐゴシック" pitchFamily="34" charset="-128"/>
              </a:rPr>
              <a:t>… specific actions taken when msgs received, or other events</a:t>
            </a:r>
          </a:p>
        </p:txBody>
      </p:sp>
      <p:sp>
        <p:nvSpPr>
          <p:cNvPr id="1536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95800" y="1371600"/>
            <a:ext cx="3810000" cy="2590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network protocols: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machines rather than humans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all communication activity in Internet governed by protocols</a:t>
            </a:r>
          </a:p>
        </p:txBody>
      </p:sp>
      <p:sp>
        <p:nvSpPr>
          <p:cNvPr id="15367" name="Rectangle 5"/>
          <p:cNvSpPr>
            <a:spLocks noChangeArrowheads="1"/>
          </p:cNvSpPr>
          <p:nvPr/>
        </p:nvSpPr>
        <p:spPr bwMode="auto">
          <a:xfrm>
            <a:off x="4343400" y="3962400"/>
            <a:ext cx="4267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protocols</a:t>
            </a:r>
            <a:r>
              <a:rPr lang="en-US" sz="2800" i="1">
                <a:latin typeface="Gill Sans MT" pitchFamily="34" charset="0"/>
              </a:rPr>
              <a:t> define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format</a:t>
            </a:r>
            <a:r>
              <a:rPr lang="en-US" sz="2800" i="1">
                <a:latin typeface="Gill Sans MT" pitchFamily="34" charset="0"/>
              </a:rPr>
              <a:t>,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order</a:t>
            </a:r>
            <a:r>
              <a:rPr lang="en-US" sz="2800" i="1">
                <a:latin typeface="Gill Sans MT" pitchFamily="34" charset="0"/>
              </a:rPr>
              <a:t> of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msgs sent and received</a:t>
            </a:r>
            <a:r>
              <a:rPr lang="en-US" sz="2800" i="1">
                <a:latin typeface="Gill Sans MT" pitchFamily="34" charset="0"/>
              </a:rPr>
              <a:t> among network entities, and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actions taken</a:t>
            </a:r>
            <a:r>
              <a:rPr lang="en-US" sz="2800" i="1">
                <a:latin typeface="Gill Sans MT" pitchFamily="34" charset="0"/>
              </a:rPr>
              <a:t> on msg transmission, receipt</a:t>
            </a:r>
            <a:r>
              <a:rPr lang="en-US" i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5368" name="Rectangle 6"/>
          <p:cNvSpPr>
            <a:spLocks noChangeArrowheads="1"/>
          </p:cNvSpPr>
          <p:nvPr/>
        </p:nvSpPr>
        <p:spPr bwMode="auto">
          <a:xfrm>
            <a:off x="4335463" y="3962400"/>
            <a:ext cx="4503737" cy="236220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536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CDB9304-C64A-478D-A74C-DE0DA03E1179}" type="slidenum">
              <a:rPr lang="en-US" sz="1200" smtClean="0">
                <a:latin typeface="Tahoma" pitchFamily="34" charset="0"/>
              </a:rPr>
              <a:pPr/>
              <a:t>8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8153400" cy="68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ea typeface="ＭＳ Ｐゴシック" pitchFamily="34" charset="-128"/>
              </a:rPr>
              <a:t>a human protocol and a computer network protocol: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16388" name="Rectangle 8"/>
          <p:cNvSpPr>
            <a:spLocks noChangeArrowheads="1"/>
          </p:cNvSpPr>
          <p:nvPr/>
        </p:nvSpPr>
        <p:spPr bwMode="auto">
          <a:xfrm>
            <a:off x="628650" y="5862638"/>
            <a:ext cx="441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Q:</a:t>
            </a:r>
            <a:r>
              <a:rPr lang="en-US" sz="2800">
                <a:latin typeface="Gill Sans MT" pitchFamily="34" charset="0"/>
              </a:rPr>
              <a:t> other human protocols? </a:t>
            </a:r>
          </a:p>
        </p:txBody>
      </p:sp>
      <p:sp>
        <p:nvSpPr>
          <p:cNvPr id="16389" name="Line 10"/>
          <p:cNvSpPr>
            <a:spLocks noChangeShapeType="1"/>
          </p:cNvSpPr>
          <p:nvPr/>
        </p:nvSpPr>
        <p:spPr bwMode="auto">
          <a:xfrm>
            <a:off x="1257300" y="2771775"/>
            <a:ext cx="1762125" cy="2762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6390" name="Picture 62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2376488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63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963" y="277177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 Box 64"/>
          <p:cNvSpPr txBox="1">
            <a:spLocks noChangeArrowheads="1"/>
          </p:cNvSpPr>
          <p:nvPr/>
        </p:nvSpPr>
        <p:spPr bwMode="auto">
          <a:xfrm>
            <a:off x="1698625" y="2484438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CC0000"/>
                </a:solidFill>
              </a:rPr>
              <a:t>Hi</a:t>
            </a:r>
          </a:p>
        </p:txBody>
      </p:sp>
      <p:sp>
        <p:nvSpPr>
          <p:cNvPr id="16393" name="Line 66"/>
          <p:cNvSpPr>
            <a:spLocks noChangeShapeType="1"/>
          </p:cNvSpPr>
          <p:nvPr/>
        </p:nvSpPr>
        <p:spPr bwMode="auto">
          <a:xfrm flipV="1">
            <a:off x="949325" y="3330575"/>
            <a:ext cx="2085975" cy="361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Text Box 67"/>
          <p:cNvSpPr txBox="1">
            <a:spLocks noChangeArrowheads="1"/>
          </p:cNvSpPr>
          <p:nvPr/>
        </p:nvSpPr>
        <p:spPr bwMode="auto">
          <a:xfrm>
            <a:off x="1689100" y="310832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CC0000"/>
                </a:solidFill>
              </a:rPr>
              <a:t>Hi</a:t>
            </a:r>
          </a:p>
        </p:txBody>
      </p:sp>
      <p:sp>
        <p:nvSpPr>
          <p:cNvPr id="16395" name="Line 70"/>
          <p:cNvSpPr>
            <a:spLocks noChangeShapeType="1"/>
          </p:cNvSpPr>
          <p:nvPr/>
        </p:nvSpPr>
        <p:spPr bwMode="auto">
          <a:xfrm>
            <a:off x="933450" y="3762375"/>
            <a:ext cx="2162175" cy="4381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396" name="Group 72"/>
          <p:cNvGrpSpPr>
            <a:grpSpLocks/>
          </p:cNvGrpSpPr>
          <p:nvPr/>
        </p:nvGrpSpPr>
        <p:grpSpPr bwMode="auto">
          <a:xfrm>
            <a:off x="1471613" y="3694113"/>
            <a:ext cx="1014412" cy="701675"/>
            <a:chOff x="761" y="2747"/>
            <a:chExt cx="639" cy="442"/>
          </a:xfrm>
        </p:grpSpPr>
        <p:sp>
          <p:nvSpPr>
            <p:cNvPr id="16457" name="Rectangle 71"/>
            <p:cNvSpPr>
              <a:spLocks noChangeArrowheads="1"/>
            </p:cNvSpPr>
            <p:nvPr/>
          </p:nvSpPr>
          <p:spPr bwMode="auto">
            <a:xfrm>
              <a:off x="786" y="2790"/>
              <a:ext cx="588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C0000"/>
                </a:solidFill>
              </a:endParaRPr>
            </a:p>
          </p:txBody>
        </p:sp>
        <p:sp>
          <p:nvSpPr>
            <p:cNvPr id="16458" name="Text Box 69"/>
            <p:cNvSpPr txBox="1">
              <a:spLocks noChangeArrowheads="1"/>
            </p:cNvSpPr>
            <p:nvPr/>
          </p:nvSpPr>
          <p:spPr bwMode="auto">
            <a:xfrm>
              <a:off x="761" y="2747"/>
              <a:ext cx="639" cy="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>
                  <a:solidFill>
                    <a:srgbClr val="CC0000"/>
                  </a:solidFill>
                </a:rPr>
                <a:t>Got the</a:t>
              </a:r>
            </a:p>
            <a:p>
              <a:pPr algn="ctr"/>
              <a:r>
                <a:rPr lang="en-US" sz="2000">
                  <a:solidFill>
                    <a:srgbClr val="CC0000"/>
                  </a:solidFill>
                </a:rPr>
                <a:t>time?</a:t>
              </a:r>
            </a:p>
          </p:txBody>
        </p:sp>
      </p:grpSp>
      <p:sp>
        <p:nvSpPr>
          <p:cNvPr id="16397" name="Line 73"/>
          <p:cNvSpPr>
            <a:spLocks noChangeShapeType="1"/>
          </p:cNvSpPr>
          <p:nvPr/>
        </p:nvSpPr>
        <p:spPr bwMode="auto">
          <a:xfrm flipV="1">
            <a:off x="1095375" y="4333875"/>
            <a:ext cx="1952625" cy="3333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398" name="Group 76"/>
          <p:cNvGrpSpPr>
            <a:grpSpLocks/>
          </p:cNvGrpSpPr>
          <p:nvPr/>
        </p:nvGrpSpPr>
        <p:grpSpPr bwMode="auto">
          <a:xfrm>
            <a:off x="1565275" y="4338638"/>
            <a:ext cx="796925" cy="457200"/>
            <a:chOff x="1046" y="2771"/>
            <a:chExt cx="502" cy="288"/>
          </a:xfrm>
        </p:grpSpPr>
        <p:sp>
          <p:nvSpPr>
            <p:cNvPr id="16455" name="Rectangle 75"/>
            <p:cNvSpPr>
              <a:spLocks noChangeArrowheads="1"/>
            </p:cNvSpPr>
            <p:nvPr/>
          </p:nvSpPr>
          <p:spPr bwMode="auto">
            <a:xfrm>
              <a:off x="1104" y="2820"/>
              <a:ext cx="444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C0000"/>
                </a:solidFill>
              </a:endParaRPr>
            </a:p>
          </p:txBody>
        </p:sp>
        <p:sp>
          <p:nvSpPr>
            <p:cNvPr id="16456" name="Text Box 74"/>
            <p:cNvSpPr txBox="1">
              <a:spLocks noChangeArrowheads="1"/>
            </p:cNvSpPr>
            <p:nvPr/>
          </p:nvSpPr>
          <p:spPr bwMode="auto">
            <a:xfrm>
              <a:off x="1046" y="2771"/>
              <a:ext cx="4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solidFill>
                    <a:srgbClr val="CC0000"/>
                  </a:solidFill>
                </a:rPr>
                <a:t>2:00</a:t>
              </a:r>
            </a:p>
          </p:txBody>
        </p:sp>
      </p:grpSp>
      <p:sp>
        <p:nvSpPr>
          <p:cNvPr id="16399" name="Line 85"/>
          <p:cNvSpPr>
            <a:spLocks noChangeShapeType="1"/>
          </p:cNvSpPr>
          <p:nvPr/>
        </p:nvSpPr>
        <p:spPr bwMode="auto">
          <a:xfrm flipV="1">
            <a:off x="5165725" y="4525963"/>
            <a:ext cx="2343150" cy="4286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89"/>
          <p:cNvSpPr>
            <a:spLocks noChangeShapeType="1"/>
          </p:cNvSpPr>
          <p:nvPr/>
        </p:nvSpPr>
        <p:spPr bwMode="auto">
          <a:xfrm>
            <a:off x="5180013" y="2811463"/>
            <a:ext cx="2176462" cy="3476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Line 90"/>
          <p:cNvSpPr>
            <a:spLocks noChangeShapeType="1"/>
          </p:cNvSpPr>
          <p:nvPr/>
        </p:nvSpPr>
        <p:spPr bwMode="auto">
          <a:xfrm flipV="1">
            <a:off x="5118100" y="3317875"/>
            <a:ext cx="2216150" cy="3984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Rectangle 92"/>
          <p:cNvSpPr>
            <a:spLocks noChangeArrowheads="1"/>
          </p:cNvSpPr>
          <p:nvPr/>
        </p:nvSpPr>
        <p:spPr bwMode="auto">
          <a:xfrm>
            <a:off x="5553075" y="3340100"/>
            <a:ext cx="1438275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16403" name="Text Box 91"/>
          <p:cNvSpPr txBox="1">
            <a:spLocks noChangeArrowheads="1"/>
          </p:cNvSpPr>
          <p:nvPr/>
        </p:nvSpPr>
        <p:spPr bwMode="auto">
          <a:xfrm>
            <a:off x="5370513" y="3341688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TCP connection</a:t>
            </a:r>
          </a:p>
          <a:p>
            <a:pPr algn="ctr"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response</a:t>
            </a:r>
          </a:p>
        </p:txBody>
      </p:sp>
      <p:sp>
        <p:nvSpPr>
          <p:cNvPr id="16404" name="Line 94"/>
          <p:cNvSpPr>
            <a:spLocks noChangeShapeType="1"/>
          </p:cNvSpPr>
          <p:nvPr/>
        </p:nvSpPr>
        <p:spPr bwMode="auto">
          <a:xfrm>
            <a:off x="5165725" y="3963988"/>
            <a:ext cx="2400300" cy="4191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405" name="Group 97"/>
          <p:cNvGrpSpPr>
            <a:grpSpLocks/>
          </p:cNvGrpSpPr>
          <p:nvPr/>
        </p:nvGrpSpPr>
        <p:grpSpPr bwMode="auto">
          <a:xfrm>
            <a:off x="5378450" y="4029075"/>
            <a:ext cx="3794125" cy="366713"/>
            <a:chOff x="3212" y="2597"/>
            <a:chExt cx="2390" cy="231"/>
          </a:xfrm>
        </p:grpSpPr>
        <p:sp>
          <p:nvSpPr>
            <p:cNvPr id="16453" name="Rectangle 96"/>
            <p:cNvSpPr>
              <a:spLocks noChangeArrowheads="1"/>
            </p:cNvSpPr>
            <p:nvPr/>
          </p:nvSpPr>
          <p:spPr bwMode="auto">
            <a:xfrm>
              <a:off x="3252" y="2628"/>
              <a:ext cx="2100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C0000"/>
                </a:solidFill>
              </a:endParaRPr>
            </a:p>
          </p:txBody>
        </p:sp>
        <p:sp>
          <p:nvSpPr>
            <p:cNvPr id="16454" name="Text Box 95"/>
            <p:cNvSpPr txBox="1">
              <a:spLocks noChangeArrowheads="1"/>
            </p:cNvSpPr>
            <p:nvPr/>
          </p:nvSpPr>
          <p:spPr bwMode="auto">
            <a:xfrm>
              <a:off x="3212" y="2597"/>
              <a:ext cx="23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>
                  <a:solidFill>
                    <a:srgbClr val="CC0000"/>
                  </a:solidFill>
                </a:rPr>
                <a:t>Get</a:t>
              </a:r>
              <a:r>
                <a:rPr lang="en-US" sz="1400">
                  <a:solidFill>
                    <a:srgbClr val="CC0000"/>
                  </a:solidFill>
                </a:rPr>
                <a:t> http://www.awl.com/kurose-ross</a:t>
              </a:r>
              <a:endParaRPr lang="en-US">
                <a:solidFill>
                  <a:srgbClr val="CC0000"/>
                </a:solidFill>
              </a:endParaRPr>
            </a:p>
          </p:txBody>
        </p:sp>
      </p:grpSp>
      <p:sp>
        <p:nvSpPr>
          <p:cNvPr id="16406" name="Rectangle 99"/>
          <p:cNvSpPr>
            <a:spLocks noChangeArrowheads="1"/>
          </p:cNvSpPr>
          <p:nvPr/>
        </p:nvSpPr>
        <p:spPr bwMode="auto">
          <a:xfrm>
            <a:off x="5934075" y="4624388"/>
            <a:ext cx="919163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16407" name="Text Box 100"/>
          <p:cNvSpPr txBox="1">
            <a:spLocks noChangeArrowheads="1"/>
          </p:cNvSpPr>
          <p:nvPr/>
        </p:nvSpPr>
        <p:spPr bwMode="auto">
          <a:xfrm>
            <a:off x="5900738" y="4510088"/>
            <a:ext cx="93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CC0000"/>
                </a:solidFill>
              </a:rPr>
              <a:t>&lt;file&gt;</a:t>
            </a:r>
          </a:p>
        </p:txBody>
      </p:sp>
      <p:sp>
        <p:nvSpPr>
          <p:cNvPr id="16408" name="Line 101"/>
          <p:cNvSpPr>
            <a:spLocks noChangeShapeType="1"/>
          </p:cNvSpPr>
          <p:nvPr/>
        </p:nvSpPr>
        <p:spPr bwMode="auto">
          <a:xfrm>
            <a:off x="4057650" y="2068513"/>
            <a:ext cx="0" cy="3573462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409" name="Group 105"/>
          <p:cNvGrpSpPr>
            <a:grpSpLocks/>
          </p:cNvGrpSpPr>
          <p:nvPr/>
        </p:nvGrpSpPr>
        <p:grpSpPr bwMode="auto">
          <a:xfrm>
            <a:off x="3735388" y="4972050"/>
            <a:ext cx="720725" cy="396875"/>
            <a:chOff x="2198" y="3221"/>
            <a:chExt cx="454" cy="250"/>
          </a:xfrm>
        </p:grpSpPr>
        <p:sp>
          <p:nvSpPr>
            <p:cNvPr id="16451" name="Rectangle 104"/>
            <p:cNvSpPr>
              <a:spLocks noChangeArrowheads="1"/>
            </p:cNvSpPr>
            <p:nvPr/>
          </p:nvSpPr>
          <p:spPr bwMode="auto">
            <a:xfrm>
              <a:off x="2244" y="3282"/>
              <a:ext cx="408" cy="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6452" name="Text Box 102"/>
            <p:cNvSpPr txBox="1">
              <a:spLocks noChangeArrowheads="1"/>
            </p:cNvSpPr>
            <p:nvPr/>
          </p:nvSpPr>
          <p:spPr bwMode="auto"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>
                  <a:solidFill>
                    <a:schemeClr val="bg2"/>
                  </a:solidFill>
                </a:rPr>
                <a:t>time</a:t>
              </a:r>
            </a:p>
          </p:txBody>
        </p:sp>
      </p:grpSp>
      <p:sp>
        <p:nvSpPr>
          <p:cNvPr id="16410" name="Rectangle 52"/>
          <p:cNvSpPr>
            <a:spLocks noChangeArrowheads="1"/>
          </p:cNvSpPr>
          <p:nvPr/>
        </p:nvSpPr>
        <p:spPr bwMode="auto">
          <a:xfrm>
            <a:off x="5465763" y="2751138"/>
            <a:ext cx="1365250" cy="439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1" name="Text Box 91"/>
          <p:cNvSpPr txBox="1">
            <a:spLocks noChangeArrowheads="1"/>
          </p:cNvSpPr>
          <p:nvPr/>
        </p:nvSpPr>
        <p:spPr bwMode="auto">
          <a:xfrm>
            <a:off x="5414963" y="2682875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TCP connection</a:t>
            </a:r>
          </a:p>
          <a:p>
            <a:pPr algn="ctr"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request</a:t>
            </a:r>
          </a:p>
        </p:txBody>
      </p:sp>
      <p:pic>
        <p:nvPicPr>
          <p:cNvPr id="16412" name="Picture 53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13" name="Rectangle 2"/>
          <p:cNvSpPr>
            <a:spLocks noChangeArrowheads="1"/>
          </p:cNvSpPr>
          <p:nvPr/>
        </p:nvSpPr>
        <p:spPr bwMode="auto">
          <a:xfrm>
            <a:off x="487363" y="206375"/>
            <a:ext cx="565785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4400">
                <a:solidFill>
                  <a:srgbClr val="000099"/>
                </a:solidFill>
                <a:latin typeface="Gill Sans MT" pitchFamily="34" charset="0"/>
              </a:rPr>
              <a:t>What</a:t>
            </a:r>
            <a:r>
              <a:rPr lang="ja-JP" altLang="en-US" sz="4400">
                <a:solidFill>
                  <a:srgbClr val="000099"/>
                </a:solidFill>
                <a:latin typeface="Gill Sans MT" pitchFamily="34" charset="0"/>
              </a:rPr>
              <a:t>’</a:t>
            </a:r>
            <a:r>
              <a:rPr lang="en-US" altLang="ja-JP" sz="4400">
                <a:solidFill>
                  <a:srgbClr val="000099"/>
                </a:solidFill>
                <a:latin typeface="Gill Sans MT" pitchFamily="34" charset="0"/>
              </a:rPr>
              <a:t>s a protocol?</a:t>
            </a:r>
            <a:endParaRPr lang="en-US" sz="4400">
              <a:solidFill>
                <a:srgbClr val="000099"/>
              </a:solidFill>
              <a:latin typeface="Gill Sans MT" pitchFamily="34" charset="0"/>
            </a:endParaRPr>
          </a:p>
        </p:txBody>
      </p:sp>
      <p:grpSp>
        <p:nvGrpSpPr>
          <p:cNvPr id="16414" name="Group 57"/>
          <p:cNvGrpSpPr>
            <a:grpSpLocks/>
          </p:cNvGrpSpPr>
          <p:nvPr/>
        </p:nvGrpSpPr>
        <p:grpSpPr bwMode="auto">
          <a:xfrm>
            <a:off x="7412038" y="2782888"/>
            <a:ext cx="431800" cy="755650"/>
            <a:chOff x="4140" y="429"/>
            <a:chExt cx="1425" cy="2396"/>
          </a:xfrm>
        </p:grpSpPr>
        <p:sp>
          <p:nvSpPr>
            <p:cNvPr id="16419" name="Freeform 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Rectangle 59"/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1" name="Freeform 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Rectangle 62"/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424" name="Group 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449" name="AutoShape 64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50" name="AutoShape 65"/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25" name="Rectangle 66"/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426" name="Group 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447" name="AutoShape 68"/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8" name="AutoShape 69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27" name="Rectangle 70"/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8" name="Rectangle 71"/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429" name="Group 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445" name="AutoShape 7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6" name="AutoShape 74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30" name="Freeform 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431" name="Group 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443" name="AutoShape 77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4" name="AutoShape 7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32" name="Rectangle 79"/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3" name="Freeform 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Freeform 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Oval 82"/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6" name="Freeform 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7" name="AutoShape 84"/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8" name="AutoShape 85"/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9" name="Oval 86"/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0" name="Oval 87"/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16441" name="Oval 88"/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2" name="Rectangle 89"/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415" name="Group 90"/>
          <p:cNvGrpSpPr>
            <a:grpSpLocks/>
          </p:cNvGrpSpPr>
          <p:nvPr/>
        </p:nvGrpSpPr>
        <p:grpSpPr bwMode="auto">
          <a:xfrm>
            <a:off x="4275138" y="2339975"/>
            <a:ext cx="893762" cy="828675"/>
            <a:chOff x="-44" y="1473"/>
            <a:chExt cx="981" cy="1105"/>
          </a:xfrm>
        </p:grpSpPr>
        <p:pic>
          <p:nvPicPr>
            <p:cNvPr id="16417" name="Picture 91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8" name="Freeform 9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64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35A89D77-E217-44CE-9913-A5E5356181D2}" type="slidenum">
              <a:rPr lang="en-US" sz="1200" smtClean="0">
                <a:latin typeface="Tahoma" pitchFamily="34" charset="0"/>
              </a:rPr>
              <a:pPr/>
              <a:t>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17411" name="Picture 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1.1 what </a:t>
            </a:r>
            <a:r>
              <a:rPr lang="en-US" sz="2800" i="1" smtClean="0">
                <a:solidFill>
                  <a:srgbClr val="000099"/>
                </a:solidFill>
              </a:rPr>
              <a:t>is</a:t>
            </a:r>
            <a:r>
              <a:rPr lang="en-US" sz="2800" smtClean="0">
                <a:solidFill>
                  <a:srgbClr val="000099"/>
                </a:solidFill>
              </a:rPr>
              <a:t> the Internet?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1.2 network edge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solidFill>
                  <a:srgbClr val="CC0000"/>
                </a:solidFill>
                <a:latin typeface="Gill Sans MT" pitchFamily="34" charset="0"/>
              </a:rPr>
              <a:t> </a:t>
            </a:r>
            <a:r>
              <a:rPr lang="en-US" sz="2400" smtClean="0">
                <a:solidFill>
                  <a:srgbClr val="CC0000"/>
                </a:solidFill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1.3 </a:t>
            </a:r>
            <a:r>
              <a:rPr lang="en-US" sz="2800" smtClean="0"/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400" smtClean="0">
                <a:latin typeface="Gill Sans MT" pitchFamily="34" charset="0"/>
              </a:rPr>
              <a:t>packet switching, circuit switching, network structure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1.4 </a:t>
            </a:r>
            <a:r>
              <a:rPr lang="en-US" sz="2800" smtClean="0"/>
              <a:t>delay, loss, throughput in networks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1.5</a:t>
            </a:r>
            <a:r>
              <a:rPr lang="en-US" sz="2800" smtClean="0"/>
              <a:t> protocol layers, service models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1741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3611148-C669-40DA-87B5-BE26E42F736D}" type="slidenum">
              <a:rPr lang="en-US" sz="1200" smtClean="0">
                <a:latin typeface="Tahoma" pitchFamily="34" charset="0"/>
              </a:rPr>
              <a:pPr/>
              <a:t>10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01613"/>
            <a:ext cx="7772400" cy="892175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A closer look at network structure: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7513" y="1381125"/>
            <a:ext cx="4203700" cy="104775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network edge:</a:t>
            </a:r>
          </a:p>
          <a:p>
            <a:pPr lvl="1"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hosts: clients and servers</a:t>
            </a:r>
          </a:p>
          <a:p>
            <a:pPr lvl="1"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servers often in data centers</a:t>
            </a:r>
          </a:p>
          <a:p>
            <a:pPr lvl="1" eaLnBrk="1" hangingPunct="1">
              <a:buSzPct val="75000"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10088" name="Rectangle 872"/>
          <p:cNvSpPr>
            <a:spLocks noChangeArrowheads="1"/>
          </p:cNvSpPr>
          <p:nvPr/>
        </p:nvSpPr>
        <p:spPr bwMode="auto">
          <a:xfrm>
            <a:off x="419100" y="3068638"/>
            <a:ext cx="4027488" cy="141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access networks, physical media:</a:t>
            </a:r>
            <a:r>
              <a:rPr lang="en-US" sz="2800">
                <a:latin typeface="Gill Sans MT" pitchFamily="34" charset="0"/>
              </a:rPr>
              <a:t> wired, wireless communication links</a:t>
            </a:r>
            <a:r>
              <a:rPr lang="en-US" sz="2800">
                <a:solidFill>
                  <a:srgbClr val="FF0000"/>
                </a:solidFill>
                <a:latin typeface="Gill Sans MT" pitchFamily="34" charset="0"/>
              </a:rPr>
              <a:t> </a:t>
            </a:r>
            <a:endParaRPr lang="en-US">
              <a:latin typeface="Gill Sans MT" pitchFamily="34" charset="0"/>
            </a:endParaRPr>
          </a:p>
        </p:txBody>
      </p:sp>
      <p:sp>
        <p:nvSpPr>
          <p:cNvPr id="10089" name="Rectangle 873"/>
          <p:cNvSpPr>
            <a:spLocks noChangeArrowheads="1"/>
          </p:cNvSpPr>
          <p:nvPr/>
        </p:nvSpPr>
        <p:spPr bwMode="auto">
          <a:xfrm>
            <a:off x="447675" y="4784725"/>
            <a:ext cx="38100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network core: </a:t>
            </a:r>
          </a:p>
          <a:p>
            <a:pPr marL="628650" lvl="1" indent="-171450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95000"/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interconnected routers</a:t>
            </a:r>
          </a:p>
          <a:p>
            <a:pPr marL="628650" lvl="1" indent="-171450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95000"/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network of networks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q"/>
            </a:pPr>
            <a:endParaRPr lang="en-US">
              <a:latin typeface="Gill Sans MT" pitchFamily="34" charset="0"/>
            </a:endParaRPr>
          </a:p>
        </p:txBody>
      </p:sp>
      <p:pic>
        <p:nvPicPr>
          <p:cNvPr id="18439" name="Picture 54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8778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40" name="Group 733"/>
          <p:cNvGrpSpPr>
            <a:grpSpLocks/>
          </p:cNvGrpSpPr>
          <p:nvPr/>
        </p:nvGrpSpPr>
        <p:grpSpPr bwMode="auto">
          <a:xfrm>
            <a:off x="5202238" y="1384300"/>
            <a:ext cx="3551237" cy="4743450"/>
            <a:chOff x="5202238" y="1384300"/>
            <a:chExt cx="3551237" cy="4743450"/>
          </a:xfrm>
        </p:grpSpPr>
        <p:sp>
          <p:nvSpPr>
            <p:cNvPr id="18442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45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8795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796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8446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75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8793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94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476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8791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92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477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8789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90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478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8787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88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8479" name="Picture 603" descr="car_icon_small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80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8785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786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481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877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7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7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80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83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84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81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2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2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876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7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7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72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75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76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73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4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3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876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6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6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64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67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68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65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6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4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875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5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5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56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59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60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57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8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85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86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874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4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4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48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51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52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49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0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7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873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3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3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40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43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44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41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2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8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872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3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3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32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35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36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33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4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9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872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2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2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24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27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8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25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6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0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871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1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1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16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19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0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17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8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1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870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0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0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08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11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12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09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0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2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869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69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69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00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03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4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01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2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3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868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69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69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692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695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96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693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4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4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8687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688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495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8685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686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496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18667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867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1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2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4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5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6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7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8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9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0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1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2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3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4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8668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69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97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mobile network</a:t>
              </a:r>
            </a:p>
          </p:txBody>
        </p:sp>
        <p:sp>
          <p:nvSpPr>
            <p:cNvPr id="18498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global ISP</a:t>
              </a:r>
            </a:p>
          </p:txBody>
        </p:sp>
        <p:sp>
          <p:nvSpPr>
            <p:cNvPr id="18499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regional ISP</a:t>
              </a:r>
            </a:p>
          </p:txBody>
        </p:sp>
        <p:sp>
          <p:nvSpPr>
            <p:cNvPr id="18500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network</a:t>
              </a:r>
            </a:p>
          </p:txBody>
        </p:sp>
        <p:sp>
          <p:nvSpPr>
            <p:cNvPr id="18501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       network</a:t>
              </a:r>
            </a:p>
          </p:txBody>
        </p:sp>
        <p:grpSp>
          <p:nvGrpSpPr>
            <p:cNvPr id="18502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8635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6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37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8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9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40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8665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66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41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42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663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64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43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44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45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8661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62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46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647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659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60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48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49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0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1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2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3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4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5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6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657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8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503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8603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4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05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6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7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08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8633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4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09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10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631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2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11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12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13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8629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0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14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615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627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28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16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17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8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9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0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1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2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3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4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625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6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504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8580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81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82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83" name="Picture 1020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84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5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6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7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8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9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90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97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98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99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0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1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2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91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2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3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4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5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6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05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8557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58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59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60" name="Picture 1068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61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2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3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4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5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6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67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74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5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6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7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8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9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68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9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0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1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2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3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06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8534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35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36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37" name="Picture 1118" descr="screen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38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9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0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1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2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3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44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51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2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3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4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5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6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45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6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7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8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9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0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07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8532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33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508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8509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10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11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12" name="Picture 1146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13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4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5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6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7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8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19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26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7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8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9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0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1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20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1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2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3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4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5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844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A121234-8399-4598-AE00-F8E5C45547B0}" type="slidenum">
              <a:rPr lang="en-US" sz="1200" smtClean="0">
                <a:latin typeface="Tahoma" pitchFamily="34" charset="0"/>
              </a:rPr>
              <a:pPr/>
              <a:t>11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8138" y="196850"/>
            <a:ext cx="8382000" cy="83502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Access networks and physical media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0075" y="1371600"/>
            <a:ext cx="4010025" cy="50101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Q: How to connect end systems to edge router?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residential access nets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institutional access networks (school, company)</a:t>
            </a:r>
          </a:p>
          <a:p>
            <a:pPr eaLnBrk="1" hangingPunct="1">
              <a:spcAft>
                <a:spcPct val="30000"/>
              </a:spcAft>
              <a:buSzPct val="75000"/>
            </a:pPr>
            <a:r>
              <a:rPr lang="en-US" sz="2400" smtClean="0">
                <a:ea typeface="ＭＳ Ｐゴシック" pitchFamily="34" charset="-128"/>
              </a:rPr>
              <a:t>mobile access networks</a:t>
            </a:r>
            <a:endParaRPr lang="en-US" sz="240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keep in mind: 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bandwidth (bits per second) of access network?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shared or dedicated?</a:t>
            </a:r>
          </a:p>
        </p:txBody>
      </p:sp>
      <p:sp>
        <p:nvSpPr>
          <p:cNvPr id="19461" name="Freeform 665"/>
          <p:cNvSpPr>
            <a:spLocks/>
          </p:cNvSpPr>
          <p:nvPr/>
        </p:nvSpPr>
        <p:spPr bwMode="auto">
          <a:xfrm>
            <a:off x="5202238" y="1712913"/>
            <a:ext cx="1736725" cy="1071562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462" name="Group 666"/>
          <p:cNvGrpSpPr>
            <a:grpSpLocks/>
          </p:cNvGrpSpPr>
          <p:nvPr/>
        </p:nvGrpSpPr>
        <p:grpSpPr bwMode="auto">
          <a:xfrm>
            <a:off x="5370513" y="3048000"/>
            <a:ext cx="1458912" cy="933450"/>
            <a:chOff x="2889" y="1631"/>
            <a:chExt cx="980" cy="743"/>
          </a:xfrm>
        </p:grpSpPr>
        <p:sp>
          <p:nvSpPr>
            <p:cNvPr id="19908" name="Rectangle 667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09" name="AutoShape 668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CCFF"/>
                </a:solidFill>
              </a:endParaRPr>
            </a:p>
          </p:txBody>
        </p:sp>
      </p:grpSp>
      <p:sp>
        <p:nvSpPr>
          <p:cNvPr id="19463" name="Freeform 669"/>
          <p:cNvSpPr>
            <a:spLocks/>
          </p:cNvSpPr>
          <p:nvPr/>
        </p:nvSpPr>
        <p:spPr bwMode="auto">
          <a:xfrm>
            <a:off x="5364163" y="4425950"/>
            <a:ext cx="3225800" cy="1665288"/>
          </a:xfrm>
          <a:custGeom>
            <a:avLst/>
            <a:gdLst>
              <a:gd name="T0" fmla="*/ 2147483647 w 2032"/>
              <a:gd name="T1" fmla="*/ 2147483647 h 1049"/>
              <a:gd name="T2" fmla="*/ 2147483647 w 2032"/>
              <a:gd name="T3" fmla="*/ 2147483647 h 1049"/>
              <a:gd name="T4" fmla="*/ 2147483647 w 2032"/>
              <a:gd name="T5" fmla="*/ 2147483647 h 1049"/>
              <a:gd name="T6" fmla="*/ 2147483647 w 2032"/>
              <a:gd name="T7" fmla="*/ 2147483647 h 1049"/>
              <a:gd name="T8" fmla="*/ 2147483647 w 2032"/>
              <a:gd name="T9" fmla="*/ 2147483647 h 1049"/>
              <a:gd name="T10" fmla="*/ 2147483647 w 2032"/>
              <a:gd name="T11" fmla="*/ 2147483647 h 1049"/>
              <a:gd name="T12" fmla="*/ 2147483647 w 2032"/>
              <a:gd name="T13" fmla="*/ 2147483647 h 1049"/>
              <a:gd name="T14" fmla="*/ 2147483647 w 2032"/>
              <a:gd name="T15" fmla="*/ 2147483647 h 1049"/>
              <a:gd name="T16" fmla="*/ 2147483647 w 2032"/>
              <a:gd name="T17" fmla="*/ 2147483647 h 1049"/>
              <a:gd name="T18" fmla="*/ 2147483647 w 2032"/>
              <a:gd name="T19" fmla="*/ 2147483647 h 1049"/>
              <a:gd name="T20" fmla="*/ 2147483647 w 2032"/>
              <a:gd name="T21" fmla="*/ 2147483647 h 1049"/>
              <a:gd name="T22" fmla="*/ 2147483647 w 2032"/>
              <a:gd name="T23" fmla="*/ 2147483647 h 1049"/>
              <a:gd name="T24" fmla="*/ 2147483647 w 2032"/>
              <a:gd name="T25" fmla="*/ 2147483647 h 1049"/>
              <a:gd name="T26" fmla="*/ 2147483647 w 2032"/>
              <a:gd name="T27" fmla="*/ 2147483647 h 1049"/>
              <a:gd name="T28" fmla="*/ 2147483647 w 2032"/>
              <a:gd name="T29" fmla="*/ 2147483647 h 1049"/>
              <a:gd name="T30" fmla="*/ 2147483647 w 2032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032"/>
              <a:gd name="T49" fmla="*/ 0 h 1049"/>
              <a:gd name="T50" fmla="*/ 2032 w 2032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032" h="1049">
                <a:moveTo>
                  <a:pt x="1044" y="26"/>
                </a:moveTo>
                <a:cubicBezTo>
                  <a:pt x="959" y="45"/>
                  <a:pt x="924" y="118"/>
                  <a:pt x="847" y="125"/>
                </a:cubicBezTo>
                <a:cubicBezTo>
                  <a:pt x="770" y="132"/>
                  <a:pt x="697" y="61"/>
                  <a:pt x="580" y="68"/>
                </a:cubicBezTo>
                <a:cubicBezTo>
                  <a:pt x="463" y="75"/>
                  <a:pt x="232" y="119"/>
                  <a:pt x="143" y="170"/>
                </a:cubicBezTo>
                <a:cubicBezTo>
                  <a:pt x="54" y="221"/>
                  <a:pt x="65" y="289"/>
                  <a:pt x="48" y="374"/>
                </a:cubicBezTo>
                <a:cubicBezTo>
                  <a:pt x="31" y="459"/>
                  <a:pt x="0" y="618"/>
                  <a:pt x="41" y="680"/>
                </a:cubicBezTo>
                <a:cubicBezTo>
                  <a:pt x="82" y="742"/>
                  <a:pt x="191" y="709"/>
                  <a:pt x="294" y="744"/>
                </a:cubicBezTo>
                <a:cubicBezTo>
                  <a:pt x="397" y="779"/>
                  <a:pt x="527" y="849"/>
                  <a:pt x="660" y="893"/>
                </a:cubicBezTo>
                <a:cubicBezTo>
                  <a:pt x="793" y="938"/>
                  <a:pt x="944" y="991"/>
                  <a:pt x="1088" y="1014"/>
                </a:cubicBezTo>
                <a:cubicBezTo>
                  <a:pt x="1232" y="1036"/>
                  <a:pt x="1401" y="1049"/>
                  <a:pt x="1525" y="1031"/>
                </a:cubicBezTo>
                <a:cubicBezTo>
                  <a:pt x="1649" y="1012"/>
                  <a:pt x="1749" y="960"/>
                  <a:pt x="1831" y="907"/>
                </a:cubicBezTo>
                <a:cubicBezTo>
                  <a:pt x="1913" y="855"/>
                  <a:pt x="1998" y="824"/>
                  <a:pt x="2015" y="714"/>
                </a:cubicBezTo>
                <a:cubicBezTo>
                  <a:pt x="2032" y="604"/>
                  <a:pt x="1990" y="350"/>
                  <a:pt x="1931" y="251"/>
                </a:cubicBezTo>
                <a:cubicBezTo>
                  <a:pt x="1872" y="151"/>
                  <a:pt x="1754" y="153"/>
                  <a:pt x="1658" y="114"/>
                </a:cubicBezTo>
                <a:cubicBezTo>
                  <a:pt x="1562" y="76"/>
                  <a:pt x="1457" y="30"/>
                  <a:pt x="1355" y="15"/>
                </a:cubicBezTo>
                <a:cubicBezTo>
                  <a:pt x="1253" y="0"/>
                  <a:pt x="1129" y="8"/>
                  <a:pt x="1044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4" name="Line 670"/>
          <p:cNvSpPr>
            <a:spLocks noChangeShapeType="1"/>
          </p:cNvSpPr>
          <p:nvPr/>
        </p:nvSpPr>
        <p:spPr bwMode="auto">
          <a:xfrm rot="-5400000">
            <a:off x="7845425" y="5162551"/>
            <a:ext cx="523875" cy="1397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671"/>
          <p:cNvSpPr>
            <a:spLocks noChangeShapeType="1"/>
          </p:cNvSpPr>
          <p:nvPr/>
        </p:nvSpPr>
        <p:spPr bwMode="auto">
          <a:xfrm rot="5400000" flipV="1">
            <a:off x="7991475" y="5443538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Line 672"/>
          <p:cNvSpPr>
            <a:spLocks noChangeShapeType="1"/>
          </p:cNvSpPr>
          <p:nvPr/>
        </p:nvSpPr>
        <p:spPr bwMode="auto">
          <a:xfrm rot="-5400000">
            <a:off x="8177213" y="5116513"/>
            <a:ext cx="0" cy="1143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Line 674"/>
          <p:cNvSpPr>
            <a:spLocks noChangeShapeType="1"/>
          </p:cNvSpPr>
          <p:nvPr/>
        </p:nvSpPr>
        <p:spPr bwMode="auto">
          <a:xfrm>
            <a:off x="6100763" y="4776788"/>
            <a:ext cx="217487" cy="1000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Line 675"/>
          <p:cNvSpPr>
            <a:spLocks noChangeShapeType="1"/>
          </p:cNvSpPr>
          <p:nvPr/>
        </p:nvSpPr>
        <p:spPr bwMode="auto">
          <a:xfrm flipV="1">
            <a:off x="5842000" y="5038725"/>
            <a:ext cx="407988" cy="746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Line 678"/>
          <p:cNvSpPr>
            <a:spLocks noChangeShapeType="1"/>
          </p:cNvSpPr>
          <p:nvPr/>
        </p:nvSpPr>
        <p:spPr bwMode="auto">
          <a:xfrm flipH="1">
            <a:off x="6267450" y="5102225"/>
            <a:ext cx="144463" cy="1698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0" name="Line 679"/>
          <p:cNvSpPr>
            <a:spLocks noChangeShapeType="1"/>
          </p:cNvSpPr>
          <p:nvPr/>
        </p:nvSpPr>
        <p:spPr bwMode="auto">
          <a:xfrm flipH="1" flipV="1">
            <a:off x="6586538" y="5110163"/>
            <a:ext cx="76200" cy="1635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1" name="Line 680"/>
          <p:cNvSpPr>
            <a:spLocks noChangeShapeType="1"/>
          </p:cNvSpPr>
          <p:nvPr/>
        </p:nvSpPr>
        <p:spPr bwMode="auto">
          <a:xfrm>
            <a:off x="6743700" y="5056188"/>
            <a:ext cx="503238" cy="2698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2" name="Line 682"/>
          <p:cNvSpPr>
            <a:spLocks noChangeShapeType="1"/>
          </p:cNvSpPr>
          <p:nvPr/>
        </p:nvSpPr>
        <p:spPr bwMode="auto">
          <a:xfrm>
            <a:off x="6284913" y="3551238"/>
            <a:ext cx="0" cy="1063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3" name="Line 683"/>
          <p:cNvSpPr>
            <a:spLocks noChangeShapeType="1"/>
          </p:cNvSpPr>
          <p:nvPr/>
        </p:nvSpPr>
        <p:spPr bwMode="auto">
          <a:xfrm flipV="1">
            <a:off x="5891213" y="3736975"/>
            <a:ext cx="168275" cy="3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474" name="Picture 684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388" y="3548063"/>
            <a:ext cx="3698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5" name="Line 685"/>
          <p:cNvSpPr>
            <a:spLocks noChangeShapeType="1"/>
          </p:cNvSpPr>
          <p:nvPr/>
        </p:nvSpPr>
        <p:spPr bwMode="auto">
          <a:xfrm rot="5400000" flipV="1">
            <a:off x="7994650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Line 686"/>
          <p:cNvSpPr>
            <a:spLocks noChangeShapeType="1"/>
          </p:cNvSpPr>
          <p:nvPr/>
        </p:nvSpPr>
        <p:spPr bwMode="auto">
          <a:xfrm flipV="1">
            <a:off x="5894388" y="3733800"/>
            <a:ext cx="168275" cy="3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477" name="Picture 708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975" y="3546475"/>
            <a:ext cx="36988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8" name="Freeform 709"/>
          <p:cNvSpPr>
            <a:spLocks/>
          </p:cNvSpPr>
          <p:nvPr/>
        </p:nvSpPr>
        <p:spPr bwMode="auto">
          <a:xfrm>
            <a:off x="7015163" y="3530600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9" name="Freeform 710"/>
          <p:cNvSpPr>
            <a:spLocks/>
          </p:cNvSpPr>
          <p:nvPr/>
        </p:nvSpPr>
        <p:spPr bwMode="auto">
          <a:xfrm>
            <a:off x="7023100" y="2005013"/>
            <a:ext cx="1730375" cy="1125537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0" name="Line 711"/>
          <p:cNvSpPr>
            <a:spLocks noChangeShapeType="1"/>
          </p:cNvSpPr>
          <p:nvPr/>
        </p:nvSpPr>
        <p:spPr bwMode="auto">
          <a:xfrm>
            <a:off x="7396163" y="3816350"/>
            <a:ext cx="163512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1" name="Line 712"/>
          <p:cNvSpPr>
            <a:spLocks noChangeShapeType="1"/>
          </p:cNvSpPr>
          <p:nvPr/>
        </p:nvSpPr>
        <p:spPr bwMode="auto">
          <a:xfrm>
            <a:off x="7493000" y="3736975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2" name="Line 713"/>
          <p:cNvSpPr>
            <a:spLocks noChangeShapeType="1"/>
          </p:cNvSpPr>
          <p:nvPr/>
        </p:nvSpPr>
        <p:spPr bwMode="auto">
          <a:xfrm flipV="1">
            <a:off x="7729538" y="3822700"/>
            <a:ext cx="134937" cy="104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3" name="Line 714"/>
          <p:cNvSpPr>
            <a:spLocks noChangeShapeType="1"/>
          </p:cNvSpPr>
          <p:nvPr/>
        </p:nvSpPr>
        <p:spPr bwMode="auto">
          <a:xfrm>
            <a:off x="6723063" y="2590800"/>
            <a:ext cx="509587" cy="317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4" name="Line 715"/>
          <p:cNvSpPr>
            <a:spLocks noChangeShapeType="1"/>
          </p:cNvSpPr>
          <p:nvPr/>
        </p:nvSpPr>
        <p:spPr bwMode="auto">
          <a:xfrm>
            <a:off x="7358063" y="4700588"/>
            <a:ext cx="390525" cy="1841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5" name="Line 716"/>
          <p:cNvSpPr>
            <a:spLocks noChangeShapeType="1"/>
          </p:cNvSpPr>
          <p:nvPr/>
        </p:nvSpPr>
        <p:spPr bwMode="auto">
          <a:xfrm flipV="1">
            <a:off x="6737350" y="4687888"/>
            <a:ext cx="322263" cy="1984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6" name="Line 717"/>
          <p:cNvSpPr>
            <a:spLocks noChangeShapeType="1"/>
          </p:cNvSpPr>
          <p:nvPr/>
        </p:nvSpPr>
        <p:spPr bwMode="auto">
          <a:xfrm flipV="1">
            <a:off x="6780213" y="4979988"/>
            <a:ext cx="971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7" name="Line 718"/>
          <p:cNvSpPr>
            <a:spLocks noChangeShapeType="1"/>
          </p:cNvSpPr>
          <p:nvPr/>
        </p:nvSpPr>
        <p:spPr bwMode="auto">
          <a:xfrm flipV="1">
            <a:off x="7577138" y="2495550"/>
            <a:ext cx="123825" cy="873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8" name="Line 719"/>
          <p:cNvSpPr>
            <a:spLocks noChangeShapeType="1"/>
          </p:cNvSpPr>
          <p:nvPr/>
        </p:nvSpPr>
        <p:spPr bwMode="auto">
          <a:xfrm>
            <a:off x="7405688" y="2668588"/>
            <a:ext cx="0" cy="825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9" name="Line 720"/>
          <p:cNvSpPr>
            <a:spLocks noChangeShapeType="1"/>
          </p:cNvSpPr>
          <p:nvPr/>
        </p:nvSpPr>
        <p:spPr bwMode="auto">
          <a:xfrm flipV="1">
            <a:off x="7577138" y="2565400"/>
            <a:ext cx="263525" cy="288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0" name="Line 721"/>
          <p:cNvSpPr>
            <a:spLocks noChangeShapeType="1"/>
          </p:cNvSpPr>
          <p:nvPr/>
        </p:nvSpPr>
        <p:spPr bwMode="auto">
          <a:xfrm>
            <a:off x="7942263" y="2563813"/>
            <a:ext cx="0" cy="196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1" name="Line 722"/>
          <p:cNvSpPr>
            <a:spLocks noChangeShapeType="1"/>
          </p:cNvSpPr>
          <p:nvPr/>
        </p:nvSpPr>
        <p:spPr bwMode="auto">
          <a:xfrm>
            <a:off x="7596188" y="2870200"/>
            <a:ext cx="18891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2" name="Line 723"/>
          <p:cNvSpPr>
            <a:spLocks noChangeShapeType="1"/>
          </p:cNvSpPr>
          <p:nvPr/>
        </p:nvSpPr>
        <p:spPr bwMode="auto">
          <a:xfrm>
            <a:off x="8150225" y="2860675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3" name="Line 724"/>
          <p:cNvSpPr>
            <a:spLocks noChangeShapeType="1"/>
          </p:cNvSpPr>
          <p:nvPr/>
        </p:nvSpPr>
        <p:spPr bwMode="auto">
          <a:xfrm flipH="1">
            <a:off x="7296150" y="2936875"/>
            <a:ext cx="98425" cy="7048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4" name="Line 725"/>
          <p:cNvSpPr>
            <a:spLocks noChangeShapeType="1"/>
          </p:cNvSpPr>
          <p:nvPr/>
        </p:nvSpPr>
        <p:spPr bwMode="auto">
          <a:xfrm flipH="1">
            <a:off x="7888288" y="2936875"/>
            <a:ext cx="111125" cy="7270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5" name="Line 726"/>
          <p:cNvSpPr>
            <a:spLocks noChangeShapeType="1"/>
          </p:cNvSpPr>
          <p:nvPr/>
        </p:nvSpPr>
        <p:spPr bwMode="auto">
          <a:xfrm flipV="1">
            <a:off x="7272338" y="4078288"/>
            <a:ext cx="227012" cy="4365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6" name="Line 727"/>
          <p:cNvSpPr>
            <a:spLocks noChangeShapeType="1"/>
          </p:cNvSpPr>
          <p:nvPr/>
        </p:nvSpPr>
        <p:spPr bwMode="auto">
          <a:xfrm>
            <a:off x="8345488" y="2859088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7" name="Line 728"/>
          <p:cNvSpPr>
            <a:spLocks noChangeShapeType="1"/>
          </p:cNvSpPr>
          <p:nvPr/>
        </p:nvSpPr>
        <p:spPr bwMode="auto">
          <a:xfrm>
            <a:off x="6289675" y="2406650"/>
            <a:ext cx="152400" cy="952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8" name="Oval 407"/>
          <p:cNvSpPr>
            <a:spLocks noChangeArrowheads="1"/>
          </p:cNvSpPr>
          <p:nvPr/>
        </p:nvSpPr>
        <p:spPr bwMode="auto">
          <a:xfrm>
            <a:off x="6354763" y="2565400"/>
            <a:ext cx="387350" cy="95250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9499" name="Rectangle 410"/>
          <p:cNvSpPr>
            <a:spLocks noChangeArrowheads="1"/>
          </p:cNvSpPr>
          <p:nvPr/>
        </p:nvSpPr>
        <p:spPr bwMode="auto">
          <a:xfrm>
            <a:off x="6354763" y="2555875"/>
            <a:ext cx="388937" cy="58738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9500" name="Oval 411"/>
          <p:cNvSpPr>
            <a:spLocks noChangeArrowheads="1"/>
          </p:cNvSpPr>
          <p:nvPr/>
        </p:nvSpPr>
        <p:spPr bwMode="auto">
          <a:xfrm>
            <a:off x="6353175" y="2490788"/>
            <a:ext cx="387350" cy="111125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grpSp>
        <p:nvGrpSpPr>
          <p:cNvPr id="19501" name="Group 732"/>
          <p:cNvGrpSpPr>
            <a:grpSpLocks/>
          </p:cNvGrpSpPr>
          <p:nvPr/>
        </p:nvGrpSpPr>
        <p:grpSpPr bwMode="auto">
          <a:xfrm>
            <a:off x="6430963" y="2519363"/>
            <a:ext cx="219075" cy="52387"/>
            <a:chOff x="2468" y="1332"/>
            <a:chExt cx="310" cy="60"/>
          </a:xfrm>
        </p:grpSpPr>
        <p:sp>
          <p:nvSpPr>
            <p:cNvPr id="19906" name="Freeform 733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0"/>
                <a:gd name="T13" fmla="*/ 0 h 60"/>
                <a:gd name="T14" fmla="*/ 310 w 310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12700" cmpd="sng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07" name="Freeform 734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60"/>
                <a:gd name="T14" fmla="*/ 282 w 282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12700" cmpd="sng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02" name="Line 735"/>
          <p:cNvSpPr>
            <a:spLocks noChangeShapeType="1"/>
          </p:cNvSpPr>
          <p:nvPr/>
        </p:nvSpPr>
        <p:spPr bwMode="auto">
          <a:xfrm>
            <a:off x="6354763" y="2543175"/>
            <a:ext cx="0" cy="746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3" name="Line 736"/>
          <p:cNvSpPr>
            <a:spLocks noChangeShapeType="1"/>
          </p:cNvSpPr>
          <p:nvPr/>
        </p:nvSpPr>
        <p:spPr bwMode="auto">
          <a:xfrm>
            <a:off x="6740525" y="2546350"/>
            <a:ext cx="0" cy="730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04" name="Group 737"/>
          <p:cNvGrpSpPr>
            <a:grpSpLocks/>
          </p:cNvGrpSpPr>
          <p:nvPr/>
        </p:nvGrpSpPr>
        <p:grpSpPr bwMode="auto">
          <a:xfrm>
            <a:off x="7202488" y="2493963"/>
            <a:ext cx="390525" cy="174625"/>
            <a:chOff x="4334" y="1470"/>
            <a:chExt cx="246" cy="107"/>
          </a:xfrm>
        </p:grpSpPr>
        <p:sp>
          <p:nvSpPr>
            <p:cNvPr id="1989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9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90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901" name="Group 741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904" name="Freeform 74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05" name="Freeform 74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902" name="Line 744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03" name="Line 745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5" name="Group 746"/>
          <p:cNvGrpSpPr>
            <a:grpSpLocks/>
          </p:cNvGrpSpPr>
          <p:nvPr/>
        </p:nvGrpSpPr>
        <p:grpSpPr bwMode="auto">
          <a:xfrm>
            <a:off x="7213600" y="2757488"/>
            <a:ext cx="390525" cy="174625"/>
            <a:chOff x="4334" y="1470"/>
            <a:chExt cx="246" cy="107"/>
          </a:xfrm>
        </p:grpSpPr>
        <p:sp>
          <p:nvSpPr>
            <p:cNvPr id="1989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9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9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93" name="Group 750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96" name="Freeform 75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97" name="Freeform 75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94" name="Line 753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95" name="Line 754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6" name="Group 755"/>
          <p:cNvGrpSpPr>
            <a:grpSpLocks/>
          </p:cNvGrpSpPr>
          <p:nvPr/>
        </p:nvGrpSpPr>
        <p:grpSpPr bwMode="auto">
          <a:xfrm>
            <a:off x="7762875" y="2759075"/>
            <a:ext cx="390525" cy="174625"/>
            <a:chOff x="4334" y="1470"/>
            <a:chExt cx="246" cy="107"/>
          </a:xfrm>
        </p:grpSpPr>
        <p:sp>
          <p:nvSpPr>
            <p:cNvPr id="1988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8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8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85" name="Group 759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88" name="Freeform 76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89" name="Freeform 76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86" name="Line 762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87" name="Line 763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7" name="Group 764"/>
          <p:cNvGrpSpPr>
            <a:grpSpLocks/>
          </p:cNvGrpSpPr>
          <p:nvPr/>
        </p:nvGrpSpPr>
        <p:grpSpPr bwMode="auto">
          <a:xfrm>
            <a:off x="7689850" y="2393950"/>
            <a:ext cx="390525" cy="174625"/>
            <a:chOff x="4334" y="1470"/>
            <a:chExt cx="246" cy="107"/>
          </a:xfrm>
        </p:grpSpPr>
        <p:sp>
          <p:nvSpPr>
            <p:cNvPr id="1987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7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7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77" name="Group 768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80" name="Freeform 76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81" name="Freeform 77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78" name="Line 771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79" name="Line 772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8" name="Group 773"/>
          <p:cNvGrpSpPr>
            <a:grpSpLocks/>
          </p:cNvGrpSpPr>
          <p:nvPr/>
        </p:nvGrpSpPr>
        <p:grpSpPr bwMode="auto">
          <a:xfrm>
            <a:off x="7737475" y="3644900"/>
            <a:ext cx="492125" cy="206375"/>
            <a:chOff x="4334" y="1470"/>
            <a:chExt cx="246" cy="107"/>
          </a:xfrm>
        </p:grpSpPr>
        <p:sp>
          <p:nvSpPr>
            <p:cNvPr id="1986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6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6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69" name="Group 777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72" name="Freeform 77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73" name="Freeform 77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70" name="Line 780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71" name="Line 781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09" name="Line 782"/>
          <p:cNvSpPr>
            <a:spLocks noChangeShapeType="1"/>
          </p:cNvSpPr>
          <p:nvPr/>
        </p:nvSpPr>
        <p:spPr bwMode="auto">
          <a:xfrm>
            <a:off x="6427788" y="3743325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10" name="Group 783"/>
          <p:cNvGrpSpPr>
            <a:grpSpLocks/>
          </p:cNvGrpSpPr>
          <p:nvPr/>
        </p:nvGrpSpPr>
        <p:grpSpPr bwMode="auto">
          <a:xfrm>
            <a:off x="7086600" y="3632200"/>
            <a:ext cx="492125" cy="206375"/>
            <a:chOff x="4334" y="1470"/>
            <a:chExt cx="246" cy="107"/>
          </a:xfrm>
        </p:grpSpPr>
        <p:sp>
          <p:nvSpPr>
            <p:cNvPr id="1985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5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6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61" name="Group 787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64" name="Freeform 78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65" name="Freeform 78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62" name="Line 790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63" name="Line 791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1" name="Group 792"/>
          <p:cNvGrpSpPr>
            <a:grpSpLocks/>
          </p:cNvGrpSpPr>
          <p:nvPr/>
        </p:nvGrpSpPr>
        <p:grpSpPr bwMode="auto">
          <a:xfrm>
            <a:off x="7397750" y="3911600"/>
            <a:ext cx="492125" cy="206375"/>
            <a:chOff x="4334" y="1470"/>
            <a:chExt cx="246" cy="107"/>
          </a:xfrm>
        </p:grpSpPr>
        <p:sp>
          <p:nvSpPr>
            <p:cNvPr id="1985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5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5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53" name="Group 796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56" name="Freeform 79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57" name="Freeform 79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54" name="Line 799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55" name="Line 800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2" name="Group 801"/>
          <p:cNvGrpSpPr>
            <a:grpSpLocks/>
          </p:cNvGrpSpPr>
          <p:nvPr/>
        </p:nvGrpSpPr>
        <p:grpSpPr bwMode="auto">
          <a:xfrm>
            <a:off x="7591425" y="4806950"/>
            <a:ext cx="622300" cy="244475"/>
            <a:chOff x="4334" y="1470"/>
            <a:chExt cx="246" cy="107"/>
          </a:xfrm>
        </p:grpSpPr>
        <p:sp>
          <p:nvSpPr>
            <p:cNvPr id="1984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4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4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45" name="Group 805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48" name="Freeform 80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49" name="Freeform 80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46" name="Line 808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47" name="Line 809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3" name="Group 810"/>
          <p:cNvGrpSpPr>
            <a:grpSpLocks/>
          </p:cNvGrpSpPr>
          <p:nvPr/>
        </p:nvGrpSpPr>
        <p:grpSpPr bwMode="auto">
          <a:xfrm>
            <a:off x="6965950" y="4508500"/>
            <a:ext cx="622300" cy="244475"/>
            <a:chOff x="4334" y="1470"/>
            <a:chExt cx="246" cy="107"/>
          </a:xfrm>
        </p:grpSpPr>
        <p:sp>
          <p:nvSpPr>
            <p:cNvPr id="1983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3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3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37" name="Group 814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40" name="Freeform 81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41" name="Freeform 81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38" name="Line 817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39" name="Line 818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4" name="Group 819"/>
          <p:cNvGrpSpPr>
            <a:grpSpLocks/>
          </p:cNvGrpSpPr>
          <p:nvPr/>
        </p:nvGrpSpPr>
        <p:grpSpPr bwMode="auto">
          <a:xfrm>
            <a:off x="6242050" y="4851400"/>
            <a:ext cx="622300" cy="244475"/>
            <a:chOff x="4334" y="1470"/>
            <a:chExt cx="246" cy="107"/>
          </a:xfrm>
        </p:grpSpPr>
        <p:sp>
          <p:nvSpPr>
            <p:cNvPr id="1982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2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2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29" name="Group 823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32" name="Freeform 82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33" name="Freeform 82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30" name="Line 826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31" name="Line 827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5" name="Group 828"/>
          <p:cNvGrpSpPr>
            <a:grpSpLocks/>
          </p:cNvGrpSpPr>
          <p:nvPr/>
        </p:nvGrpSpPr>
        <p:grpSpPr bwMode="auto">
          <a:xfrm>
            <a:off x="6051550" y="3644900"/>
            <a:ext cx="390525" cy="171450"/>
            <a:chOff x="4334" y="1470"/>
            <a:chExt cx="246" cy="107"/>
          </a:xfrm>
        </p:grpSpPr>
        <p:sp>
          <p:nvSpPr>
            <p:cNvPr id="1981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1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2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21" name="Group 832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24" name="Freeform 8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25" name="Freeform 8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22" name="Line 835"/>
            <p:cNvSpPr>
              <a:spLocks noChangeShapeType="1"/>
            </p:cNvSpPr>
            <p:nvPr/>
          </p:nvSpPr>
          <p:spPr bwMode="auto">
            <a:xfrm>
              <a:off x="4335" y="1503"/>
              <a:ext cx="0" cy="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23" name="Line 836"/>
            <p:cNvSpPr>
              <a:spLocks noChangeShapeType="1"/>
            </p:cNvSpPr>
            <p:nvPr/>
          </p:nvSpPr>
          <p:spPr bwMode="auto">
            <a:xfrm>
              <a:off x="4578" y="1505"/>
              <a:ext cx="0" cy="4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6" name="Group 837"/>
          <p:cNvGrpSpPr>
            <a:grpSpLocks/>
          </p:cNvGrpSpPr>
          <p:nvPr/>
        </p:nvGrpSpPr>
        <p:grpSpPr bwMode="auto">
          <a:xfrm>
            <a:off x="6024563" y="1744663"/>
            <a:ext cx="517525" cy="508000"/>
            <a:chOff x="2922" y="1424"/>
            <a:chExt cx="326" cy="320"/>
          </a:xfrm>
        </p:grpSpPr>
        <p:sp>
          <p:nvSpPr>
            <p:cNvPr id="19810" name="Oval 838"/>
            <p:cNvSpPr>
              <a:spLocks noChangeArrowheads="1"/>
            </p:cNvSpPr>
            <p:nvPr/>
          </p:nvSpPr>
          <p:spPr bwMode="auto">
            <a:xfrm>
              <a:off x="2922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811" name="Group 839"/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19813" name="Oval 840"/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14" name="Oval 841"/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15" name="Oval 842"/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16" name="Oval 843"/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17" name="Freeform 844"/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80"/>
                  <a:gd name="T31" fmla="*/ 0 h 956"/>
                  <a:gd name="T32" fmla="*/ 1180 w 1180"/>
                  <a:gd name="T33" fmla="*/ 956 h 95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cmpd="sng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12" name="Freeform 845"/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80"/>
                <a:gd name="T31" fmla="*/ 0 h 956"/>
                <a:gd name="T32" fmla="*/ 1180 w 1180"/>
                <a:gd name="T33" fmla="*/ 956 h 95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7" name="Group 846"/>
          <p:cNvGrpSpPr>
            <a:grpSpLocks/>
          </p:cNvGrpSpPr>
          <p:nvPr/>
        </p:nvGrpSpPr>
        <p:grpSpPr bwMode="auto">
          <a:xfrm>
            <a:off x="6138863" y="1989138"/>
            <a:ext cx="282575" cy="477837"/>
            <a:chOff x="3748" y="1253"/>
            <a:chExt cx="178" cy="301"/>
          </a:xfrm>
        </p:grpSpPr>
        <p:sp>
          <p:nvSpPr>
            <p:cNvPr id="19794" name="Line 270"/>
            <p:cNvSpPr>
              <a:spLocks noChangeShapeType="1"/>
            </p:cNvSpPr>
            <p:nvPr/>
          </p:nvSpPr>
          <p:spPr bwMode="auto">
            <a:xfrm flipH="1">
              <a:off x="3748" y="1276"/>
              <a:ext cx="89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5" name="Line 271"/>
            <p:cNvSpPr>
              <a:spLocks noChangeShapeType="1"/>
            </p:cNvSpPr>
            <p:nvPr/>
          </p:nvSpPr>
          <p:spPr bwMode="auto">
            <a:xfrm>
              <a:off x="3837" y="1276"/>
              <a:ext cx="89" cy="2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6" name="Line 272"/>
            <p:cNvSpPr>
              <a:spLocks noChangeShapeType="1"/>
            </p:cNvSpPr>
            <p:nvPr/>
          </p:nvSpPr>
          <p:spPr bwMode="auto">
            <a:xfrm>
              <a:off x="3748" y="1527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7" name="Line 273"/>
            <p:cNvSpPr>
              <a:spLocks noChangeShapeType="1"/>
            </p:cNvSpPr>
            <p:nvPr/>
          </p:nvSpPr>
          <p:spPr bwMode="auto">
            <a:xfrm flipH="1">
              <a:off x="3837" y="1527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8" name="Line 274"/>
            <p:cNvSpPr>
              <a:spLocks noChangeShapeType="1"/>
            </p:cNvSpPr>
            <p:nvPr/>
          </p:nvSpPr>
          <p:spPr bwMode="auto">
            <a:xfrm>
              <a:off x="3837" y="1282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9" name="Line 275"/>
            <p:cNvSpPr>
              <a:spLocks noChangeShapeType="1"/>
            </p:cNvSpPr>
            <p:nvPr/>
          </p:nvSpPr>
          <p:spPr bwMode="auto">
            <a:xfrm flipV="1">
              <a:off x="3748" y="1501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0" name="Line 276"/>
            <p:cNvSpPr>
              <a:spLocks noChangeShapeType="1"/>
            </p:cNvSpPr>
            <p:nvPr/>
          </p:nvSpPr>
          <p:spPr bwMode="auto">
            <a:xfrm flipH="1" flipV="1">
              <a:off x="3837" y="1501"/>
              <a:ext cx="89" cy="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1" name="Line 277"/>
            <p:cNvSpPr>
              <a:spLocks noChangeShapeType="1"/>
            </p:cNvSpPr>
            <p:nvPr/>
          </p:nvSpPr>
          <p:spPr bwMode="auto">
            <a:xfrm>
              <a:off x="3786" y="1418"/>
              <a:ext cx="51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2" name="Line 278"/>
            <p:cNvSpPr>
              <a:spLocks noChangeShapeType="1"/>
            </p:cNvSpPr>
            <p:nvPr/>
          </p:nvSpPr>
          <p:spPr bwMode="auto">
            <a:xfrm flipV="1">
              <a:off x="3837" y="1418"/>
              <a:ext cx="54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3" name="Line 279"/>
            <p:cNvSpPr>
              <a:spLocks noChangeShapeType="1"/>
            </p:cNvSpPr>
            <p:nvPr/>
          </p:nvSpPr>
          <p:spPr bwMode="auto">
            <a:xfrm>
              <a:off x="3768" y="1455"/>
              <a:ext cx="66" cy="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4" name="Line 280"/>
            <p:cNvSpPr>
              <a:spLocks noChangeShapeType="1"/>
            </p:cNvSpPr>
            <p:nvPr/>
          </p:nvSpPr>
          <p:spPr bwMode="auto">
            <a:xfrm flipV="1">
              <a:off x="3837" y="1461"/>
              <a:ext cx="6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5" name="Line 281"/>
            <p:cNvSpPr>
              <a:spLocks noChangeShapeType="1"/>
            </p:cNvSpPr>
            <p:nvPr/>
          </p:nvSpPr>
          <p:spPr bwMode="auto">
            <a:xfrm flipV="1">
              <a:off x="3837" y="1381"/>
              <a:ext cx="34" cy="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6" name="Line 282"/>
            <p:cNvSpPr>
              <a:spLocks noChangeShapeType="1"/>
            </p:cNvSpPr>
            <p:nvPr/>
          </p:nvSpPr>
          <p:spPr bwMode="auto">
            <a:xfrm flipV="1">
              <a:off x="3837" y="1329"/>
              <a:ext cx="21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7" name="Line 283"/>
            <p:cNvSpPr>
              <a:spLocks noChangeShapeType="1"/>
            </p:cNvSpPr>
            <p:nvPr/>
          </p:nvSpPr>
          <p:spPr bwMode="auto">
            <a:xfrm>
              <a:off x="3798" y="1377"/>
              <a:ext cx="42" cy="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8" name="Line 284"/>
            <p:cNvSpPr>
              <a:spLocks noChangeShapeType="1"/>
            </p:cNvSpPr>
            <p:nvPr/>
          </p:nvSpPr>
          <p:spPr bwMode="auto">
            <a:xfrm>
              <a:off x="3817" y="1327"/>
              <a:ext cx="24" cy="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9" name="Oval 862"/>
            <p:cNvSpPr>
              <a:spLocks noChangeArrowheads="1"/>
            </p:cNvSpPr>
            <p:nvPr/>
          </p:nvSpPr>
          <p:spPr bwMode="auto">
            <a:xfrm>
              <a:off x="3821" y="1253"/>
              <a:ext cx="30" cy="2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518" name="Group 863"/>
          <p:cNvGrpSpPr>
            <a:grpSpLocks/>
          </p:cNvGrpSpPr>
          <p:nvPr/>
        </p:nvGrpSpPr>
        <p:grpSpPr bwMode="auto">
          <a:xfrm>
            <a:off x="5318125" y="1997075"/>
            <a:ext cx="519113" cy="128588"/>
            <a:chOff x="2199" y="955"/>
            <a:chExt cx="2547" cy="506"/>
          </a:xfrm>
        </p:grpSpPr>
        <p:sp>
          <p:nvSpPr>
            <p:cNvPr id="19788" name="Freeform 864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9" name="Freeform 865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90" name="Freeform 866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91" name="Freeform 867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92" name="Freeform 868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93" name="Freeform 869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9" name="Group 870"/>
          <p:cNvGrpSpPr>
            <a:grpSpLocks/>
          </p:cNvGrpSpPr>
          <p:nvPr/>
        </p:nvGrpSpPr>
        <p:grpSpPr bwMode="auto">
          <a:xfrm>
            <a:off x="5541963" y="1539875"/>
            <a:ext cx="519112" cy="128588"/>
            <a:chOff x="2199" y="955"/>
            <a:chExt cx="2547" cy="506"/>
          </a:xfrm>
        </p:grpSpPr>
        <p:sp>
          <p:nvSpPr>
            <p:cNvPr id="19782" name="Freeform 87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3" name="Freeform 87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4" name="Freeform 87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5" name="Freeform 87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6" name="Freeform 87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7" name="Freeform 87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20" name="Line 877"/>
          <p:cNvSpPr>
            <a:spLocks noChangeShapeType="1"/>
          </p:cNvSpPr>
          <p:nvPr/>
        </p:nvSpPr>
        <p:spPr bwMode="auto">
          <a:xfrm flipH="1" flipV="1">
            <a:off x="5626100" y="2027238"/>
            <a:ext cx="39688" cy="6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21" name="Group 885"/>
          <p:cNvGrpSpPr>
            <a:grpSpLocks/>
          </p:cNvGrpSpPr>
          <p:nvPr/>
        </p:nvGrpSpPr>
        <p:grpSpPr bwMode="auto">
          <a:xfrm>
            <a:off x="5392738" y="3527425"/>
            <a:ext cx="519112" cy="128588"/>
            <a:chOff x="2199" y="955"/>
            <a:chExt cx="2547" cy="506"/>
          </a:xfrm>
        </p:grpSpPr>
        <p:sp>
          <p:nvSpPr>
            <p:cNvPr id="19776" name="Freeform 886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7" name="Freeform 887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8" name="Freeform 888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9" name="Freeform 889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0" name="Freeform 890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1" name="Freeform 891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22" name="Line 892"/>
          <p:cNvSpPr>
            <a:spLocks noChangeShapeType="1"/>
          </p:cNvSpPr>
          <p:nvPr/>
        </p:nvSpPr>
        <p:spPr bwMode="auto">
          <a:xfrm>
            <a:off x="5778500" y="3119438"/>
            <a:ext cx="20638" cy="55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23" name="Group 893"/>
          <p:cNvGrpSpPr>
            <a:grpSpLocks/>
          </p:cNvGrpSpPr>
          <p:nvPr/>
        </p:nvGrpSpPr>
        <p:grpSpPr bwMode="auto">
          <a:xfrm>
            <a:off x="7007225" y="5005388"/>
            <a:ext cx="519113" cy="128587"/>
            <a:chOff x="2199" y="955"/>
            <a:chExt cx="2547" cy="506"/>
          </a:xfrm>
        </p:grpSpPr>
        <p:sp>
          <p:nvSpPr>
            <p:cNvPr id="19770" name="Freeform 894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1" name="Freeform 895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2" name="Freeform 896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3" name="Freeform 897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4" name="Freeform 898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5" name="Freeform 899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24" name="Group 900"/>
          <p:cNvGrpSpPr>
            <a:grpSpLocks/>
          </p:cNvGrpSpPr>
          <p:nvPr/>
        </p:nvGrpSpPr>
        <p:grpSpPr bwMode="auto">
          <a:xfrm>
            <a:off x="7245350" y="5429250"/>
            <a:ext cx="519113" cy="128588"/>
            <a:chOff x="2199" y="955"/>
            <a:chExt cx="2547" cy="506"/>
          </a:xfrm>
        </p:grpSpPr>
        <p:sp>
          <p:nvSpPr>
            <p:cNvPr id="19764" name="Freeform 90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5" name="Freeform 90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6" name="Freeform 90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7" name="Freeform 90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8" name="Freeform 90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9" name="Freeform 90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25" name="Group 907"/>
          <p:cNvGrpSpPr>
            <a:grpSpLocks/>
          </p:cNvGrpSpPr>
          <p:nvPr/>
        </p:nvGrpSpPr>
        <p:grpSpPr bwMode="auto">
          <a:xfrm>
            <a:off x="6821488" y="5408613"/>
            <a:ext cx="519112" cy="128587"/>
            <a:chOff x="2199" y="955"/>
            <a:chExt cx="2547" cy="506"/>
          </a:xfrm>
        </p:grpSpPr>
        <p:sp>
          <p:nvSpPr>
            <p:cNvPr id="19758" name="Freeform 908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59" name="Freeform 909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0" name="Freeform 910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1" name="Freeform 911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2" name="Freeform 912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3" name="Freeform 913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526" name="Picture 915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25" y="5056188"/>
            <a:ext cx="433388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27" name="Picture 916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830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28" name="Line 918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529" name="Group 919"/>
          <p:cNvGrpSpPr>
            <a:grpSpLocks/>
          </p:cNvGrpSpPr>
          <p:nvPr/>
        </p:nvGrpSpPr>
        <p:grpSpPr bwMode="auto">
          <a:xfrm flipH="1">
            <a:off x="5775325" y="4533900"/>
            <a:ext cx="414338" cy="373063"/>
            <a:chOff x="2839" y="3501"/>
            <a:chExt cx="755" cy="803"/>
          </a:xfrm>
        </p:grpSpPr>
        <p:pic>
          <p:nvPicPr>
            <p:cNvPr id="19756" name="Picture 920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57" name="Freeform 92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9530" name="Group 922"/>
          <p:cNvGrpSpPr>
            <a:grpSpLocks/>
          </p:cNvGrpSpPr>
          <p:nvPr/>
        </p:nvGrpSpPr>
        <p:grpSpPr bwMode="auto">
          <a:xfrm flipH="1">
            <a:off x="5457825" y="4954588"/>
            <a:ext cx="482600" cy="406400"/>
            <a:chOff x="2839" y="3501"/>
            <a:chExt cx="755" cy="803"/>
          </a:xfrm>
        </p:grpSpPr>
        <p:pic>
          <p:nvPicPr>
            <p:cNvPr id="19754" name="Picture 923" descr="desktop_computer_stylized_medium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55" name="Freeform 92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9531" name="Group 925"/>
          <p:cNvGrpSpPr>
            <a:grpSpLocks/>
          </p:cNvGrpSpPr>
          <p:nvPr/>
        </p:nvGrpSpPr>
        <p:grpSpPr bwMode="auto">
          <a:xfrm flipH="1">
            <a:off x="5935663" y="5256213"/>
            <a:ext cx="427037" cy="349250"/>
            <a:chOff x="2839" y="3501"/>
            <a:chExt cx="755" cy="803"/>
          </a:xfrm>
        </p:grpSpPr>
        <p:pic>
          <p:nvPicPr>
            <p:cNvPr id="19752" name="Picture 926" descr="desktop_computer_stylized_medium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53" name="Freeform 927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9532" name="Group 928"/>
          <p:cNvGrpSpPr>
            <a:grpSpLocks/>
          </p:cNvGrpSpPr>
          <p:nvPr/>
        </p:nvGrpSpPr>
        <p:grpSpPr bwMode="auto">
          <a:xfrm>
            <a:off x="6550025" y="5238750"/>
            <a:ext cx="427038" cy="350838"/>
            <a:chOff x="2839" y="3501"/>
            <a:chExt cx="755" cy="803"/>
          </a:xfrm>
        </p:grpSpPr>
        <p:pic>
          <p:nvPicPr>
            <p:cNvPr id="19750" name="Picture 929" descr="desktop_computer_stylized_medium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51" name="Freeform 930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19533" name="Picture 931" descr="car_icon_small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1720850"/>
            <a:ext cx="8493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534" name="Group 932"/>
          <p:cNvGrpSpPr>
            <a:grpSpLocks/>
          </p:cNvGrpSpPr>
          <p:nvPr/>
        </p:nvGrpSpPr>
        <p:grpSpPr bwMode="auto">
          <a:xfrm>
            <a:off x="5618163" y="1558925"/>
            <a:ext cx="415925" cy="373063"/>
            <a:chOff x="2756" y="1866"/>
            <a:chExt cx="462" cy="463"/>
          </a:xfrm>
        </p:grpSpPr>
        <p:pic>
          <p:nvPicPr>
            <p:cNvPr id="19748" name="Picture 933" descr="iphone_stylized_small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749" name="Picture 934" descr="antenna_radiation_stylize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6" y="1866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9535" name="Picture 936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50577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536" name="Group 938"/>
          <p:cNvGrpSpPr>
            <a:grpSpLocks/>
          </p:cNvGrpSpPr>
          <p:nvPr/>
        </p:nvGrpSpPr>
        <p:grpSpPr bwMode="auto">
          <a:xfrm>
            <a:off x="8240713" y="5002213"/>
            <a:ext cx="227012" cy="481012"/>
            <a:chOff x="4140" y="429"/>
            <a:chExt cx="1425" cy="2396"/>
          </a:xfrm>
        </p:grpSpPr>
        <p:sp>
          <p:nvSpPr>
            <p:cNvPr id="19716" name="Freeform 93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7" name="Rectangle 940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18" name="Freeform 94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9" name="Freeform 94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20" name="Rectangle 943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721" name="Group 94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746" name="AutoShape 94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47" name="AutoShape 946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722" name="Rectangle 947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723" name="Group 94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744" name="AutoShape 949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45" name="AutoShape 950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724" name="Rectangle 951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25" name="Rectangle 952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726" name="Group 95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742" name="AutoShape 954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43" name="AutoShape 955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727" name="Freeform 95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728" name="Group 95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740" name="AutoShape 958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41" name="AutoShape 959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729" name="Rectangle 960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0" name="Freeform 96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31" name="Freeform 96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32" name="Oval 963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3" name="Freeform 96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34" name="AutoShape 965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5" name="AutoShape 966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6" name="Oval 967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7" name="Oval 968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19738" name="Oval 969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9" name="Rectangle 970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537" name="Group 971"/>
          <p:cNvGrpSpPr>
            <a:grpSpLocks/>
          </p:cNvGrpSpPr>
          <p:nvPr/>
        </p:nvGrpSpPr>
        <p:grpSpPr bwMode="auto">
          <a:xfrm>
            <a:off x="7924800" y="5303838"/>
            <a:ext cx="227013" cy="481012"/>
            <a:chOff x="4140" y="429"/>
            <a:chExt cx="1425" cy="2396"/>
          </a:xfrm>
        </p:grpSpPr>
        <p:sp>
          <p:nvSpPr>
            <p:cNvPr id="19684" name="Freeform 97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5" name="Rectangle 973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86" name="Freeform 97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7" name="Freeform 97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8" name="Rectangle 976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689" name="Group 97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714" name="AutoShape 97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15" name="AutoShape 979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690" name="Rectangle 980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691" name="Group 98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712" name="AutoShape 982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13" name="AutoShape 983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692" name="Rectangle 984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93" name="Rectangle 985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694" name="Group 98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710" name="AutoShape 987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11" name="AutoShape 988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695" name="Freeform 98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696" name="Group 99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708" name="AutoShape 991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09" name="AutoShape 992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697" name="Rectangle 993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98" name="Freeform 99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9" name="Freeform 99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0" name="Oval 996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1" name="Freeform 99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2" name="AutoShape 998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3" name="AutoShape 999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4" name="Oval 1000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5" name="Oval 1001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19706" name="Oval 1002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7" name="Rectangle 1003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538" name="Group 1004"/>
          <p:cNvGrpSpPr>
            <a:grpSpLocks/>
          </p:cNvGrpSpPr>
          <p:nvPr/>
        </p:nvGrpSpPr>
        <p:grpSpPr bwMode="auto">
          <a:xfrm>
            <a:off x="5302250" y="2043113"/>
            <a:ext cx="534988" cy="407987"/>
            <a:chOff x="877" y="1008"/>
            <a:chExt cx="2747" cy="2591"/>
          </a:xfrm>
        </p:grpSpPr>
        <p:pic>
          <p:nvPicPr>
            <p:cNvPr id="19661" name="Picture 1005" descr="antenna_stylized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662" name="Picture 1006" descr="laptop_keyboar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63" name="Freeform 100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664" name="Picture 1008" descr="screen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65" name="Freeform 100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6" name="Freeform 101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7" name="Freeform 101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8" name="Freeform 101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" name="Freeform 101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0" name="Freeform 101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671" name="Group 101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9678" name="Freeform 101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79" name="Freeform 101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0" name="Freeform 101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1" name="Freeform 101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2" name="Freeform 102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3" name="Freeform 102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72" name="Freeform 102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3" name="Freeform 102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4" name="Freeform 102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5" name="Freeform 102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6" name="Freeform 102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7" name="Freeform 102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539" name="Picture 1030" descr="laptop_keyboard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6897688" y="5735638"/>
            <a:ext cx="3889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40" name="Freeform 1031"/>
          <p:cNvSpPr>
            <a:spLocks/>
          </p:cNvSpPr>
          <p:nvPr/>
        </p:nvSpPr>
        <p:spPr bwMode="auto">
          <a:xfrm>
            <a:off x="7026275" y="5580063"/>
            <a:ext cx="312738" cy="207962"/>
          </a:xfrm>
          <a:custGeom>
            <a:avLst/>
            <a:gdLst>
              <a:gd name="T0" fmla="*/ 2147483647 w 2982"/>
              <a:gd name="T1" fmla="*/ 0 h 2442"/>
              <a:gd name="T2" fmla="*/ 0 w 2982"/>
              <a:gd name="T3" fmla="*/ 2147483647 h 2442"/>
              <a:gd name="T4" fmla="*/ 2147483647 w 2982"/>
              <a:gd name="T5" fmla="*/ 2147483647 h 2442"/>
              <a:gd name="T6" fmla="*/ 2147483647 w 2982"/>
              <a:gd name="T7" fmla="*/ 2147483647 h 2442"/>
              <a:gd name="T8" fmla="*/ 214748364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9541" name="Picture 1032" descr="screen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5584825"/>
            <a:ext cx="28416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42" name="Freeform 1033"/>
          <p:cNvSpPr>
            <a:spLocks/>
          </p:cNvSpPr>
          <p:nvPr/>
        </p:nvSpPr>
        <p:spPr bwMode="auto">
          <a:xfrm>
            <a:off x="7083425" y="5573713"/>
            <a:ext cx="265113" cy="39687"/>
          </a:xfrm>
          <a:custGeom>
            <a:avLst/>
            <a:gdLst>
              <a:gd name="T0" fmla="*/ 2147483647 w 2528"/>
              <a:gd name="T1" fmla="*/ 0 h 455"/>
              <a:gd name="T2" fmla="*/ 2147483647 w 2528"/>
              <a:gd name="T3" fmla="*/ 2147483647 h 455"/>
              <a:gd name="T4" fmla="*/ 2147483647 w 2528"/>
              <a:gd name="T5" fmla="*/ 2147483647 h 455"/>
              <a:gd name="T6" fmla="*/ 0 w 2528"/>
              <a:gd name="T7" fmla="*/ 2147483647 h 455"/>
              <a:gd name="T8" fmla="*/ 2147483647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3" name="Freeform 1034"/>
          <p:cNvSpPr>
            <a:spLocks/>
          </p:cNvSpPr>
          <p:nvPr/>
        </p:nvSpPr>
        <p:spPr bwMode="auto">
          <a:xfrm>
            <a:off x="7024688" y="5573713"/>
            <a:ext cx="73025" cy="161925"/>
          </a:xfrm>
          <a:custGeom>
            <a:avLst/>
            <a:gdLst>
              <a:gd name="T0" fmla="*/ 2147483647 w 702"/>
              <a:gd name="T1" fmla="*/ 0 h 1893"/>
              <a:gd name="T2" fmla="*/ 0 w 702"/>
              <a:gd name="T3" fmla="*/ 2147483647 h 1893"/>
              <a:gd name="T4" fmla="*/ 2147483647 w 702"/>
              <a:gd name="T5" fmla="*/ 2147483647 h 1893"/>
              <a:gd name="T6" fmla="*/ 2147483647 w 702"/>
              <a:gd name="T7" fmla="*/ 2147483647 h 1893"/>
              <a:gd name="T8" fmla="*/ 2147483647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4" name="Freeform 1035"/>
          <p:cNvSpPr>
            <a:spLocks/>
          </p:cNvSpPr>
          <p:nvPr/>
        </p:nvSpPr>
        <p:spPr bwMode="auto">
          <a:xfrm>
            <a:off x="7267575" y="5602288"/>
            <a:ext cx="79375" cy="185737"/>
          </a:xfrm>
          <a:custGeom>
            <a:avLst/>
            <a:gdLst>
              <a:gd name="T0" fmla="*/ 2147483647 w 756"/>
              <a:gd name="T1" fmla="*/ 0 h 2184"/>
              <a:gd name="T2" fmla="*/ 2147483647 w 756"/>
              <a:gd name="T3" fmla="*/ 2147483647 h 2184"/>
              <a:gd name="T4" fmla="*/ 0 w 756"/>
              <a:gd name="T5" fmla="*/ 2147483647 h 2184"/>
              <a:gd name="T6" fmla="*/ 2147483647 w 756"/>
              <a:gd name="T7" fmla="*/ 2147483647 h 2184"/>
              <a:gd name="T8" fmla="*/ 214748364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5" name="Freeform 1036"/>
          <p:cNvSpPr>
            <a:spLocks/>
          </p:cNvSpPr>
          <p:nvPr/>
        </p:nvSpPr>
        <p:spPr bwMode="auto">
          <a:xfrm>
            <a:off x="7023100" y="5726113"/>
            <a:ext cx="290513" cy="63500"/>
          </a:xfrm>
          <a:custGeom>
            <a:avLst/>
            <a:gdLst>
              <a:gd name="T0" fmla="*/ 2147483647 w 2773"/>
              <a:gd name="T1" fmla="*/ 0 h 738"/>
              <a:gd name="T2" fmla="*/ 0 w 2773"/>
              <a:gd name="T3" fmla="*/ 2147483647 h 738"/>
              <a:gd name="T4" fmla="*/ 2147483647 w 2773"/>
              <a:gd name="T5" fmla="*/ 2147483647 h 738"/>
              <a:gd name="T6" fmla="*/ 2147483647 w 2773"/>
              <a:gd name="T7" fmla="*/ 2147483647 h 738"/>
              <a:gd name="T8" fmla="*/ 2147483647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6" name="Freeform 1037"/>
          <p:cNvSpPr>
            <a:spLocks/>
          </p:cNvSpPr>
          <p:nvPr/>
        </p:nvSpPr>
        <p:spPr bwMode="auto">
          <a:xfrm>
            <a:off x="7275513" y="5603875"/>
            <a:ext cx="74612" cy="187325"/>
          </a:xfrm>
          <a:custGeom>
            <a:avLst/>
            <a:gdLst>
              <a:gd name="T0" fmla="*/ 2147483647 w 637"/>
              <a:gd name="T1" fmla="*/ 0 h 1659"/>
              <a:gd name="T2" fmla="*/ 2147483647 w 637"/>
              <a:gd name="T3" fmla="*/ 0 h 1659"/>
              <a:gd name="T4" fmla="*/ 2147483647 w 637"/>
              <a:gd name="T5" fmla="*/ 2147483647 h 1659"/>
              <a:gd name="T6" fmla="*/ 0 w 637"/>
              <a:gd name="T7" fmla="*/ 2147483647 h 1659"/>
              <a:gd name="T8" fmla="*/ 2147483647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7" name="Freeform 1038"/>
          <p:cNvSpPr>
            <a:spLocks/>
          </p:cNvSpPr>
          <p:nvPr/>
        </p:nvSpPr>
        <p:spPr bwMode="auto">
          <a:xfrm>
            <a:off x="7023100" y="5735638"/>
            <a:ext cx="258763" cy="61912"/>
          </a:xfrm>
          <a:custGeom>
            <a:avLst/>
            <a:gdLst>
              <a:gd name="T0" fmla="*/ 0 w 2216"/>
              <a:gd name="T1" fmla="*/ 0 h 550"/>
              <a:gd name="T2" fmla="*/ 2147483647 w 2216"/>
              <a:gd name="T3" fmla="*/ 2147483647 h 550"/>
              <a:gd name="T4" fmla="*/ 2147483647 w 2216"/>
              <a:gd name="T5" fmla="*/ 2147483647 h 550"/>
              <a:gd name="T6" fmla="*/ 2147483647 w 2216"/>
              <a:gd name="T7" fmla="*/ 2147483647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48" name="Group 1039"/>
          <p:cNvGrpSpPr>
            <a:grpSpLocks/>
          </p:cNvGrpSpPr>
          <p:nvPr/>
        </p:nvGrpSpPr>
        <p:grpSpPr bwMode="auto">
          <a:xfrm>
            <a:off x="7019925" y="5800725"/>
            <a:ext cx="87313" cy="38100"/>
            <a:chOff x="1740" y="2642"/>
            <a:chExt cx="752" cy="327"/>
          </a:xfrm>
        </p:grpSpPr>
        <p:sp>
          <p:nvSpPr>
            <p:cNvPr id="19655" name="Freeform 1040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6" name="Freeform 1041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7" name="Freeform 1042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8" name="Freeform 1043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9" name="Freeform 1044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0" name="Freeform 1045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49" name="Freeform 1046"/>
          <p:cNvSpPr>
            <a:spLocks/>
          </p:cNvSpPr>
          <p:nvPr/>
        </p:nvSpPr>
        <p:spPr bwMode="auto">
          <a:xfrm>
            <a:off x="7169150" y="5807075"/>
            <a:ext cx="106363" cy="80963"/>
          </a:xfrm>
          <a:custGeom>
            <a:avLst/>
            <a:gdLst>
              <a:gd name="T0" fmla="*/ 2147483647 w 990"/>
              <a:gd name="T1" fmla="*/ 2147483647 h 792"/>
              <a:gd name="T2" fmla="*/ 2147483647 w 990"/>
              <a:gd name="T3" fmla="*/ 0 h 792"/>
              <a:gd name="T4" fmla="*/ 2147483647 w 990"/>
              <a:gd name="T5" fmla="*/ 2147483647 h 792"/>
              <a:gd name="T6" fmla="*/ 0 w 990"/>
              <a:gd name="T7" fmla="*/ 2147483647 h 792"/>
              <a:gd name="T8" fmla="*/ 2147483647 w 990"/>
              <a:gd name="T9" fmla="*/ 214748364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0" name="Freeform 1047"/>
          <p:cNvSpPr>
            <a:spLocks/>
          </p:cNvSpPr>
          <p:nvPr/>
        </p:nvSpPr>
        <p:spPr bwMode="auto">
          <a:xfrm>
            <a:off x="6897688" y="5813425"/>
            <a:ext cx="271462" cy="73025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1" name="Freeform 1048"/>
          <p:cNvSpPr>
            <a:spLocks/>
          </p:cNvSpPr>
          <p:nvPr/>
        </p:nvSpPr>
        <p:spPr bwMode="auto">
          <a:xfrm>
            <a:off x="6899275" y="5799138"/>
            <a:ext cx="1588" cy="15875"/>
          </a:xfrm>
          <a:custGeom>
            <a:avLst/>
            <a:gdLst>
              <a:gd name="T0" fmla="*/ 2147483647 w 26"/>
              <a:gd name="T1" fmla="*/ 2147483647 h 147"/>
              <a:gd name="T2" fmla="*/ 2147483647 w 26"/>
              <a:gd name="T3" fmla="*/ 2147483647 h 147"/>
              <a:gd name="T4" fmla="*/ 0 w 26"/>
              <a:gd name="T5" fmla="*/ 2147483647 h 147"/>
              <a:gd name="T6" fmla="*/ 2147483647 w 26"/>
              <a:gd name="T7" fmla="*/ 0 h 147"/>
              <a:gd name="T8" fmla="*/ 2147483647 w 26"/>
              <a:gd name="T9" fmla="*/ 2147483647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2" name="Freeform 1049"/>
          <p:cNvSpPr>
            <a:spLocks/>
          </p:cNvSpPr>
          <p:nvPr/>
        </p:nvSpPr>
        <p:spPr bwMode="auto">
          <a:xfrm>
            <a:off x="6899275" y="5738813"/>
            <a:ext cx="125413" cy="61912"/>
          </a:xfrm>
          <a:custGeom>
            <a:avLst/>
            <a:gdLst>
              <a:gd name="T0" fmla="*/ 2147483647 w 1176"/>
              <a:gd name="T1" fmla="*/ 0 h 606"/>
              <a:gd name="T2" fmla="*/ 0 w 1176"/>
              <a:gd name="T3" fmla="*/ 2147483647 h 606"/>
              <a:gd name="T4" fmla="*/ 2147483647 w 1176"/>
              <a:gd name="T5" fmla="*/ 2147483647 h 606"/>
              <a:gd name="T6" fmla="*/ 2147483647 w 1176"/>
              <a:gd name="T7" fmla="*/ 2147483647 h 606"/>
              <a:gd name="T8" fmla="*/ 2147483647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3" name="Freeform 1050"/>
          <p:cNvSpPr>
            <a:spLocks/>
          </p:cNvSpPr>
          <p:nvPr/>
        </p:nvSpPr>
        <p:spPr bwMode="auto">
          <a:xfrm>
            <a:off x="6907213" y="5802313"/>
            <a:ext cx="257175" cy="71437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4" name="Freeform 1051"/>
          <p:cNvSpPr>
            <a:spLocks/>
          </p:cNvSpPr>
          <p:nvPr/>
        </p:nvSpPr>
        <p:spPr bwMode="auto">
          <a:xfrm flipV="1">
            <a:off x="7164388" y="5797550"/>
            <a:ext cx="104775" cy="74613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555" name="Picture 1054" descr="laptop_keyboard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81650" y="3290888"/>
            <a:ext cx="363538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6" name="Freeform 1055"/>
          <p:cNvSpPr>
            <a:spLocks/>
          </p:cNvSpPr>
          <p:nvPr/>
        </p:nvSpPr>
        <p:spPr bwMode="auto">
          <a:xfrm>
            <a:off x="5702300" y="3135313"/>
            <a:ext cx="292100" cy="207962"/>
          </a:xfrm>
          <a:custGeom>
            <a:avLst/>
            <a:gdLst>
              <a:gd name="T0" fmla="*/ 2147483647 w 2982"/>
              <a:gd name="T1" fmla="*/ 0 h 2442"/>
              <a:gd name="T2" fmla="*/ 0 w 2982"/>
              <a:gd name="T3" fmla="*/ 2147483647 h 2442"/>
              <a:gd name="T4" fmla="*/ 2147483647 w 2982"/>
              <a:gd name="T5" fmla="*/ 2147483647 h 2442"/>
              <a:gd name="T6" fmla="*/ 2147483647 w 2982"/>
              <a:gd name="T7" fmla="*/ 2147483647 h 2442"/>
              <a:gd name="T8" fmla="*/ 214748364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9557" name="Picture 1056" descr="screen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88" y="3140075"/>
            <a:ext cx="2667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8" name="Freeform 1057"/>
          <p:cNvSpPr>
            <a:spLocks/>
          </p:cNvSpPr>
          <p:nvPr/>
        </p:nvSpPr>
        <p:spPr bwMode="auto">
          <a:xfrm>
            <a:off x="5756275" y="3128963"/>
            <a:ext cx="247650" cy="39687"/>
          </a:xfrm>
          <a:custGeom>
            <a:avLst/>
            <a:gdLst>
              <a:gd name="T0" fmla="*/ 2147483647 w 2528"/>
              <a:gd name="T1" fmla="*/ 0 h 455"/>
              <a:gd name="T2" fmla="*/ 2147483647 w 2528"/>
              <a:gd name="T3" fmla="*/ 2147483647 h 455"/>
              <a:gd name="T4" fmla="*/ 2147483647 w 2528"/>
              <a:gd name="T5" fmla="*/ 2147483647 h 455"/>
              <a:gd name="T6" fmla="*/ 0 w 2528"/>
              <a:gd name="T7" fmla="*/ 2147483647 h 455"/>
              <a:gd name="T8" fmla="*/ 2147483647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" name="Freeform 1058"/>
          <p:cNvSpPr>
            <a:spLocks/>
          </p:cNvSpPr>
          <p:nvPr/>
        </p:nvSpPr>
        <p:spPr bwMode="auto">
          <a:xfrm>
            <a:off x="5700713" y="3128963"/>
            <a:ext cx="68262" cy="161925"/>
          </a:xfrm>
          <a:custGeom>
            <a:avLst/>
            <a:gdLst>
              <a:gd name="T0" fmla="*/ 2147483647 w 702"/>
              <a:gd name="T1" fmla="*/ 0 h 1893"/>
              <a:gd name="T2" fmla="*/ 0 w 702"/>
              <a:gd name="T3" fmla="*/ 2147483647 h 1893"/>
              <a:gd name="T4" fmla="*/ 2147483647 w 702"/>
              <a:gd name="T5" fmla="*/ 2147483647 h 1893"/>
              <a:gd name="T6" fmla="*/ 2147483647 w 702"/>
              <a:gd name="T7" fmla="*/ 2147483647 h 1893"/>
              <a:gd name="T8" fmla="*/ 2147483647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0" name="Freeform 1059"/>
          <p:cNvSpPr>
            <a:spLocks/>
          </p:cNvSpPr>
          <p:nvPr/>
        </p:nvSpPr>
        <p:spPr bwMode="auto">
          <a:xfrm>
            <a:off x="5927725" y="3157538"/>
            <a:ext cx="74613" cy="185737"/>
          </a:xfrm>
          <a:custGeom>
            <a:avLst/>
            <a:gdLst>
              <a:gd name="T0" fmla="*/ 2147483647 w 756"/>
              <a:gd name="T1" fmla="*/ 0 h 2184"/>
              <a:gd name="T2" fmla="*/ 2147483647 w 756"/>
              <a:gd name="T3" fmla="*/ 2147483647 h 2184"/>
              <a:gd name="T4" fmla="*/ 0 w 756"/>
              <a:gd name="T5" fmla="*/ 2147483647 h 2184"/>
              <a:gd name="T6" fmla="*/ 2147483647 w 756"/>
              <a:gd name="T7" fmla="*/ 2147483647 h 2184"/>
              <a:gd name="T8" fmla="*/ 214748364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1" name="Freeform 1060"/>
          <p:cNvSpPr>
            <a:spLocks/>
          </p:cNvSpPr>
          <p:nvPr/>
        </p:nvSpPr>
        <p:spPr bwMode="auto">
          <a:xfrm>
            <a:off x="5699125" y="3281363"/>
            <a:ext cx="271463" cy="63500"/>
          </a:xfrm>
          <a:custGeom>
            <a:avLst/>
            <a:gdLst>
              <a:gd name="T0" fmla="*/ 2147483647 w 2773"/>
              <a:gd name="T1" fmla="*/ 0 h 738"/>
              <a:gd name="T2" fmla="*/ 0 w 2773"/>
              <a:gd name="T3" fmla="*/ 2147483647 h 738"/>
              <a:gd name="T4" fmla="*/ 2147483647 w 2773"/>
              <a:gd name="T5" fmla="*/ 2147483647 h 738"/>
              <a:gd name="T6" fmla="*/ 2147483647 w 2773"/>
              <a:gd name="T7" fmla="*/ 2147483647 h 738"/>
              <a:gd name="T8" fmla="*/ 2147483647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2" name="Freeform 1061"/>
          <p:cNvSpPr>
            <a:spLocks/>
          </p:cNvSpPr>
          <p:nvPr/>
        </p:nvSpPr>
        <p:spPr bwMode="auto">
          <a:xfrm>
            <a:off x="5935663" y="3159125"/>
            <a:ext cx="69850" cy="187325"/>
          </a:xfrm>
          <a:custGeom>
            <a:avLst/>
            <a:gdLst>
              <a:gd name="T0" fmla="*/ 2147483647 w 637"/>
              <a:gd name="T1" fmla="*/ 0 h 1659"/>
              <a:gd name="T2" fmla="*/ 2147483647 w 637"/>
              <a:gd name="T3" fmla="*/ 0 h 1659"/>
              <a:gd name="T4" fmla="*/ 2147483647 w 637"/>
              <a:gd name="T5" fmla="*/ 2147483647 h 1659"/>
              <a:gd name="T6" fmla="*/ 0 w 637"/>
              <a:gd name="T7" fmla="*/ 2147483647 h 1659"/>
              <a:gd name="T8" fmla="*/ 2147483647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3" name="Freeform 1062"/>
          <p:cNvSpPr>
            <a:spLocks/>
          </p:cNvSpPr>
          <p:nvPr/>
        </p:nvSpPr>
        <p:spPr bwMode="auto">
          <a:xfrm>
            <a:off x="5699125" y="3290888"/>
            <a:ext cx="242888" cy="61912"/>
          </a:xfrm>
          <a:custGeom>
            <a:avLst/>
            <a:gdLst>
              <a:gd name="T0" fmla="*/ 0 w 2216"/>
              <a:gd name="T1" fmla="*/ 0 h 550"/>
              <a:gd name="T2" fmla="*/ 2147483647 w 2216"/>
              <a:gd name="T3" fmla="*/ 2147483647 h 550"/>
              <a:gd name="T4" fmla="*/ 2147483647 w 2216"/>
              <a:gd name="T5" fmla="*/ 2147483647 h 550"/>
              <a:gd name="T6" fmla="*/ 2147483647 w 2216"/>
              <a:gd name="T7" fmla="*/ 2147483647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64" name="Group 1063"/>
          <p:cNvGrpSpPr>
            <a:grpSpLocks/>
          </p:cNvGrpSpPr>
          <p:nvPr/>
        </p:nvGrpSpPr>
        <p:grpSpPr bwMode="auto">
          <a:xfrm>
            <a:off x="5695950" y="3355975"/>
            <a:ext cx="80963" cy="38100"/>
            <a:chOff x="1740" y="2642"/>
            <a:chExt cx="752" cy="327"/>
          </a:xfrm>
        </p:grpSpPr>
        <p:sp>
          <p:nvSpPr>
            <p:cNvPr id="19649" name="Freeform 1064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0" name="Freeform 1065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" name="Freeform 1066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2" name="Freeform 1067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3" name="Freeform 1068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4" name="Freeform 1069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65" name="Freeform 1070"/>
          <p:cNvSpPr>
            <a:spLocks/>
          </p:cNvSpPr>
          <p:nvPr/>
        </p:nvSpPr>
        <p:spPr bwMode="auto">
          <a:xfrm>
            <a:off x="5835650" y="3362325"/>
            <a:ext cx="100013" cy="80963"/>
          </a:xfrm>
          <a:custGeom>
            <a:avLst/>
            <a:gdLst>
              <a:gd name="T0" fmla="*/ 2147483647 w 990"/>
              <a:gd name="T1" fmla="*/ 2147483647 h 792"/>
              <a:gd name="T2" fmla="*/ 2147483647 w 990"/>
              <a:gd name="T3" fmla="*/ 0 h 792"/>
              <a:gd name="T4" fmla="*/ 2147483647 w 990"/>
              <a:gd name="T5" fmla="*/ 2147483647 h 792"/>
              <a:gd name="T6" fmla="*/ 0 w 990"/>
              <a:gd name="T7" fmla="*/ 2147483647 h 792"/>
              <a:gd name="T8" fmla="*/ 2147483647 w 990"/>
              <a:gd name="T9" fmla="*/ 214748364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6" name="Freeform 1071"/>
          <p:cNvSpPr>
            <a:spLocks/>
          </p:cNvSpPr>
          <p:nvPr/>
        </p:nvSpPr>
        <p:spPr bwMode="auto">
          <a:xfrm>
            <a:off x="5583238" y="3368675"/>
            <a:ext cx="254000" cy="73025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7" name="Freeform 1072"/>
          <p:cNvSpPr>
            <a:spLocks/>
          </p:cNvSpPr>
          <p:nvPr/>
        </p:nvSpPr>
        <p:spPr bwMode="auto">
          <a:xfrm>
            <a:off x="5583238" y="3354388"/>
            <a:ext cx="1587" cy="15875"/>
          </a:xfrm>
          <a:custGeom>
            <a:avLst/>
            <a:gdLst>
              <a:gd name="T0" fmla="*/ 2147483647 w 26"/>
              <a:gd name="T1" fmla="*/ 2147483647 h 147"/>
              <a:gd name="T2" fmla="*/ 2147483647 w 26"/>
              <a:gd name="T3" fmla="*/ 2147483647 h 147"/>
              <a:gd name="T4" fmla="*/ 0 w 26"/>
              <a:gd name="T5" fmla="*/ 2147483647 h 147"/>
              <a:gd name="T6" fmla="*/ 2147483647 w 26"/>
              <a:gd name="T7" fmla="*/ 0 h 147"/>
              <a:gd name="T8" fmla="*/ 2147483647 w 26"/>
              <a:gd name="T9" fmla="*/ 2147483647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8" name="Freeform 1073"/>
          <p:cNvSpPr>
            <a:spLocks/>
          </p:cNvSpPr>
          <p:nvPr/>
        </p:nvSpPr>
        <p:spPr bwMode="auto">
          <a:xfrm>
            <a:off x="5583238" y="3294063"/>
            <a:ext cx="117475" cy="61912"/>
          </a:xfrm>
          <a:custGeom>
            <a:avLst/>
            <a:gdLst>
              <a:gd name="T0" fmla="*/ 2147483647 w 1176"/>
              <a:gd name="T1" fmla="*/ 0 h 606"/>
              <a:gd name="T2" fmla="*/ 0 w 1176"/>
              <a:gd name="T3" fmla="*/ 2147483647 h 606"/>
              <a:gd name="T4" fmla="*/ 2147483647 w 1176"/>
              <a:gd name="T5" fmla="*/ 2147483647 h 606"/>
              <a:gd name="T6" fmla="*/ 2147483647 w 1176"/>
              <a:gd name="T7" fmla="*/ 2147483647 h 606"/>
              <a:gd name="T8" fmla="*/ 2147483647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9" name="Freeform 1074"/>
          <p:cNvSpPr>
            <a:spLocks/>
          </p:cNvSpPr>
          <p:nvPr/>
        </p:nvSpPr>
        <p:spPr bwMode="auto">
          <a:xfrm>
            <a:off x="5591175" y="3357563"/>
            <a:ext cx="241300" cy="71437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0" name="Freeform 1075"/>
          <p:cNvSpPr>
            <a:spLocks/>
          </p:cNvSpPr>
          <p:nvPr/>
        </p:nvSpPr>
        <p:spPr bwMode="auto">
          <a:xfrm flipV="1">
            <a:off x="5830888" y="3352800"/>
            <a:ext cx="98425" cy="74613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71" name="Group 1076"/>
          <p:cNvGrpSpPr>
            <a:grpSpLocks/>
          </p:cNvGrpSpPr>
          <p:nvPr/>
        </p:nvGrpSpPr>
        <p:grpSpPr bwMode="auto">
          <a:xfrm flipH="1">
            <a:off x="5940425" y="3222625"/>
            <a:ext cx="414338" cy="373063"/>
            <a:chOff x="2839" y="3501"/>
            <a:chExt cx="755" cy="803"/>
          </a:xfrm>
        </p:grpSpPr>
        <p:pic>
          <p:nvPicPr>
            <p:cNvPr id="19647" name="Picture 1077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48" name="Freeform 107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19572" name="Picture 1081" descr="laptop_keyboard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7329488" y="5672138"/>
            <a:ext cx="3889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73" name="Freeform 1082"/>
          <p:cNvSpPr>
            <a:spLocks/>
          </p:cNvSpPr>
          <p:nvPr/>
        </p:nvSpPr>
        <p:spPr bwMode="auto">
          <a:xfrm>
            <a:off x="7458075" y="5516563"/>
            <a:ext cx="312738" cy="207962"/>
          </a:xfrm>
          <a:custGeom>
            <a:avLst/>
            <a:gdLst>
              <a:gd name="T0" fmla="*/ 2147483647 w 2982"/>
              <a:gd name="T1" fmla="*/ 0 h 2442"/>
              <a:gd name="T2" fmla="*/ 0 w 2982"/>
              <a:gd name="T3" fmla="*/ 2147483647 h 2442"/>
              <a:gd name="T4" fmla="*/ 2147483647 w 2982"/>
              <a:gd name="T5" fmla="*/ 2147483647 h 2442"/>
              <a:gd name="T6" fmla="*/ 2147483647 w 2982"/>
              <a:gd name="T7" fmla="*/ 2147483647 h 2442"/>
              <a:gd name="T8" fmla="*/ 214748364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9574" name="Picture 1083" descr="screen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0" y="5521325"/>
            <a:ext cx="28416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75" name="Freeform 1084"/>
          <p:cNvSpPr>
            <a:spLocks/>
          </p:cNvSpPr>
          <p:nvPr/>
        </p:nvSpPr>
        <p:spPr bwMode="auto">
          <a:xfrm>
            <a:off x="7515225" y="5510213"/>
            <a:ext cx="265113" cy="39687"/>
          </a:xfrm>
          <a:custGeom>
            <a:avLst/>
            <a:gdLst>
              <a:gd name="T0" fmla="*/ 2147483647 w 2528"/>
              <a:gd name="T1" fmla="*/ 0 h 455"/>
              <a:gd name="T2" fmla="*/ 2147483647 w 2528"/>
              <a:gd name="T3" fmla="*/ 2147483647 h 455"/>
              <a:gd name="T4" fmla="*/ 2147483647 w 2528"/>
              <a:gd name="T5" fmla="*/ 2147483647 h 455"/>
              <a:gd name="T6" fmla="*/ 0 w 2528"/>
              <a:gd name="T7" fmla="*/ 2147483647 h 455"/>
              <a:gd name="T8" fmla="*/ 2147483647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6" name="Freeform 1085"/>
          <p:cNvSpPr>
            <a:spLocks/>
          </p:cNvSpPr>
          <p:nvPr/>
        </p:nvSpPr>
        <p:spPr bwMode="auto">
          <a:xfrm>
            <a:off x="7456488" y="5510213"/>
            <a:ext cx="73025" cy="161925"/>
          </a:xfrm>
          <a:custGeom>
            <a:avLst/>
            <a:gdLst>
              <a:gd name="T0" fmla="*/ 2147483647 w 702"/>
              <a:gd name="T1" fmla="*/ 0 h 1893"/>
              <a:gd name="T2" fmla="*/ 0 w 702"/>
              <a:gd name="T3" fmla="*/ 2147483647 h 1893"/>
              <a:gd name="T4" fmla="*/ 2147483647 w 702"/>
              <a:gd name="T5" fmla="*/ 2147483647 h 1893"/>
              <a:gd name="T6" fmla="*/ 2147483647 w 702"/>
              <a:gd name="T7" fmla="*/ 2147483647 h 1893"/>
              <a:gd name="T8" fmla="*/ 2147483647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7" name="Freeform 1086"/>
          <p:cNvSpPr>
            <a:spLocks/>
          </p:cNvSpPr>
          <p:nvPr/>
        </p:nvSpPr>
        <p:spPr bwMode="auto">
          <a:xfrm>
            <a:off x="7699375" y="5538788"/>
            <a:ext cx="79375" cy="185737"/>
          </a:xfrm>
          <a:custGeom>
            <a:avLst/>
            <a:gdLst>
              <a:gd name="T0" fmla="*/ 2147483647 w 756"/>
              <a:gd name="T1" fmla="*/ 0 h 2184"/>
              <a:gd name="T2" fmla="*/ 2147483647 w 756"/>
              <a:gd name="T3" fmla="*/ 2147483647 h 2184"/>
              <a:gd name="T4" fmla="*/ 0 w 756"/>
              <a:gd name="T5" fmla="*/ 2147483647 h 2184"/>
              <a:gd name="T6" fmla="*/ 2147483647 w 756"/>
              <a:gd name="T7" fmla="*/ 2147483647 h 2184"/>
              <a:gd name="T8" fmla="*/ 214748364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8" name="Freeform 1087"/>
          <p:cNvSpPr>
            <a:spLocks/>
          </p:cNvSpPr>
          <p:nvPr/>
        </p:nvSpPr>
        <p:spPr bwMode="auto">
          <a:xfrm>
            <a:off x="7454900" y="5662613"/>
            <a:ext cx="290513" cy="63500"/>
          </a:xfrm>
          <a:custGeom>
            <a:avLst/>
            <a:gdLst>
              <a:gd name="T0" fmla="*/ 2147483647 w 2773"/>
              <a:gd name="T1" fmla="*/ 0 h 738"/>
              <a:gd name="T2" fmla="*/ 0 w 2773"/>
              <a:gd name="T3" fmla="*/ 2147483647 h 738"/>
              <a:gd name="T4" fmla="*/ 2147483647 w 2773"/>
              <a:gd name="T5" fmla="*/ 2147483647 h 738"/>
              <a:gd name="T6" fmla="*/ 2147483647 w 2773"/>
              <a:gd name="T7" fmla="*/ 2147483647 h 738"/>
              <a:gd name="T8" fmla="*/ 2147483647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9" name="Freeform 1088"/>
          <p:cNvSpPr>
            <a:spLocks/>
          </p:cNvSpPr>
          <p:nvPr/>
        </p:nvSpPr>
        <p:spPr bwMode="auto">
          <a:xfrm>
            <a:off x="7707313" y="5540375"/>
            <a:ext cx="74612" cy="187325"/>
          </a:xfrm>
          <a:custGeom>
            <a:avLst/>
            <a:gdLst>
              <a:gd name="T0" fmla="*/ 2147483647 w 637"/>
              <a:gd name="T1" fmla="*/ 0 h 1659"/>
              <a:gd name="T2" fmla="*/ 2147483647 w 637"/>
              <a:gd name="T3" fmla="*/ 0 h 1659"/>
              <a:gd name="T4" fmla="*/ 2147483647 w 637"/>
              <a:gd name="T5" fmla="*/ 2147483647 h 1659"/>
              <a:gd name="T6" fmla="*/ 0 w 637"/>
              <a:gd name="T7" fmla="*/ 2147483647 h 1659"/>
              <a:gd name="T8" fmla="*/ 2147483647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0" name="Freeform 1089"/>
          <p:cNvSpPr>
            <a:spLocks/>
          </p:cNvSpPr>
          <p:nvPr/>
        </p:nvSpPr>
        <p:spPr bwMode="auto">
          <a:xfrm>
            <a:off x="7454900" y="5672138"/>
            <a:ext cx="258763" cy="61912"/>
          </a:xfrm>
          <a:custGeom>
            <a:avLst/>
            <a:gdLst>
              <a:gd name="T0" fmla="*/ 0 w 2216"/>
              <a:gd name="T1" fmla="*/ 0 h 550"/>
              <a:gd name="T2" fmla="*/ 2147483647 w 2216"/>
              <a:gd name="T3" fmla="*/ 2147483647 h 550"/>
              <a:gd name="T4" fmla="*/ 2147483647 w 2216"/>
              <a:gd name="T5" fmla="*/ 2147483647 h 550"/>
              <a:gd name="T6" fmla="*/ 2147483647 w 2216"/>
              <a:gd name="T7" fmla="*/ 2147483647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81" name="Group 1090"/>
          <p:cNvGrpSpPr>
            <a:grpSpLocks/>
          </p:cNvGrpSpPr>
          <p:nvPr/>
        </p:nvGrpSpPr>
        <p:grpSpPr bwMode="auto">
          <a:xfrm>
            <a:off x="7451725" y="5737225"/>
            <a:ext cx="87313" cy="38100"/>
            <a:chOff x="1740" y="2642"/>
            <a:chExt cx="752" cy="327"/>
          </a:xfrm>
        </p:grpSpPr>
        <p:sp>
          <p:nvSpPr>
            <p:cNvPr id="19641" name="Freeform 1091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2" name="Freeform 1092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3" name="Freeform 1093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4" name="Freeform 1094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5" name="Freeform 1095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6" name="Freeform 1096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82" name="Freeform 1097"/>
          <p:cNvSpPr>
            <a:spLocks/>
          </p:cNvSpPr>
          <p:nvPr/>
        </p:nvSpPr>
        <p:spPr bwMode="auto">
          <a:xfrm>
            <a:off x="7600950" y="5743575"/>
            <a:ext cx="106363" cy="80963"/>
          </a:xfrm>
          <a:custGeom>
            <a:avLst/>
            <a:gdLst>
              <a:gd name="T0" fmla="*/ 2147483647 w 990"/>
              <a:gd name="T1" fmla="*/ 2147483647 h 792"/>
              <a:gd name="T2" fmla="*/ 2147483647 w 990"/>
              <a:gd name="T3" fmla="*/ 0 h 792"/>
              <a:gd name="T4" fmla="*/ 2147483647 w 990"/>
              <a:gd name="T5" fmla="*/ 2147483647 h 792"/>
              <a:gd name="T6" fmla="*/ 0 w 990"/>
              <a:gd name="T7" fmla="*/ 2147483647 h 792"/>
              <a:gd name="T8" fmla="*/ 2147483647 w 990"/>
              <a:gd name="T9" fmla="*/ 214748364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3" name="Freeform 1098"/>
          <p:cNvSpPr>
            <a:spLocks/>
          </p:cNvSpPr>
          <p:nvPr/>
        </p:nvSpPr>
        <p:spPr bwMode="auto">
          <a:xfrm>
            <a:off x="7329488" y="5749925"/>
            <a:ext cx="271462" cy="73025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4" name="Freeform 1099"/>
          <p:cNvSpPr>
            <a:spLocks/>
          </p:cNvSpPr>
          <p:nvPr/>
        </p:nvSpPr>
        <p:spPr bwMode="auto">
          <a:xfrm>
            <a:off x="7331075" y="5735638"/>
            <a:ext cx="1588" cy="15875"/>
          </a:xfrm>
          <a:custGeom>
            <a:avLst/>
            <a:gdLst>
              <a:gd name="T0" fmla="*/ 2147483647 w 26"/>
              <a:gd name="T1" fmla="*/ 2147483647 h 147"/>
              <a:gd name="T2" fmla="*/ 2147483647 w 26"/>
              <a:gd name="T3" fmla="*/ 2147483647 h 147"/>
              <a:gd name="T4" fmla="*/ 0 w 26"/>
              <a:gd name="T5" fmla="*/ 2147483647 h 147"/>
              <a:gd name="T6" fmla="*/ 2147483647 w 26"/>
              <a:gd name="T7" fmla="*/ 0 h 147"/>
              <a:gd name="T8" fmla="*/ 2147483647 w 26"/>
              <a:gd name="T9" fmla="*/ 2147483647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5" name="Freeform 1100"/>
          <p:cNvSpPr>
            <a:spLocks/>
          </p:cNvSpPr>
          <p:nvPr/>
        </p:nvSpPr>
        <p:spPr bwMode="auto">
          <a:xfrm>
            <a:off x="7331075" y="5675313"/>
            <a:ext cx="125413" cy="61912"/>
          </a:xfrm>
          <a:custGeom>
            <a:avLst/>
            <a:gdLst>
              <a:gd name="T0" fmla="*/ 2147483647 w 1176"/>
              <a:gd name="T1" fmla="*/ 0 h 606"/>
              <a:gd name="T2" fmla="*/ 0 w 1176"/>
              <a:gd name="T3" fmla="*/ 2147483647 h 606"/>
              <a:gd name="T4" fmla="*/ 2147483647 w 1176"/>
              <a:gd name="T5" fmla="*/ 2147483647 h 606"/>
              <a:gd name="T6" fmla="*/ 2147483647 w 1176"/>
              <a:gd name="T7" fmla="*/ 2147483647 h 606"/>
              <a:gd name="T8" fmla="*/ 2147483647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6" name="Freeform 1101"/>
          <p:cNvSpPr>
            <a:spLocks/>
          </p:cNvSpPr>
          <p:nvPr/>
        </p:nvSpPr>
        <p:spPr bwMode="auto">
          <a:xfrm>
            <a:off x="7339013" y="5738813"/>
            <a:ext cx="257175" cy="71437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7" name="Freeform 1102"/>
          <p:cNvSpPr>
            <a:spLocks/>
          </p:cNvSpPr>
          <p:nvPr/>
        </p:nvSpPr>
        <p:spPr bwMode="auto">
          <a:xfrm flipV="1">
            <a:off x="7596188" y="5734050"/>
            <a:ext cx="104775" cy="74613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88" name="Group 1103"/>
          <p:cNvGrpSpPr>
            <a:grpSpLocks/>
          </p:cNvGrpSpPr>
          <p:nvPr/>
        </p:nvGrpSpPr>
        <p:grpSpPr bwMode="auto">
          <a:xfrm>
            <a:off x="6351588" y="2493963"/>
            <a:ext cx="390525" cy="169862"/>
            <a:chOff x="4650" y="1129"/>
            <a:chExt cx="246" cy="95"/>
          </a:xfrm>
        </p:grpSpPr>
        <p:sp>
          <p:nvSpPr>
            <p:cNvPr id="1963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63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63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636" name="Group 1107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639" name="Freeform 110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40" name="Freeform 110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37" name="Line 1110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8" name="Line 1111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89" name="Group 1112"/>
          <p:cNvGrpSpPr>
            <a:grpSpLocks/>
          </p:cNvGrpSpPr>
          <p:nvPr/>
        </p:nvGrpSpPr>
        <p:grpSpPr bwMode="auto">
          <a:xfrm>
            <a:off x="6051550" y="3641725"/>
            <a:ext cx="390525" cy="169863"/>
            <a:chOff x="4650" y="1129"/>
            <a:chExt cx="246" cy="95"/>
          </a:xfrm>
        </p:grpSpPr>
        <p:sp>
          <p:nvSpPr>
            <p:cNvPr id="1962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62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62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628" name="Group 1116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631" name="Freeform 111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32" name="Freeform 111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29" name="Line 1119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" name="Line 1120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90" name="Group 878"/>
          <p:cNvGrpSpPr>
            <a:grpSpLocks/>
          </p:cNvGrpSpPr>
          <p:nvPr/>
        </p:nvGrpSpPr>
        <p:grpSpPr bwMode="auto">
          <a:xfrm>
            <a:off x="5529263" y="3016250"/>
            <a:ext cx="519112" cy="128588"/>
            <a:chOff x="2199" y="955"/>
            <a:chExt cx="2547" cy="506"/>
          </a:xfrm>
        </p:grpSpPr>
        <p:sp>
          <p:nvSpPr>
            <p:cNvPr id="19619" name="Freeform 879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" name="Freeform 880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1" name="Freeform 881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2" name="Freeform 882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3" name="Freeform 883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4" name="Freeform 884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91" name="Group 1121"/>
          <p:cNvGrpSpPr>
            <a:grpSpLocks/>
          </p:cNvGrpSpPr>
          <p:nvPr/>
        </p:nvGrpSpPr>
        <p:grpSpPr bwMode="auto">
          <a:xfrm>
            <a:off x="6248400" y="4852988"/>
            <a:ext cx="617538" cy="247650"/>
            <a:chOff x="2356" y="1300"/>
            <a:chExt cx="555" cy="194"/>
          </a:xfrm>
        </p:grpSpPr>
        <p:sp>
          <p:nvSpPr>
            <p:cNvPr id="19611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612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613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614" name="Group 1125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9617" name="Freeform 11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8" name="Freeform 11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15" name="Line 1128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6" name="Line 1129"/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92" name="Group 1130"/>
          <p:cNvGrpSpPr>
            <a:grpSpLocks/>
          </p:cNvGrpSpPr>
          <p:nvPr/>
        </p:nvGrpSpPr>
        <p:grpSpPr bwMode="auto">
          <a:xfrm>
            <a:off x="6969125" y="4510088"/>
            <a:ext cx="617538" cy="247650"/>
            <a:chOff x="2356" y="1300"/>
            <a:chExt cx="555" cy="194"/>
          </a:xfrm>
        </p:grpSpPr>
        <p:sp>
          <p:nvSpPr>
            <p:cNvPr id="19603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604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605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606" name="Group 1134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9609" name="Freeform 113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0" name="Freeform 113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07" name="Line 1137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8" name="Line 1138"/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93" name="Group 1139"/>
          <p:cNvGrpSpPr>
            <a:grpSpLocks/>
          </p:cNvGrpSpPr>
          <p:nvPr/>
        </p:nvGrpSpPr>
        <p:grpSpPr bwMode="auto">
          <a:xfrm>
            <a:off x="7585075" y="4811713"/>
            <a:ext cx="617538" cy="247650"/>
            <a:chOff x="2356" y="1300"/>
            <a:chExt cx="555" cy="194"/>
          </a:xfrm>
        </p:grpSpPr>
        <p:sp>
          <p:nvSpPr>
            <p:cNvPr id="1959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59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59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598" name="Group 1143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9601" name="Freeform 114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02" name="Freeform 114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599" name="Line 1146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" name="Line 1147"/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9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CFA5D17B-19B9-41BE-85FC-04A34DEDF635}" type="slidenum">
              <a:rPr lang="en-US" sz="1200" smtClean="0">
                <a:latin typeface="Tahoma" pitchFamily="34" charset="0"/>
              </a:rPr>
              <a:pPr/>
              <a:t>12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2048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86042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itle 41"/>
          <p:cNvSpPr>
            <a:spLocks noGrp="1"/>
          </p:cNvSpPr>
          <p:nvPr>
            <p:ph type="title" idx="4294967295"/>
          </p:nvPr>
        </p:nvSpPr>
        <p:spPr>
          <a:xfrm>
            <a:off x="403225" y="228600"/>
            <a:ext cx="7772400" cy="83502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Access net: digital subscriber line (DSL)</a:t>
            </a:r>
          </a:p>
        </p:txBody>
      </p:sp>
      <p:sp>
        <p:nvSpPr>
          <p:cNvPr id="20485" name="Freeform 3"/>
          <p:cNvSpPr>
            <a:spLocks/>
          </p:cNvSpPr>
          <p:nvPr/>
        </p:nvSpPr>
        <p:spPr bwMode="auto">
          <a:xfrm>
            <a:off x="4305300" y="1501775"/>
            <a:ext cx="2216150" cy="1477963"/>
          </a:xfrm>
          <a:custGeom>
            <a:avLst/>
            <a:gdLst>
              <a:gd name="T0" fmla="*/ 2147483647 w 1396"/>
              <a:gd name="T1" fmla="*/ 2147483647 h 931"/>
              <a:gd name="T2" fmla="*/ 2147483647 w 1396"/>
              <a:gd name="T3" fmla="*/ 2147483647 h 931"/>
              <a:gd name="T4" fmla="*/ 2147483647 w 1396"/>
              <a:gd name="T5" fmla="*/ 2147483647 h 931"/>
              <a:gd name="T6" fmla="*/ 2147483647 w 1396"/>
              <a:gd name="T7" fmla="*/ 2147483647 h 931"/>
              <a:gd name="T8" fmla="*/ 2147483647 w 1396"/>
              <a:gd name="T9" fmla="*/ 2147483647 h 931"/>
              <a:gd name="T10" fmla="*/ 2147483647 w 1396"/>
              <a:gd name="T11" fmla="*/ 2147483647 h 931"/>
              <a:gd name="T12" fmla="*/ 2147483647 w 1396"/>
              <a:gd name="T13" fmla="*/ 2147483647 h 931"/>
              <a:gd name="T14" fmla="*/ 2147483647 w 1396"/>
              <a:gd name="T15" fmla="*/ 2147483647 h 931"/>
              <a:gd name="T16" fmla="*/ 2147483647 w 1396"/>
              <a:gd name="T17" fmla="*/ 2147483647 h 931"/>
              <a:gd name="T18" fmla="*/ 2147483647 w 1396"/>
              <a:gd name="T19" fmla="*/ 2147483647 h 931"/>
              <a:gd name="T20" fmla="*/ 2147483647 w 1396"/>
              <a:gd name="T21" fmla="*/ 2147483647 h 931"/>
              <a:gd name="T22" fmla="*/ 2147483647 w 1396"/>
              <a:gd name="T23" fmla="*/ 2147483647 h 931"/>
              <a:gd name="T24" fmla="*/ 2147483647 w 1396"/>
              <a:gd name="T25" fmla="*/ 2147483647 h 931"/>
              <a:gd name="T26" fmla="*/ 2147483647 w 1396"/>
              <a:gd name="T27" fmla="*/ 2147483647 h 931"/>
              <a:gd name="T28" fmla="*/ 2147483647 w 1396"/>
              <a:gd name="T29" fmla="*/ 2147483647 h 931"/>
              <a:gd name="T30" fmla="*/ 2147483647 w 1396"/>
              <a:gd name="T31" fmla="*/ 2147483647 h 93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96"/>
              <a:gd name="T49" fmla="*/ 0 h 931"/>
              <a:gd name="T50" fmla="*/ 1396 w 1396"/>
              <a:gd name="T51" fmla="*/ 931 h 93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96" h="931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Oval 9"/>
          <p:cNvSpPr>
            <a:spLocks noChangeArrowheads="1"/>
          </p:cNvSpPr>
          <p:nvPr/>
        </p:nvSpPr>
        <p:spPr bwMode="auto">
          <a:xfrm>
            <a:off x="5305425" y="2208213"/>
            <a:ext cx="193675" cy="1936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87" name="Oval 12"/>
          <p:cNvSpPr>
            <a:spLocks noChangeArrowheads="1"/>
          </p:cNvSpPr>
          <p:nvPr/>
        </p:nvSpPr>
        <p:spPr bwMode="auto">
          <a:xfrm>
            <a:off x="5686425" y="1836738"/>
            <a:ext cx="193675" cy="1936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88" name="Line 15"/>
          <p:cNvSpPr>
            <a:spLocks noChangeShapeType="1"/>
          </p:cNvSpPr>
          <p:nvPr/>
        </p:nvSpPr>
        <p:spPr bwMode="auto">
          <a:xfrm flipV="1">
            <a:off x="5392738" y="1978025"/>
            <a:ext cx="317500" cy="336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89" name="Line 16"/>
          <p:cNvSpPr>
            <a:spLocks noChangeShapeType="1"/>
          </p:cNvSpPr>
          <p:nvPr/>
        </p:nvSpPr>
        <p:spPr bwMode="auto">
          <a:xfrm>
            <a:off x="5786438" y="1954213"/>
            <a:ext cx="400050" cy="5905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0" name="Rectangle 44"/>
          <p:cNvSpPr>
            <a:spLocks noChangeArrowheads="1"/>
          </p:cNvSpPr>
          <p:nvPr/>
        </p:nvSpPr>
        <p:spPr bwMode="auto">
          <a:xfrm>
            <a:off x="4584700" y="1957388"/>
            <a:ext cx="955675" cy="70008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1" name="Text Box 45"/>
          <p:cNvSpPr txBox="1">
            <a:spLocks noChangeArrowheads="1"/>
          </p:cNvSpPr>
          <p:nvPr/>
        </p:nvSpPr>
        <p:spPr bwMode="auto">
          <a:xfrm>
            <a:off x="4040188" y="1476375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/>
              <a:t>central office</a:t>
            </a:r>
          </a:p>
        </p:txBody>
      </p:sp>
      <p:grpSp>
        <p:nvGrpSpPr>
          <p:cNvPr id="20492" name="Group 137"/>
          <p:cNvGrpSpPr>
            <a:grpSpLocks/>
          </p:cNvGrpSpPr>
          <p:nvPr/>
        </p:nvGrpSpPr>
        <p:grpSpPr bwMode="auto">
          <a:xfrm>
            <a:off x="5143500" y="2905125"/>
            <a:ext cx="2178050" cy="1147763"/>
            <a:chOff x="3240" y="1830"/>
            <a:chExt cx="1372" cy="723"/>
          </a:xfrm>
        </p:grpSpPr>
        <p:sp>
          <p:nvSpPr>
            <p:cNvPr id="20537" name="Freeform 28"/>
            <p:cNvSpPr>
              <a:spLocks/>
            </p:cNvSpPr>
            <p:nvPr/>
          </p:nvSpPr>
          <p:spPr bwMode="auto">
            <a:xfrm>
              <a:off x="3240" y="1830"/>
              <a:ext cx="1372" cy="723"/>
            </a:xfrm>
            <a:custGeom>
              <a:avLst/>
              <a:gdLst>
                <a:gd name="T0" fmla="*/ 469145 w 765"/>
                <a:gd name="T1" fmla="*/ 2309 h 459"/>
                <a:gd name="T2" fmla="*/ 319298 w 765"/>
                <a:gd name="T3" fmla="*/ 16281 h 459"/>
                <a:gd name="T4" fmla="*/ 105985 w 765"/>
                <a:gd name="T5" fmla="*/ 23386 h 459"/>
                <a:gd name="T6" fmla="*/ 15506 w 765"/>
                <a:gd name="T7" fmla="*/ 78344 h 459"/>
                <a:gd name="T8" fmla="*/ 199263 w 765"/>
                <a:gd name="T9" fmla="*/ 103496 h 459"/>
                <a:gd name="T10" fmla="*/ 383538 w 765"/>
                <a:gd name="T11" fmla="*/ 99421 h 459"/>
                <a:gd name="T12" fmla="*/ 646551 w 765"/>
                <a:gd name="T13" fmla="*/ 103496 h 459"/>
                <a:gd name="T14" fmla="*/ 772845 w 765"/>
                <a:gd name="T15" fmla="*/ 101223 h 459"/>
                <a:gd name="T16" fmla="*/ 832759 w 765"/>
                <a:gd name="T17" fmla="*/ 86790 h 459"/>
                <a:gd name="T18" fmla="*/ 830490 w 765"/>
                <a:gd name="T19" fmla="*/ 36837 h 459"/>
                <a:gd name="T20" fmla="*/ 732908 w 765"/>
                <a:gd name="T21" fmla="*/ 7992 h 459"/>
                <a:gd name="T22" fmla="*/ 469145 w 765"/>
                <a:gd name="T23" fmla="*/ 2309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Line 31"/>
            <p:cNvSpPr>
              <a:spLocks noChangeShapeType="1"/>
            </p:cNvSpPr>
            <p:nvPr/>
          </p:nvSpPr>
          <p:spPr bwMode="auto">
            <a:xfrm flipV="1">
              <a:off x="3763" y="2053"/>
              <a:ext cx="106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Line 32"/>
            <p:cNvSpPr>
              <a:spLocks noChangeShapeType="1"/>
            </p:cNvSpPr>
            <p:nvPr/>
          </p:nvSpPr>
          <p:spPr bwMode="auto">
            <a:xfrm>
              <a:off x="3616" y="22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Line 33"/>
            <p:cNvSpPr>
              <a:spLocks noChangeShapeType="1"/>
            </p:cNvSpPr>
            <p:nvPr/>
          </p:nvSpPr>
          <p:spPr bwMode="auto">
            <a:xfrm flipV="1">
              <a:off x="3763" y="2114"/>
              <a:ext cx="226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Line 34"/>
            <p:cNvSpPr>
              <a:spLocks noChangeShapeType="1"/>
            </p:cNvSpPr>
            <p:nvPr/>
          </p:nvSpPr>
          <p:spPr bwMode="auto">
            <a:xfrm>
              <a:off x="4076" y="2113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Line 35"/>
            <p:cNvSpPr>
              <a:spLocks noChangeShapeType="1"/>
            </p:cNvSpPr>
            <p:nvPr/>
          </p:nvSpPr>
          <p:spPr bwMode="auto">
            <a:xfrm>
              <a:off x="3779" y="2380"/>
              <a:ext cx="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Line 36"/>
            <p:cNvSpPr>
              <a:spLocks noChangeShapeType="1"/>
            </p:cNvSpPr>
            <p:nvPr/>
          </p:nvSpPr>
          <p:spPr bwMode="auto">
            <a:xfrm>
              <a:off x="4255" y="2372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44" name="Group 37"/>
            <p:cNvGrpSpPr>
              <a:grpSpLocks/>
            </p:cNvGrpSpPr>
            <p:nvPr/>
          </p:nvGrpSpPr>
          <p:grpSpPr bwMode="auto">
            <a:xfrm>
              <a:off x="3860" y="1969"/>
              <a:ext cx="335" cy="148"/>
              <a:chOff x="4650" y="1129"/>
              <a:chExt cx="246" cy="95"/>
            </a:xfrm>
          </p:grpSpPr>
          <p:sp>
            <p:nvSpPr>
              <p:cNvPr id="2057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7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7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0577" name="Group 4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0580" name="Freeform 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81" name="Freeform 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78" name="Line 4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9" name="Line 4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45" name="Group 46"/>
            <p:cNvGrpSpPr>
              <a:grpSpLocks/>
            </p:cNvGrpSpPr>
            <p:nvPr/>
          </p:nvGrpSpPr>
          <p:grpSpPr bwMode="auto">
            <a:xfrm>
              <a:off x="3922" y="2284"/>
              <a:ext cx="336" cy="154"/>
              <a:chOff x="4650" y="1129"/>
              <a:chExt cx="246" cy="95"/>
            </a:xfrm>
          </p:grpSpPr>
          <p:sp>
            <p:nvSpPr>
              <p:cNvPr id="2056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6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6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0569" name="Group 5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0572" name="Freeform 5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73" name="Freeform 5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70" name="Line 5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1" name="Line 5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46" name="Group 55"/>
            <p:cNvGrpSpPr>
              <a:grpSpLocks/>
            </p:cNvGrpSpPr>
            <p:nvPr/>
          </p:nvGrpSpPr>
          <p:grpSpPr bwMode="auto">
            <a:xfrm>
              <a:off x="3443" y="2054"/>
              <a:ext cx="335" cy="149"/>
              <a:chOff x="4650" y="1129"/>
              <a:chExt cx="246" cy="95"/>
            </a:xfrm>
          </p:grpSpPr>
          <p:sp>
            <p:nvSpPr>
              <p:cNvPr id="2055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5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6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0561" name="Group 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0564" name="Freeform 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65" name="Freeform 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62" name="Line 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3" name="Line 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47" name="Group 64"/>
            <p:cNvGrpSpPr>
              <a:grpSpLocks/>
            </p:cNvGrpSpPr>
            <p:nvPr/>
          </p:nvGrpSpPr>
          <p:grpSpPr bwMode="auto">
            <a:xfrm>
              <a:off x="3452" y="2284"/>
              <a:ext cx="336" cy="148"/>
              <a:chOff x="4650" y="1129"/>
              <a:chExt cx="246" cy="95"/>
            </a:xfrm>
          </p:grpSpPr>
          <p:sp>
            <p:nvSpPr>
              <p:cNvPr id="2055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5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5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0553" name="Group 6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0556" name="Freeform 6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57" name="Freeform 7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54" name="Line 7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5" name="Line 7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48" name="Line 73"/>
            <p:cNvSpPr>
              <a:spLocks noChangeShapeType="1"/>
            </p:cNvSpPr>
            <p:nvPr/>
          </p:nvSpPr>
          <p:spPr bwMode="auto">
            <a:xfrm>
              <a:off x="4422" y="2370"/>
              <a:ext cx="153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Text Box 580"/>
            <p:cNvSpPr txBox="1">
              <a:spLocks noChangeArrowheads="1"/>
            </p:cNvSpPr>
            <p:nvPr/>
          </p:nvSpPr>
          <p:spPr bwMode="auto">
            <a:xfrm>
              <a:off x="4231" y="1988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/>
                <a:t>ISP</a:t>
              </a:r>
            </a:p>
          </p:txBody>
        </p:sp>
      </p:grpSp>
      <p:sp>
        <p:nvSpPr>
          <p:cNvPr id="20493" name="Line 14"/>
          <p:cNvSpPr>
            <a:spLocks noChangeShapeType="1"/>
          </p:cNvSpPr>
          <p:nvPr/>
        </p:nvSpPr>
        <p:spPr bwMode="auto">
          <a:xfrm flipV="1">
            <a:off x="2690813" y="2363788"/>
            <a:ext cx="1938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4" name="Text Box 17"/>
          <p:cNvSpPr txBox="1">
            <a:spLocks noChangeArrowheads="1"/>
          </p:cNvSpPr>
          <p:nvPr/>
        </p:nvSpPr>
        <p:spPr bwMode="auto">
          <a:xfrm>
            <a:off x="5942013" y="1530350"/>
            <a:ext cx="107473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600"/>
              <a:t>telephone</a:t>
            </a:r>
          </a:p>
          <a:p>
            <a:pPr>
              <a:lnSpc>
                <a:spcPct val="85000"/>
              </a:lnSpc>
            </a:pPr>
            <a:r>
              <a:rPr lang="en-US" sz="1600"/>
              <a:t>network</a:t>
            </a:r>
          </a:p>
        </p:txBody>
      </p:sp>
      <p:grpSp>
        <p:nvGrpSpPr>
          <p:cNvPr id="20495" name="Group 108"/>
          <p:cNvGrpSpPr>
            <a:grpSpLocks/>
          </p:cNvGrpSpPr>
          <p:nvPr/>
        </p:nvGrpSpPr>
        <p:grpSpPr bwMode="auto">
          <a:xfrm>
            <a:off x="4641850" y="2074863"/>
            <a:ext cx="368300" cy="519112"/>
            <a:chOff x="1852" y="2562"/>
            <a:chExt cx="355" cy="471"/>
          </a:xfrm>
        </p:grpSpPr>
        <p:sp>
          <p:nvSpPr>
            <p:cNvPr id="20531" name="Freeform 109"/>
            <p:cNvSpPr>
              <a:spLocks/>
            </p:cNvSpPr>
            <p:nvPr/>
          </p:nvSpPr>
          <p:spPr bwMode="auto">
            <a:xfrm>
              <a:off x="1852" y="2621"/>
              <a:ext cx="318" cy="412"/>
            </a:xfrm>
            <a:custGeom>
              <a:avLst/>
              <a:gdLst>
                <a:gd name="T0" fmla="*/ 0 w 318"/>
                <a:gd name="T1" fmla="*/ 412 h 412"/>
                <a:gd name="T2" fmla="*/ 3 w 318"/>
                <a:gd name="T3" fmla="*/ 1 h 412"/>
                <a:gd name="T4" fmla="*/ 74 w 318"/>
                <a:gd name="T5" fmla="*/ 0 h 412"/>
                <a:gd name="T6" fmla="*/ 254 w 318"/>
                <a:gd name="T7" fmla="*/ 111 h 412"/>
                <a:gd name="T8" fmla="*/ 318 w 318"/>
                <a:gd name="T9" fmla="*/ 115 h 412"/>
                <a:gd name="T10" fmla="*/ 318 w 318"/>
                <a:gd name="T11" fmla="*/ 308 h 412"/>
                <a:gd name="T12" fmla="*/ 246 w 318"/>
                <a:gd name="T13" fmla="*/ 308 h 412"/>
                <a:gd name="T14" fmla="*/ 74 w 318"/>
                <a:gd name="T15" fmla="*/ 412 h 412"/>
                <a:gd name="T16" fmla="*/ 0 w 318"/>
                <a:gd name="T17" fmla="*/ 412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110"/>
            <p:cNvSpPr>
              <a:spLocks/>
            </p:cNvSpPr>
            <p:nvPr/>
          </p:nvSpPr>
          <p:spPr bwMode="auto">
            <a:xfrm>
              <a:off x="1854" y="2562"/>
              <a:ext cx="353" cy="369"/>
            </a:xfrm>
            <a:custGeom>
              <a:avLst/>
              <a:gdLst>
                <a:gd name="T0" fmla="*/ 0 w 353"/>
                <a:gd name="T1" fmla="*/ 59 h 369"/>
                <a:gd name="T2" fmla="*/ 32 w 353"/>
                <a:gd name="T3" fmla="*/ 0 h 369"/>
                <a:gd name="T4" fmla="*/ 105 w 353"/>
                <a:gd name="T5" fmla="*/ 0 h 369"/>
                <a:gd name="T6" fmla="*/ 276 w 353"/>
                <a:gd name="T7" fmla="*/ 113 h 369"/>
                <a:gd name="T8" fmla="*/ 353 w 353"/>
                <a:gd name="T9" fmla="*/ 113 h 369"/>
                <a:gd name="T10" fmla="*/ 353 w 353"/>
                <a:gd name="T11" fmla="*/ 315 h 369"/>
                <a:gd name="T12" fmla="*/ 318 w 353"/>
                <a:gd name="T13" fmla="*/ 369 h 369"/>
                <a:gd name="T14" fmla="*/ 315 w 353"/>
                <a:gd name="T15" fmla="*/ 173 h 369"/>
                <a:gd name="T16" fmla="*/ 254 w 353"/>
                <a:gd name="T17" fmla="*/ 173 h 369"/>
                <a:gd name="T18" fmla="*/ 75 w 353"/>
                <a:gd name="T19" fmla="*/ 60 h 369"/>
                <a:gd name="T20" fmla="*/ 0 w 353"/>
                <a:gd name="T21" fmla="*/ 59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Line 111"/>
            <p:cNvSpPr>
              <a:spLocks noChangeShapeType="1"/>
            </p:cNvSpPr>
            <p:nvPr/>
          </p:nvSpPr>
          <p:spPr bwMode="auto">
            <a:xfrm flipH="1">
              <a:off x="2167" y="2674"/>
              <a:ext cx="34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Line 112"/>
            <p:cNvSpPr>
              <a:spLocks noChangeShapeType="1"/>
            </p:cNvSpPr>
            <p:nvPr/>
          </p:nvSpPr>
          <p:spPr bwMode="auto">
            <a:xfrm>
              <a:off x="1880" y="283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113"/>
            <p:cNvSpPr>
              <a:spLocks/>
            </p:cNvSpPr>
            <p:nvPr/>
          </p:nvSpPr>
          <p:spPr bwMode="auto">
            <a:xfrm>
              <a:off x="1874" y="2670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114"/>
            <p:cNvSpPr>
              <a:spLocks/>
            </p:cNvSpPr>
            <p:nvPr/>
          </p:nvSpPr>
          <p:spPr bwMode="auto">
            <a:xfrm flipV="1">
              <a:off x="1874" y="2884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6" name="Text Box 115"/>
          <p:cNvSpPr txBox="1">
            <a:spLocks noChangeArrowheads="1"/>
          </p:cNvSpPr>
          <p:nvPr/>
        </p:nvSpPr>
        <p:spPr bwMode="auto">
          <a:xfrm>
            <a:off x="4321175" y="2619375"/>
            <a:ext cx="950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/>
              <a:t>DSLAM</a:t>
            </a:r>
          </a:p>
        </p:txBody>
      </p:sp>
      <p:grpSp>
        <p:nvGrpSpPr>
          <p:cNvPr id="20497" name="Group 118"/>
          <p:cNvGrpSpPr>
            <a:grpSpLocks/>
          </p:cNvGrpSpPr>
          <p:nvPr/>
        </p:nvGrpSpPr>
        <p:grpSpPr bwMode="auto">
          <a:xfrm>
            <a:off x="3382963" y="1362075"/>
            <a:ext cx="796925" cy="658813"/>
            <a:chOff x="1671" y="1861"/>
            <a:chExt cx="502" cy="415"/>
          </a:xfrm>
        </p:grpSpPr>
        <p:sp>
          <p:nvSpPr>
            <p:cNvPr id="20529" name="Rectangle 116"/>
            <p:cNvSpPr>
              <a:spLocks noChangeArrowheads="1"/>
            </p:cNvSpPr>
            <p:nvPr/>
          </p:nvSpPr>
          <p:spPr bwMode="auto"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0" name="AutoShape 117"/>
            <p:cNvSpPr>
              <a:spLocks noChangeArrowheads="1"/>
            </p:cNvSpPr>
            <p:nvPr/>
          </p:nvSpPr>
          <p:spPr bwMode="auto">
            <a:xfrm>
              <a:off x="1671" y="1861"/>
              <a:ext cx="502" cy="129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498" name="Freeform 119"/>
          <p:cNvSpPr>
            <a:spLocks/>
          </p:cNvSpPr>
          <p:nvPr/>
        </p:nvSpPr>
        <p:spPr bwMode="auto">
          <a:xfrm>
            <a:off x="3986213" y="1951038"/>
            <a:ext cx="674687" cy="239712"/>
          </a:xfrm>
          <a:custGeom>
            <a:avLst/>
            <a:gdLst>
              <a:gd name="T0" fmla="*/ 0 w 425"/>
              <a:gd name="T1" fmla="*/ 0 h 151"/>
              <a:gd name="T2" fmla="*/ 0 w 425"/>
              <a:gd name="T3" fmla="*/ 2147483647 h 151"/>
              <a:gd name="T4" fmla="*/ 2147483647 w 425"/>
              <a:gd name="T5" fmla="*/ 2147483647 h 151"/>
              <a:gd name="T6" fmla="*/ 0 60000 65536"/>
              <a:gd name="T7" fmla="*/ 0 60000 65536"/>
              <a:gd name="T8" fmla="*/ 0 60000 65536"/>
              <a:gd name="T9" fmla="*/ 0 w 425"/>
              <a:gd name="T10" fmla="*/ 0 h 151"/>
              <a:gd name="T11" fmla="*/ 425 w 425"/>
              <a:gd name="T12" fmla="*/ 151 h 1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" h="151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Line 120"/>
          <p:cNvSpPr>
            <a:spLocks noChangeShapeType="1"/>
          </p:cNvSpPr>
          <p:nvPr/>
        </p:nvSpPr>
        <p:spPr bwMode="auto">
          <a:xfrm>
            <a:off x="5014913" y="2316163"/>
            <a:ext cx="377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Freeform 123"/>
          <p:cNvSpPr>
            <a:spLocks/>
          </p:cNvSpPr>
          <p:nvPr/>
        </p:nvSpPr>
        <p:spPr bwMode="auto">
          <a:xfrm>
            <a:off x="5014913" y="2384425"/>
            <a:ext cx="463550" cy="1009650"/>
          </a:xfrm>
          <a:custGeom>
            <a:avLst/>
            <a:gdLst>
              <a:gd name="T0" fmla="*/ 0 w 292"/>
              <a:gd name="T1" fmla="*/ 0 h 636"/>
              <a:gd name="T2" fmla="*/ 2147483647 w 292"/>
              <a:gd name="T3" fmla="*/ 0 h 636"/>
              <a:gd name="T4" fmla="*/ 2147483647 w 292"/>
              <a:gd name="T5" fmla="*/ 2147483647 h 636"/>
              <a:gd name="T6" fmla="*/ 2147483647 w 292"/>
              <a:gd name="T7" fmla="*/ 2147483647 h 636"/>
              <a:gd name="T8" fmla="*/ 0 60000 65536"/>
              <a:gd name="T9" fmla="*/ 0 60000 65536"/>
              <a:gd name="T10" fmla="*/ 0 60000 65536"/>
              <a:gd name="T11" fmla="*/ 0 60000 65536"/>
              <a:gd name="T12" fmla="*/ 0 w 292"/>
              <a:gd name="T13" fmla="*/ 0 h 636"/>
              <a:gd name="T14" fmla="*/ 292 w 292"/>
              <a:gd name="T15" fmla="*/ 636 h 6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" h="636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" name="Group 135"/>
          <p:cNvGrpSpPr>
            <a:grpSpLocks/>
          </p:cNvGrpSpPr>
          <p:nvPr/>
        </p:nvGrpSpPr>
        <p:grpSpPr bwMode="auto">
          <a:xfrm>
            <a:off x="777875" y="2441575"/>
            <a:ext cx="3117850" cy="1611313"/>
            <a:chOff x="490" y="1538"/>
            <a:chExt cx="1964" cy="1015"/>
          </a:xfrm>
        </p:grpSpPr>
        <p:sp>
          <p:nvSpPr>
            <p:cNvPr id="20527" name="Text Box 124"/>
            <p:cNvSpPr txBox="1">
              <a:spLocks noChangeArrowheads="1"/>
            </p:cNvSpPr>
            <p:nvPr/>
          </p:nvSpPr>
          <p:spPr bwMode="auto">
            <a:xfrm>
              <a:off x="490" y="2102"/>
              <a:ext cx="1809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 i="1"/>
                <a:t>voice, data transmitted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at different frequencies over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>
                  <a:solidFill>
                    <a:srgbClr val="CC0000"/>
                  </a:solidFill>
                </a:rPr>
                <a:t>dedicated </a:t>
              </a:r>
              <a:r>
                <a:rPr lang="en-US" sz="1600" i="1"/>
                <a:t>line to central office</a:t>
              </a:r>
            </a:p>
          </p:txBody>
        </p:sp>
        <p:sp>
          <p:nvSpPr>
            <p:cNvPr id="20528" name="Line 125"/>
            <p:cNvSpPr>
              <a:spLocks noChangeShapeType="1"/>
            </p:cNvSpPr>
            <p:nvPr/>
          </p:nvSpPr>
          <p:spPr bwMode="auto">
            <a:xfrm flipV="1">
              <a:off x="2093" y="1538"/>
              <a:ext cx="361" cy="58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4384" name="Rectangle 52"/>
          <p:cNvSpPr>
            <a:spLocks noChangeArrowheads="1"/>
          </p:cNvSpPr>
          <p:nvPr/>
        </p:nvSpPr>
        <p:spPr bwMode="auto">
          <a:xfrm>
            <a:off x="0" y="3995738"/>
            <a:ext cx="91186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</a:pPr>
            <a:endParaRPr lang="en-US">
              <a:solidFill>
                <a:srgbClr val="FF0000"/>
              </a:solidFill>
              <a:latin typeface="Comic Sans MS" pitchFamily="66" charset="0"/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use </a:t>
            </a: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existing</a:t>
            </a:r>
            <a:r>
              <a:rPr lang="en-US">
                <a:latin typeface="Gill Sans MT" pitchFamily="34" charset="0"/>
              </a:rPr>
              <a:t> telephone line to central office DSLAM</a:t>
            </a:r>
          </a:p>
          <a:p>
            <a:pPr marL="1143000" lvl="2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data over DSL phone line goes to Internet</a:t>
            </a:r>
          </a:p>
          <a:p>
            <a:pPr marL="1143000" lvl="2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voice over DSL phone line goes to telephone net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&lt; 2.5 Mbps upstream transmission rate (typically &lt; 1 Mbps)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&lt; 24 Mbps downstream transmission rate (typically &lt; 10 Mbps)</a:t>
            </a:r>
          </a:p>
        </p:txBody>
      </p:sp>
      <p:sp>
        <p:nvSpPr>
          <p:cNvPr id="20503" name="Rectangle 90"/>
          <p:cNvSpPr>
            <a:spLocks noChangeArrowheads="1"/>
          </p:cNvSpPr>
          <p:nvPr/>
        </p:nvSpPr>
        <p:spPr bwMode="auto">
          <a:xfrm>
            <a:off x="1238250" y="1814513"/>
            <a:ext cx="1978025" cy="139541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Line 7"/>
          <p:cNvSpPr>
            <a:spLocks noChangeShapeType="1"/>
          </p:cNvSpPr>
          <p:nvPr/>
        </p:nvSpPr>
        <p:spPr bwMode="auto">
          <a:xfrm flipV="1">
            <a:off x="1724025" y="2365375"/>
            <a:ext cx="3651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5" name="Text Box 39"/>
          <p:cNvSpPr txBox="1">
            <a:spLocks noChangeArrowheads="1"/>
          </p:cNvSpPr>
          <p:nvPr/>
        </p:nvSpPr>
        <p:spPr bwMode="auto">
          <a:xfrm>
            <a:off x="1985963" y="2471738"/>
            <a:ext cx="7747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DSL</a:t>
            </a:r>
          </a:p>
          <a:p>
            <a:pPr algn="ctr">
              <a:lnSpc>
                <a:spcPct val="80000"/>
              </a:lnSpc>
            </a:pPr>
            <a:r>
              <a:rPr lang="en-US" sz="1400"/>
              <a:t>modem</a:t>
            </a:r>
          </a:p>
        </p:txBody>
      </p:sp>
      <p:sp>
        <p:nvSpPr>
          <p:cNvPr id="20506" name="Text Box 41"/>
          <p:cNvSpPr txBox="1">
            <a:spLocks noChangeArrowheads="1"/>
          </p:cNvSpPr>
          <p:nvPr/>
        </p:nvSpPr>
        <p:spPr bwMode="auto">
          <a:xfrm>
            <a:off x="2663825" y="2495550"/>
            <a:ext cx="7064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splitter</a:t>
            </a:r>
          </a:p>
        </p:txBody>
      </p:sp>
      <p:grpSp>
        <p:nvGrpSpPr>
          <p:cNvPr id="20507" name="Group 94"/>
          <p:cNvGrpSpPr>
            <a:grpSpLocks/>
          </p:cNvGrpSpPr>
          <p:nvPr/>
        </p:nvGrpSpPr>
        <p:grpSpPr bwMode="auto">
          <a:xfrm>
            <a:off x="2079625" y="2252663"/>
            <a:ext cx="614363" cy="220662"/>
            <a:chOff x="322" y="890"/>
            <a:chExt cx="872" cy="339"/>
          </a:xfrm>
        </p:grpSpPr>
        <p:sp>
          <p:nvSpPr>
            <p:cNvPr id="20521" name="Rectangle 95"/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2" name="Rectangle 96"/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Rectangle 97"/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4" name="Rectangle 98"/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5" name="Rectangle 99"/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6" name="AutoShape 100"/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08" name="AutoShape 102"/>
          <p:cNvSpPr>
            <a:spLocks noChangeArrowheads="1"/>
          </p:cNvSpPr>
          <p:nvPr/>
        </p:nvSpPr>
        <p:spPr bwMode="auto">
          <a:xfrm>
            <a:off x="955675" y="1403350"/>
            <a:ext cx="2498725" cy="468313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9" name="Rectangle 103"/>
          <p:cNvSpPr>
            <a:spLocks noChangeArrowheads="1"/>
          </p:cNvSpPr>
          <p:nvPr/>
        </p:nvSpPr>
        <p:spPr bwMode="auto">
          <a:xfrm>
            <a:off x="2933700" y="2303463"/>
            <a:ext cx="166688" cy="144462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10" name="Freeform 104"/>
          <p:cNvSpPr>
            <a:spLocks/>
          </p:cNvSpPr>
          <p:nvPr/>
        </p:nvSpPr>
        <p:spPr bwMode="auto">
          <a:xfrm>
            <a:off x="2409825" y="1858963"/>
            <a:ext cx="604838" cy="434975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0511" name="Object 3"/>
          <p:cNvGraphicFramePr>
            <a:graphicFrameLocks noChangeAspect="1"/>
          </p:cNvGraphicFramePr>
          <p:nvPr/>
        </p:nvGraphicFramePr>
        <p:xfrm>
          <a:off x="2070100" y="1655763"/>
          <a:ext cx="49053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" name="Clip" r:id="rId4" imgW="681706" imgH="480401" progId="MS_ClipArt_Gallery.2">
                  <p:embed/>
                </p:oleObj>
              </mc:Choice>
              <mc:Fallback>
                <p:oleObj name="Clip" r:id="rId4" imgW="681706" imgH="480401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1655763"/>
                        <a:ext cx="490538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Line 130"/>
          <p:cNvSpPr>
            <a:spLocks noChangeShapeType="1"/>
          </p:cNvSpPr>
          <p:nvPr/>
        </p:nvSpPr>
        <p:spPr bwMode="auto">
          <a:xfrm flipH="1">
            <a:off x="2697163" y="2365375"/>
            <a:ext cx="239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3" name="AutoShape 131"/>
          <p:cNvSpPr>
            <a:spLocks noChangeArrowheads="1"/>
          </p:cNvSpPr>
          <p:nvPr/>
        </p:nvSpPr>
        <p:spPr bwMode="auto">
          <a:xfrm>
            <a:off x="4445000" y="1703388"/>
            <a:ext cx="1206500" cy="2619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136"/>
          <p:cNvGrpSpPr>
            <a:grpSpLocks/>
          </p:cNvGrpSpPr>
          <p:nvPr/>
        </p:nvGrpSpPr>
        <p:grpSpPr bwMode="auto">
          <a:xfrm>
            <a:off x="3678238" y="2867025"/>
            <a:ext cx="1323975" cy="1174750"/>
            <a:chOff x="2317" y="1806"/>
            <a:chExt cx="834" cy="740"/>
          </a:xfrm>
        </p:grpSpPr>
        <p:sp>
          <p:nvSpPr>
            <p:cNvPr id="20519" name="Line 132"/>
            <p:cNvSpPr>
              <a:spLocks noChangeShapeType="1"/>
            </p:cNvSpPr>
            <p:nvPr/>
          </p:nvSpPr>
          <p:spPr bwMode="auto">
            <a:xfrm flipV="1">
              <a:off x="2671" y="1806"/>
              <a:ext cx="268" cy="43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Text Box 133"/>
            <p:cNvSpPr txBox="1">
              <a:spLocks noChangeArrowheads="1"/>
            </p:cNvSpPr>
            <p:nvPr/>
          </p:nvSpPr>
          <p:spPr bwMode="auto">
            <a:xfrm>
              <a:off x="2317" y="2226"/>
              <a:ext cx="83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 i="1"/>
                <a:t>DSL access 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multiplexer</a:t>
              </a:r>
            </a:p>
          </p:txBody>
        </p:sp>
      </p:grpSp>
      <p:grpSp>
        <p:nvGrpSpPr>
          <p:cNvPr id="20515" name="Group 141"/>
          <p:cNvGrpSpPr>
            <a:grpSpLocks/>
          </p:cNvGrpSpPr>
          <p:nvPr/>
        </p:nvGrpSpPr>
        <p:grpSpPr bwMode="auto">
          <a:xfrm>
            <a:off x="1143000" y="2043113"/>
            <a:ext cx="642938" cy="644525"/>
            <a:chOff x="-44" y="1473"/>
            <a:chExt cx="981" cy="1105"/>
          </a:xfrm>
        </p:grpSpPr>
        <p:pic>
          <p:nvPicPr>
            <p:cNvPr id="20517" name="Picture 142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8" name="Freeform 14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05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2EEF6195-D851-488D-B9B8-4793E712A120}" type="slidenum">
              <a:rPr lang="en-US" sz="1200" smtClean="0">
                <a:latin typeface="Tahoma" pitchFamily="34" charset="0"/>
              </a:rPr>
              <a:pPr/>
              <a:t>13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38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21507" name="Title 41"/>
          <p:cNvSpPr>
            <a:spLocks/>
          </p:cNvSpPr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Access net: cable network</a:t>
            </a:r>
          </a:p>
        </p:txBody>
      </p:sp>
      <p:sp>
        <p:nvSpPr>
          <p:cNvPr id="21508" name="Rectangle 60"/>
          <p:cNvSpPr>
            <a:spLocks noChangeArrowheads="1"/>
          </p:cNvSpPr>
          <p:nvPr/>
        </p:nvSpPr>
        <p:spPr bwMode="auto">
          <a:xfrm>
            <a:off x="657225" y="1651000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Line 7"/>
          <p:cNvSpPr>
            <a:spLocks noChangeShapeType="1"/>
          </p:cNvSpPr>
          <p:nvPr/>
        </p:nvSpPr>
        <p:spPr bwMode="auto">
          <a:xfrm flipV="1">
            <a:off x="958850" y="2201863"/>
            <a:ext cx="3651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0" name="Text Box 39"/>
          <p:cNvSpPr txBox="1">
            <a:spLocks noChangeArrowheads="1"/>
          </p:cNvSpPr>
          <p:nvPr/>
        </p:nvSpPr>
        <p:spPr bwMode="auto">
          <a:xfrm>
            <a:off x="1120775" y="2352675"/>
            <a:ext cx="7747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cable</a:t>
            </a:r>
          </a:p>
          <a:p>
            <a:pPr algn="ctr">
              <a:lnSpc>
                <a:spcPct val="80000"/>
              </a:lnSpc>
            </a:pPr>
            <a:r>
              <a:rPr lang="en-US" sz="1400"/>
              <a:t>modem</a:t>
            </a:r>
          </a:p>
        </p:txBody>
      </p:sp>
      <p:sp>
        <p:nvSpPr>
          <p:cNvPr id="21511" name="Text Box 41"/>
          <p:cNvSpPr txBox="1">
            <a:spLocks noChangeArrowheads="1"/>
          </p:cNvSpPr>
          <p:nvPr/>
        </p:nvSpPr>
        <p:spPr bwMode="auto">
          <a:xfrm>
            <a:off x="1787525" y="2354263"/>
            <a:ext cx="7064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splitter</a:t>
            </a:r>
          </a:p>
        </p:txBody>
      </p:sp>
      <p:grpSp>
        <p:nvGrpSpPr>
          <p:cNvPr id="21512" name="Group 64"/>
          <p:cNvGrpSpPr>
            <a:grpSpLocks/>
          </p:cNvGrpSpPr>
          <p:nvPr/>
        </p:nvGrpSpPr>
        <p:grpSpPr bwMode="auto">
          <a:xfrm>
            <a:off x="1304925" y="2078038"/>
            <a:ext cx="614363" cy="220662"/>
            <a:chOff x="322" y="890"/>
            <a:chExt cx="872" cy="339"/>
          </a:xfrm>
        </p:grpSpPr>
        <p:sp>
          <p:nvSpPr>
            <p:cNvPr id="21668" name="Rectangle 65"/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69" name="Rectangle 66"/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70" name="Rectangle 67"/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71" name="Rectangle 68"/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72" name="Rectangle 69"/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73" name="AutoShape 70"/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13" name="AutoShape 72"/>
          <p:cNvSpPr>
            <a:spLocks noChangeArrowheads="1"/>
          </p:cNvSpPr>
          <p:nvPr/>
        </p:nvSpPr>
        <p:spPr bwMode="auto">
          <a:xfrm>
            <a:off x="419100" y="1239838"/>
            <a:ext cx="2268538" cy="468312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Rectangle 73"/>
          <p:cNvSpPr>
            <a:spLocks noChangeArrowheads="1"/>
          </p:cNvSpPr>
          <p:nvPr/>
        </p:nvSpPr>
        <p:spPr bwMode="auto">
          <a:xfrm>
            <a:off x="2035175" y="2139950"/>
            <a:ext cx="166688" cy="144463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Freeform 74"/>
          <p:cNvSpPr>
            <a:spLocks/>
          </p:cNvSpPr>
          <p:nvPr/>
        </p:nvSpPr>
        <p:spPr bwMode="auto">
          <a:xfrm>
            <a:off x="1644650" y="1695450"/>
            <a:ext cx="479425" cy="434975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95"/>
          <p:cNvSpPr>
            <a:spLocks noChangeShapeType="1"/>
          </p:cNvSpPr>
          <p:nvPr/>
        </p:nvSpPr>
        <p:spPr bwMode="auto">
          <a:xfrm flipH="1">
            <a:off x="1943100" y="2201863"/>
            <a:ext cx="239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1517" name="Picture 96" descr="t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355725"/>
            <a:ext cx="75565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18" name="Group 117"/>
          <p:cNvGrpSpPr>
            <a:grpSpLocks/>
          </p:cNvGrpSpPr>
          <p:nvPr/>
        </p:nvGrpSpPr>
        <p:grpSpPr bwMode="auto">
          <a:xfrm>
            <a:off x="2676525" y="1470025"/>
            <a:ext cx="850900" cy="527050"/>
            <a:chOff x="-490" y="1664"/>
            <a:chExt cx="1429" cy="842"/>
          </a:xfrm>
        </p:grpSpPr>
        <p:sp>
          <p:nvSpPr>
            <p:cNvPr id="21652" name="AutoShape 111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653" name="Group 116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654" name="Rectangle 99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55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656" name="Group 103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662" name="Rectangle 104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3" name="Rectangle 105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4" name="Rectangle 106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5" name="Rectangle 107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6" name="Rectangle 108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7" name="AutoShape 109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657" name="Picture 110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658" name="Rectangle 112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59" name="Freeform 113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0" name="Line 114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661" name="Picture 115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1519" name="Group 118"/>
          <p:cNvGrpSpPr>
            <a:grpSpLocks/>
          </p:cNvGrpSpPr>
          <p:nvPr/>
        </p:nvGrpSpPr>
        <p:grpSpPr bwMode="auto">
          <a:xfrm>
            <a:off x="3578225" y="1463675"/>
            <a:ext cx="850900" cy="527050"/>
            <a:chOff x="-490" y="1664"/>
            <a:chExt cx="1429" cy="842"/>
          </a:xfrm>
        </p:grpSpPr>
        <p:sp>
          <p:nvSpPr>
            <p:cNvPr id="21636" name="AutoShape 119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637" name="Group 120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638" name="Rectangle 121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39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640" name="Group 123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646" name="Rectangle 124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47" name="Rectangle 125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48" name="Rectangle 126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49" name="Rectangle 127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50" name="Rectangle 128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51" name="AutoShape 129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641" name="Picture 130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642" name="Rectangle 131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43" name="Freeform 132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4" name="Line 133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645" name="Picture 134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1520" name="Group 135"/>
          <p:cNvGrpSpPr>
            <a:grpSpLocks/>
          </p:cNvGrpSpPr>
          <p:nvPr/>
        </p:nvGrpSpPr>
        <p:grpSpPr bwMode="auto">
          <a:xfrm>
            <a:off x="2763838" y="2309813"/>
            <a:ext cx="850900" cy="527050"/>
            <a:chOff x="-490" y="1664"/>
            <a:chExt cx="1429" cy="842"/>
          </a:xfrm>
        </p:grpSpPr>
        <p:sp>
          <p:nvSpPr>
            <p:cNvPr id="21620" name="AutoShape 136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621" name="Group 137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622" name="Rectangle 138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23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624" name="Group 140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630" name="Rectangle 141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1" name="Rectangle 142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2" name="Rectangle 143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3" name="Rectangle 144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4" name="Rectangle 145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5" name="AutoShape 146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625" name="Picture 147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626" name="Rectangle 148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27" name="Freeform 149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8" name="Line 150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629" name="Picture 151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1521" name="Group 152"/>
          <p:cNvGrpSpPr>
            <a:grpSpLocks/>
          </p:cNvGrpSpPr>
          <p:nvPr/>
        </p:nvGrpSpPr>
        <p:grpSpPr bwMode="auto">
          <a:xfrm>
            <a:off x="3630613" y="2319338"/>
            <a:ext cx="850900" cy="527050"/>
            <a:chOff x="-490" y="1664"/>
            <a:chExt cx="1429" cy="842"/>
          </a:xfrm>
        </p:grpSpPr>
        <p:sp>
          <p:nvSpPr>
            <p:cNvPr id="21604" name="AutoShape 153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605" name="Group 154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606" name="Rectangle 155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07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608" name="Group 157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614" name="Rectangle 158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5" name="Rectangle 159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6" name="Rectangle 160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7" name="Rectangle 161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8" name="Rectangle 162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9" name="AutoShape 163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609" name="Picture 164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610" name="Rectangle 165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11" name="Freeform 166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12" name="Line 167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613" name="Picture 168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1522" name="Line 169"/>
          <p:cNvSpPr>
            <a:spLocks noChangeShapeType="1"/>
          </p:cNvSpPr>
          <p:nvPr/>
        </p:nvSpPr>
        <p:spPr bwMode="auto">
          <a:xfrm>
            <a:off x="2217738" y="2212975"/>
            <a:ext cx="3690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523" name="Group 170"/>
          <p:cNvGrpSpPr>
            <a:grpSpLocks/>
          </p:cNvGrpSpPr>
          <p:nvPr/>
        </p:nvGrpSpPr>
        <p:grpSpPr bwMode="auto">
          <a:xfrm>
            <a:off x="4719638" y="1471613"/>
            <a:ext cx="850900" cy="527050"/>
            <a:chOff x="-490" y="1664"/>
            <a:chExt cx="1429" cy="842"/>
          </a:xfrm>
        </p:grpSpPr>
        <p:sp>
          <p:nvSpPr>
            <p:cNvPr id="21588" name="AutoShape 171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589" name="Group 172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590" name="Rectangle 173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91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592" name="Group 175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598" name="Rectangle 176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99" name="Rectangle 177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00" name="Rectangle 178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01" name="Rectangle 179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02" name="Rectangle 180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03" name="AutoShape 181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593" name="Picture 182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94" name="Rectangle 183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95" name="Freeform 184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96" name="Line 185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597" name="Picture 186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1524" name="Text Box 204"/>
          <p:cNvSpPr txBox="1">
            <a:spLocks noChangeArrowheads="1"/>
          </p:cNvSpPr>
          <p:nvPr/>
        </p:nvSpPr>
        <p:spPr bwMode="auto">
          <a:xfrm>
            <a:off x="4330700" y="15414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969696"/>
                </a:solidFill>
                <a:latin typeface="Times New Roman" pitchFamily="18" charset="0"/>
              </a:rPr>
              <a:t>…</a:t>
            </a:r>
          </a:p>
        </p:txBody>
      </p:sp>
      <p:sp>
        <p:nvSpPr>
          <p:cNvPr id="21525" name="Line 205"/>
          <p:cNvSpPr>
            <a:spLocks noChangeShapeType="1"/>
          </p:cNvSpPr>
          <p:nvPr/>
        </p:nvSpPr>
        <p:spPr bwMode="auto">
          <a:xfrm flipH="1">
            <a:off x="3311525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6" name="Line 206"/>
          <p:cNvSpPr>
            <a:spLocks noChangeShapeType="1"/>
          </p:cNvSpPr>
          <p:nvPr/>
        </p:nvSpPr>
        <p:spPr bwMode="auto">
          <a:xfrm flipH="1">
            <a:off x="4216400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7" name="Line 207"/>
          <p:cNvSpPr>
            <a:spLocks noChangeShapeType="1"/>
          </p:cNvSpPr>
          <p:nvPr/>
        </p:nvSpPr>
        <p:spPr bwMode="auto">
          <a:xfrm flipH="1">
            <a:off x="5353050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8" name="Freeform 208"/>
          <p:cNvSpPr>
            <a:spLocks/>
          </p:cNvSpPr>
          <p:nvPr/>
        </p:nvSpPr>
        <p:spPr bwMode="auto">
          <a:xfrm>
            <a:off x="4302125" y="221932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9" name="Freeform 209"/>
          <p:cNvSpPr>
            <a:spLocks/>
          </p:cNvSpPr>
          <p:nvPr/>
        </p:nvSpPr>
        <p:spPr bwMode="auto">
          <a:xfrm>
            <a:off x="3435350" y="221297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Rectangle 44"/>
          <p:cNvSpPr>
            <a:spLocks noChangeArrowheads="1"/>
          </p:cNvSpPr>
          <p:nvPr/>
        </p:nvSpPr>
        <p:spPr bwMode="auto">
          <a:xfrm>
            <a:off x="5646738" y="1787525"/>
            <a:ext cx="955675" cy="70008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31" name="Text Box 45"/>
          <p:cNvSpPr txBox="1">
            <a:spLocks noChangeArrowheads="1"/>
          </p:cNvSpPr>
          <p:nvPr/>
        </p:nvSpPr>
        <p:spPr bwMode="auto">
          <a:xfrm>
            <a:off x="5157788" y="1250950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/>
              <a:t>cable headend</a:t>
            </a:r>
          </a:p>
        </p:txBody>
      </p:sp>
      <p:sp>
        <p:nvSpPr>
          <p:cNvPr id="21532" name="Freeform 216"/>
          <p:cNvSpPr>
            <a:spLocks/>
          </p:cNvSpPr>
          <p:nvPr/>
        </p:nvSpPr>
        <p:spPr bwMode="auto">
          <a:xfrm>
            <a:off x="5903913" y="1970088"/>
            <a:ext cx="330200" cy="454025"/>
          </a:xfrm>
          <a:custGeom>
            <a:avLst/>
            <a:gdLst>
              <a:gd name="T0" fmla="*/ 0 w 318"/>
              <a:gd name="T1" fmla="*/ 2147483647 h 412"/>
              <a:gd name="T2" fmla="*/ 2147483647 w 318"/>
              <a:gd name="T3" fmla="*/ 2147483647 h 412"/>
              <a:gd name="T4" fmla="*/ 2147483647 w 318"/>
              <a:gd name="T5" fmla="*/ 0 h 412"/>
              <a:gd name="T6" fmla="*/ 2147483647 w 318"/>
              <a:gd name="T7" fmla="*/ 2147483647 h 412"/>
              <a:gd name="T8" fmla="*/ 2147483647 w 318"/>
              <a:gd name="T9" fmla="*/ 2147483647 h 412"/>
              <a:gd name="T10" fmla="*/ 2147483647 w 318"/>
              <a:gd name="T11" fmla="*/ 2147483647 h 412"/>
              <a:gd name="T12" fmla="*/ 2147483647 w 318"/>
              <a:gd name="T13" fmla="*/ 2147483647 h 412"/>
              <a:gd name="T14" fmla="*/ 2147483647 w 318"/>
              <a:gd name="T15" fmla="*/ 2147483647 h 412"/>
              <a:gd name="T16" fmla="*/ 0 w 318"/>
              <a:gd name="T17" fmla="*/ 2147483647 h 4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8"/>
              <a:gd name="T28" fmla="*/ 0 h 412"/>
              <a:gd name="T29" fmla="*/ 318 w 318"/>
              <a:gd name="T30" fmla="*/ 412 h 4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8" h="412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FFFF99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33" name="Freeform 217"/>
          <p:cNvSpPr>
            <a:spLocks/>
          </p:cNvSpPr>
          <p:nvPr/>
        </p:nvSpPr>
        <p:spPr bwMode="auto">
          <a:xfrm>
            <a:off x="5905500" y="1905000"/>
            <a:ext cx="366713" cy="406400"/>
          </a:xfrm>
          <a:custGeom>
            <a:avLst/>
            <a:gdLst>
              <a:gd name="T0" fmla="*/ 0 w 353"/>
              <a:gd name="T1" fmla="*/ 2147483647 h 369"/>
              <a:gd name="T2" fmla="*/ 2147483647 w 353"/>
              <a:gd name="T3" fmla="*/ 0 h 369"/>
              <a:gd name="T4" fmla="*/ 2147483647 w 353"/>
              <a:gd name="T5" fmla="*/ 0 h 369"/>
              <a:gd name="T6" fmla="*/ 2147483647 w 353"/>
              <a:gd name="T7" fmla="*/ 2147483647 h 369"/>
              <a:gd name="T8" fmla="*/ 2147483647 w 353"/>
              <a:gd name="T9" fmla="*/ 2147483647 h 369"/>
              <a:gd name="T10" fmla="*/ 2147483647 w 353"/>
              <a:gd name="T11" fmla="*/ 2147483647 h 369"/>
              <a:gd name="T12" fmla="*/ 2147483647 w 353"/>
              <a:gd name="T13" fmla="*/ 2147483647 h 369"/>
              <a:gd name="T14" fmla="*/ 2147483647 w 353"/>
              <a:gd name="T15" fmla="*/ 2147483647 h 369"/>
              <a:gd name="T16" fmla="*/ 2147483647 w 353"/>
              <a:gd name="T17" fmla="*/ 2147483647 h 369"/>
              <a:gd name="T18" fmla="*/ 2147483647 w 353"/>
              <a:gd name="T19" fmla="*/ 2147483647 h 369"/>
              <a:gd name="T20" fmla="*/ 0 w 353"/>
              <a:gd name="T21" fmla="*/ 2147483647 h 3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3"/>
              <a:gd name="T34" fmla="*/ 0 h 369"/>
              <a:gd name="T35" fmla="*/ 353 w 353"/>
              <a:gd name="T36" fmla="*/ 369 h 3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3" h="369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34" name="Line 218"/>
          <p:cNvSpPr>
            <a:spLocks noChangeShapeType="1"/>
          </p:cNvSpPr>
          <p:nvPr/>
        </p:nvSpPr>
        <p:spPr bwMode="auto">
          <a:xfrm flipH="1">
            <a:off x="6230938" y="2028825"/>
            <a:ext cx="34925" cy="68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5" name="Line 219"/>
          <p:cNvSpPr>
            <a:spLocks noChangeShapeType="1"/>
          </p:cNvSpPr>
          <p:nvPr/>
        </p:nvSpPr>
        <p:spPr bwMode="auto">
          <a:xfrm>
            <a:off x="5932488" y="2200275"/>
            <a:ext cx="26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6" name="Freeform 220"/>
          <p:cNvSpPr>
            <a:spLocks/>
          </p:cNvSpPr>
          <p:nvPr/>
        </p:nvSpPr>
        <p:spPr bwMode="auto">
          <a:xfrm>
            <a:off x="5926138" y="2024063"/>
            <a:ext cx="274637" cy="115887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7" name="Freeform 221"/>
          <p:cNvSpPr>
            <a:spLocks/>
          </p:cNvSpPr>
          <p:nvPr/>
        </p:nvSpPr>
        <p:spPr bwMode="auto">
          <a:xfrm flipV="1">
            <a:off x="5926138" y="2260600"/>
            <a:ext cx="274637" cy="114300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8" name="AutoShape 225"/>
          <p:cNvSpPr>
            <a:spLocks noChangeArrowheads="1"/>
          </p:cNvSpPr>
          <p:nvPr/>
        </p:nvSpPr>
        <p:spPr bwMode="auto">
          <a:xfrm>
            <a:off x="5507038" y="1524000"/>
            <a:ext cx="1206500" cy="261938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3417888" y="3186113"/>
            <a:ext cx="2043112" cy="958850"/>
            <a:chOff x="2505" y="826"/>
            <a:chExt cx="1287" cy="604"/>
          </a:xfrm>
        </p:grpSpPr>
        <p:sp>
          <p:nvSpPr>
            <p:cNvPr id="21584" name="Line 38"/>
            <p:cNvSpPr>
              <a:spLocks noChangeShapeType="1"/>
            </p:cNvSpPr>
            <p:nvPr/>
          </p:nvSpPr>
          <p:spPr bwMode="auto">
            <a:xfrm flipH="1">
              <a:off x="2505" y="1115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39"/>
            <p:cNvSpPr>
              <a:spLocks/>
            </p:cNvSpPr>
            <p:nvPr/>
          </p:nvSpPr>
          <p:spPr bwMode="auto">
            <a:xfrm>
              <a:off x="2548" y="826"/>
              <a:ext cx="562" cy="266"/>
            </a:xfrm>
            <a:custGeom>
              <a:avLst/>
              <a:gdLst>
                <a:gd name="T0" fmla="*/ 4 w 562"/>
                <a:gd name="T1" fmla="*/ 264 h 266"/>
                <a:gd name="T2" fmla="*/ 52 w 562"/>
                <a:gd name="T3" fmla="*/ 6 h 266"/>
                <a:gd name="T4" fmla="*/ 108 w 562"/>
                <a:gd name="T5" fmla="*/ 266 h 266"/>
                <a:gd name="T6" fmla="*/ 174 w 562"/>
                <a:gd name="T7" fmla="*/ 0 h 266"/>
                <a:gd name="T8" fmla="*/ 228 w 562"/>
                <a:gd name="T9" fmla="*/ 264 h 266"/>
                <a:gd name="T10" fmla="*/ 288 w 562"/>
                <a:gd name="T11" fmla="*/ 8 h 266"/>
                <a:gd name="T12" fmla="*/ 354 w 562"/>
                <a:gd name="T13" fmla="*/ 266 h 266"/>
                <a:gd name="T14" fmla="*/ 402 w 562"/>
                <a:gd name="T15" fmla="*/ 8 h 266"/>
                <a:gd name="T16" fmla="*/ 464 w 562"/>
                <a:gd name="T17" fmla="*/ 264 h 266"/>
                <a:gd name="T18" fmla="*/ 506 w 562"/>
                <a:gd name="T19" fmla="*/ 6 h 266"/>
                <a:gd name="T20" fmla="*/ 556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40"/>
            <p:cNvSpPr>
              <a:spLocks/>
            </p:cNvSpPr>
            <p:nvPr/>
          </p:nvSpPr>
          <p:spPr bwMode="auto">
            <a:xfrm>
              <a:off x="3523" y="830"/>
              <a:ext cx="269" cy="266"/>
            </a:xfrm>
            <a:custGeom>
              <a:avLst/>
              <a:gdLst>
                <a:gd name="T0" fmla="*/ 0 w 562"/>
                <a:gd name="T1" fmla="*/ 264 h 266"/>
                <a:gd name="T2" fmla="*/ 0 w 562"/>
                <a:gd name="T3" fmla="*/ 6 h 266"/>
                <a:gd name="T4" fmla="*/ 0 w 562"/>
                <a:gd name="T5" fmla="*/ 266 h 266"/>
                <a:gd name="T6" fmla="*/ 0 w 562"/>
                <a:gd name="T7" fmla="*/ 0 h 266"/>
                <a:gd name="T8" fmla="*/ 0 w 562"/>
                <a:gd name="T9" fmla="*/ 264 h 266"/>
                <a:gd name="T10" fmla="*/ 0 w 562"/>
                <a:gd name="T11" fmla="*/ 8 h 266"/>
                <a:gd name="T12" fmla="*/ 0 w 562"/>
                <a:gd name="T13" fmla="*/ 266 h 266"/>
                <a:gd name="T14" fmla="*/ 0 w 562"/>
                <a:gd name="T15" fmla="*/ 8 h 266"/>
                <a:gd name="T16" fmla="*/ 0 w 562"/>
                <a:gd name="T17" fmla="*/ 264 h 266"/>
                <a:gd name="T18" fmla="*/ 0 w 562"/>
                <a:gd name="T19" fmla="*/ 6 h 266"/>
                <a:gd name="T20" fmla="*/ 0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Line 41"/>
            <p:cNvSpPr>
              <a:spLocks noChangeShapeType="1"/>
            </p:cNvSpPr>
            <p:nvPr/>
          </p:nvSpPr>
          <p:spPr bwMode="auto">
            <a:xfrm flipH="1">
              <a:off x="3433" y="1137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42"/>
          <p:cNvGrpSpPr>
            <a:grpSpLocks/>
          </p:cNvGrpSpPr>
          <p:nvPr/>
        </p:nvGrpSpPr>
        <p:grpSpPr bwMode="auto">
          <a:xfrm>
            <a:off x="2708275" y="3343275"/>
            <a:ext cx="3021013" cy="2114550"/>
            <a:chOff x="2606" y="951"/>
            <a:chExt cx="1903" cy="1332"/>
          </a:xfrm>
        </p:grpSpPr>
        <p:sp>
          <p:nvSpPr>
            <p:cNvPr id="21554" name="Text Box 43"/>
            <p:cNvSpPr txBox="1">
              <a:spLocks noChangeArrowheads="1"/>
            </p:cNvSpPr>
            <p:nvPr/>
          </p:nvSpPr>
          <p:spPr bwMode="auto">
            <a:xfrm>
              <a:off x="3378" y="2071"/>
              <a:ext cx="65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600"/>
                <a:t>Channels</a:t>
              </a:r>
            </a:p>
          </p:txBody>
        </p:sp>
        <p:sp>
          <p:nvSpPr>
            <p:cNvPr id="21555" name="Line 44"/>
            <p:cNvSpPr>
              <a:spLocks noChangeShapeType="1"/>
            </p:cNvSpPr>
            <p:nvPr/>
          </p:nvSpPr>
          <p:spPr bwMode="auto">
            <a:xfrm>
              <a:off x="2994" y="951"/>
              <a:ext cx="0" cy="9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Line 45"/>
            <p:cNvSpPr>
              <a:spLocks noChangeShapeType="1"/>
            </p:cNvSpPr>
            <p:nvPr/>
          </p:nvSpPr>
          <p:spPr bwMode="auto">
            <a:xfrm flipV="1">
              <a:off x="2988" y="1935"/>
              <a:ext cx="14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Text Box 46"/>
            <p:cNvSpPr txBox="1">
              <a:spLocks noChangeArrowheads="1"/>
            </p:cNvSpPr>
            <p:nvPr/>
          </p:nvSpPr>
          <p:spPr bwMode="auto">
            <a:xfrm>
              <a:off x="2978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58" name="Line 47"/>
            <p:cNvSpPr>
              <a:spLocks noChangeShapeType="1"/>
            </p:cNvSpPr>
            <p:nvPr/>
          </p:nvSpPr>
          <p:spPr bwMode="auto">
            <a:xfrm>
              <a:off x="3150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Text Box 48"/>
            <p:cNvSpPr txBox="1">
              <a:spLocks noChangeArrowheads="1"/>
            </p:cNvSpPr>
            <p:nvPr/>
          </p:nvSpPr>
          <p:spPr bwMode="auto">
            <a:xfrm>
              <a:off x="3152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0" name="Text Box 49"/>
            <p:cNvSpPr txBox="1">
              <a:spLocks noChangeArrowheads="1"/>
            </p:cNvSpPr>
            <p:nvPr/>
          </p:nvSpPr>
          <p:spPr bwMode="auto">
            <a:xfrm>
              <a:off x="3338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1" name="Text Box 50"/>
            <p:cNvSpPr txBox="1">
              <a:spLocks noChangeArrowheads="1"/>
            </p:cNvSpPr>
            <p:nvPr/>
          </p:nvSpPr>
          <p:spPr bwMode="auto">
            <a:xfrm>
              <a:off x="3524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2" name="Text Box 51"/>
            <p:cNvSpPr txBox="1">
              <a:spLocks noChangeArrowheads="1"/>
            </p:cNvSpPr>
            <p:nvPr/>
          </p:nvSpPr>
          <p:spPr bwMode="auto">
            <a:xfrm>
              <a:off x="3710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3" name="Text Box 52"/>
            <p:cNvSpPr txBox="1">
              <a:spLocks noChangeArrowheads="1"/>
            </p:cNvSpPr>
            <p:nvPr/>
          </p:nvSpPr>
          <p:spPr bwMode="auto">
            <a:xfrm>
              <a:off x="3896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4" name="Text Box 53"/>
            <p:cNvSpPr txBox="1">
              <a:spLocks noChangeArrowheads="1"/>
            </p:cNvSpPr>
            <p:nvPr/>
          </p:nvSpPr>
          <p:spPr bwMode="auto">
            <a:xfrm>
              <a:off x="4058" y="1402"/>
              <a:ext cx="174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sz="1000"/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A</a:t>
              </a:r>
            </a:p>
            <a:p>
              <a:pPr algn="ctr" eaLnBrk="1" hangingPunct="1"/>
              <a:r>
                <a:rPr lang="en-US" sz="1000"/>
                <a:t>T</a:t>
              </a:r>
            </a:p>
            <a:p>
              <a:pPr algn="ctr" eaLnBrk="1" hangingPunct="1"/>
              <a:r>
                <a:rPr lang="en-US" sz="1000"/>
                <a:t>A</a:t>
              </a:r>
            </a:p>
          </p:txBody>
        </p:sp>
        <p:sp>
          <p:nvSpPr>
            <p:cNvPr id="21565" name="Text Box 54"/>
            <p:cNvSpPr txBox="1">
              <a:spLocks noChangeArrowheads="1"/>
            </p:cNvSpPr>
            <p:nvPr/>
          </p:nvSpPr>
          <p:spPr bwMode="auto">
            <a:xfrm>
              <a:off x="4202" y="1402"/>
              <a:ext cx="174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sz="1000"/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A</a:t>
              </a:r>
            </a:p>
            <a:p>
              <a:pPr algn="ctr" eaLnBrk="1" hangingPunct="1"/>
              <a:r>
                <a:rPr lang="en-US" sz="1000"/>
                <a:t>T</a:t>
              </a:r>
            </a:p>
            <a:p>
              <a:pPr algn="ctr" eaLnBrk="1" hangingPunct="1"/>
              <a:r>
                <a:rPr lang="en-US" sz="1000"/>
                <a:t>A</a:t>
              </a:r>
            </a:p>
          </p:txBody>
        </p:sp>
        <p:sp>
          <p:nvSpPr>
            <p:cNvPr id="21566" name="Text Box 55"/>
            <p:cNvSpPr txBox="1">
              <a:spLocks noChangeArrowheads="1"/>
            </p:cNvSpPr>
            <p:nvPr/>
          </p:nvSpPr>
          <p:spPr bwMode="auto">
            <a:xfrm>
              <a:off x="4330" y="1114"/>
              <a:ext cx="178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sz="1000"/>
            </a:p>
            <a:p>
              <a:pPr algn="ctr" eaLnBrk="1" hangingPunct="1"/>
              <a:r>
                <a:rPr lang="en-US" sz="1000"/>
                <a:t>C</a:t>
              </a:r>
            </a:p>
            <a:p>
              <a:pPr algn="ctr" eaLnBrk="1" hangingPunct="1"/>
              <a:r>
                <a:rPr lang="en-US" sz="1000"/>
                <a:t>O</a:t>
              </a:r>
            </a:p>
            <a:p>
              <a:pPr algn="ctr" eaLnBrk="1" hangingPunct="1"/>
              <a:r>
                <a:rPr lang="en-US" sz="1000"/>
                <a:t>N</a:t>
              </a:r>
            </a:p>
            <a:p>
              <a:pPr algn="ctr" eaLnBrk="1" hangingPunct="1"/>
              <a:r>
                <a:rPr lang="en-US" sz="1000"/>
                <a:t>T</a:t>
              </a:r>
            </a:p>
            <a:p>
              <a:pPr algn="ctr" eaLnBrk="1" hangingPunct="1"/>
              <a:r>
                <a:rPr lang="en-US" sz="1000"/>
                <a:t>R</a:t>
              </a:r>
            </a:p>
            <a:p>
              <a:pPr algn="ctr" eaLnBrk="1" hangingPunct="1"/>
              <a:r>
                <a:rPr lang="en-US" sz="1000"/>
                <a:t>O</a:t>
              </a:r>
            </a:p>
            <a:p>
              <a:pPr algn="ctr" eaLnBrk="1" hangingPunct="1"/>
              <a:r>
                <a:rPr lang="en-US" sz="1000"/>
                <a:t>L</a:t>
              </a:r>
            </a:p>
          </p:txBody>
        </p:sp>
        <p:sp>
          <p:nvSpPr>
            <p:cNvPr id="21567" name="Line 56"/>
            <p:cNvSpPr>
              <a:spLocks noChangeShapeType="1"/>
            </p:cNvSpPr>
            <p:nvPr/>
          </p:nvSpPr>
          <p:spPr bwMode="auto">
            <a:xfrm>
              <a:off x="333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Line 57"/>
            <p:cNvSpPr>
              <a:spLocks noChangeShapeType="1"/>
            </p:cNvSpPr>
            <p:nvPr/>
          </p:nvSpPr>
          <p:spPr bwMode="auto">
            <a:xfrm>
              <a:off x="351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Line 58"/>
            <p:cNvSpPr>
              <a:spLocks noChangeShapeType="1"/>
            </p:cNvSpPr>
            <p:nvPr/>
          </p:nvSpPr>
          <p:spPr bwMode="auto">
            <a:xfrm>
              <a:off x="3698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Line 59"/>
            <p:cNvSpPr>
              <a:spLocks noChangeShapeType="1"/>
            </p:cNvSpPr>
            <p:nvPr/>
          </p:nvSpPr>
          <p:spPr bwMode="auto">
            <a:xfrm>
              <a:off x="3886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Line 60"/>
            <p:cNvSpPr>
              <a:spLocks noChangeShapeType="1"/>
            </p:cNvSpPr>
            <p:nvPr/>
          </p:nvSpPr>
          <p:spPr bwMode="auto">
            <a:xfrm>
              <a:off x="4062" y="187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Line 61"/>
            <p:cNvSpPr>
              <a:spLocks noChangeShapeType="1"/>
            </p:cNvSpPr>
            <p:nvPr/>
          </p:nvSpPr>
          <p:spPr bwMode="auto">
            <a:xfrm>
              <a:off x="4218" y="186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Line 62"/>
            <p:cNvSpPr>
              <a:spLocks noChangeShapeType="1"/>
            </p:cNvSpPr>
            <p:nvPr/>
          </p:nvSpPr>
          <p:spPr bwMode="auto">
            <a:xfrm>
              <a:off x="4362" y="185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Text Box 63"/>
            <p:cNvSpPr txBox="1">
              <a:spLocks noChangeArrowheads="1"/>
            </p:cNvSpPr>
            <p:nvPr/>
          </p:nvSpPr>
          <p:spPr bwMode="auto">
            <a:xfrm>
              <a:off x="2985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1</a:t>
              </a:r>
            </a:p>
          </p:txBody>
        </p:sp>
        <p:sp>
          <p:nvSpPr>
            <p:cNvPr id="21575" name="Text Box 64"/>
            <p:cNvSpPr txBox="1">
              <a:spLocks noChangeArrowheads="1"/>
            </p:cNvSpPr>
            <p:nvPr/>
          </p:nvSpPr>
          <p:spPr bwMode="auto">
            <a:xfrm>
              <a:off x="3153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2</a:t>
              </a:r>
            </a:p>
          </p:txBody>
        </p:sp>
        <p:sp>
          <p:nvSpPr>
            <p:cNvPr id="21576" name="Text Box 65"/>
            <p:cNvSpPr txBox="1">
              <a:spLocks noChangeArrowheads="1"/>
            </p:cNvSpPr>
            <p:nvPr/>
          </p:nvSpPr>
          <p:spPr bwMode="auto">
            <a:xfrm>
              <a:off x="3345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3</a:t>
              </a:r>
            </a:p>
          </p:txBody>
        </p:sp>
        <p:sp>
          <p:nvSpPr>
            <p:cNvPr id="21577" name="Text Box 66"/>
            <p:cNvSpPr txBox="1">
              <a:spLocks noChangeArrowheads="1"/>
            </p:cNvSpPr>
            <p:nvPr/>
          </p:nvSpPr>
          <p:spPr bwMode="auto">
            <a:xfrm>
              <a:off x="3517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4</a:t>
              </a:r>
            </a:p>
          </p:txBody>
        </p:sp>
        <p:sp>
          <p:nvSpPr>
            <p:cNvPr id="21578" name="Text Box 67"/>
            <p:cNvSpPr txBox="1">
              <a:spLocks noChangeArrowheads="1"/>
            </p:cNvSpPr>
            <p:nvPr/>
          </p:nvSpPr>
          <p:spPr bwMode="auto">
            <a:xfrm>
              <a:off x="3705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5</a:t>
              </a:r>
            </a:p>
          </p:txBody>
        </p:sp>
        <p:sp>
          <p:nvSpPr>
            <p:cNvPr id="21579" name="Text Box 68"/>
            <p:cNvSpPr txBox="1">
              <a:spLocks noChangeArrowheads="1"/>
            </p:cNvSpPr>
            <p:nvPr/>
          </p:nvSpPr>
          <p:spPr bwMode="auto">
            <a:xfrm>
              <a:off x="3893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6</a:t>
              </a:r>
            </a:p>
          </p:txBody>
        </p:sp>
        <p:sp>
          <p:nvSpPr>
            <p:cNvPr id="21580" name="Text Box 69"/>
            <p:cNvSpPr txBox="1">
              <a:spLocks noChangeArrowheads="1"/>
            </p:cNvSpPr>
            <p:nvPr/>
          </p:nvSpPr>
          <p:spPr bwMode="auto">
            <a:xfrm>
              <a:off x="4057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7</a:t>
              </a:r>
            </a:p>
          </p:txBody>
        </p:sp>
        <p:sp>
          <p:nvSpPr>
            <p:cNvPr id="21581" name="Text Box 70"/>
            <p:cNvSpPr txBox="1">
              <a:spLocks noChangeArrowheads="1"/>
            </p:cNvSpPr>
            <p:nvPr/>
          </p:nvSpPr>
          <p:spPr bwMode="auto">
            <a:xfrm>
              <a:off x="4205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8</a:t>
              </a:r>
            </a:p>
          </p:txBody>
        </p:sp>
        <p:sp>
          <p:nvSpPr>
            <p:cNvPr id="21582" name="Text Box 71"/>
            <p:cNvSpPr txBox="1">
              <a:spLocks noChangeArrowheads="1"/>
            </p:cNvSpPr>
            <p:nvPr/>
          </p:nvSpPr>
          <p:spPr bwMode="auto">
            <a:xfrm>
              <a:off x="4349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9</a:t>
              </a:r>
            </a:p>
          </p:txBody>
        </p:sp>
        <p:sp>
          <p:nvSpPr>
            <p:cNvPr id="21583" name="Freeform 72"/>
            <p:cNvSpPr>
              <a:spLocks/>
            </p:cNvSpPr>
            <p:nvPr/>
          </p:nvSpPr>
          <p:spPr bwMode="auto">
            <a:xfrm>
              <a:off x="2606" y="969"/>
              <a:ext cx="375" cy="969"/>
            </a:xfrm>
            <a:custGeom>
              <a:avLst/>
              <a:gdLst>
                <a:gd name="T0" fmla="*/ 375 w 375"/>
                <a:gd name="T1" fmla="*/ 0 h 969"/>
                <a:gd name="T2" fmla="*/ 0 w 375"/>
                <a:gd name="T3" fmla="*/ 485 h 969"/>
                <a:gd name="T4" fmla="*/ 375 w 375"/>
                <a:gd name="T5" fmla="*/ 969 h 969"/>
                <a:gd name="T6" fmla="*/ 375 w 375"/>
                <a:gd name="T7" fmla="*/ 0 h 9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69"/>
                <a:gd name="T14" fmla="*/ 375 w 375"/>
                <a:gd name="T15" fmla="*/ 969 h 9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69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73"/>
          <p:cNvGrpSpPr>
            <a:grpSpLocks/>
          </p:cNvGrpSpPr>
          <p:nvPr/>
        </p:nvGrpSpPr>
        <p:grpSpPr bwMode="auto">
          <a:xfrm flipV="1">
            <a:off x="1039813" y="2238375"/>
            <a:ext cx="1666875" cy="2062163"/>
            <a:chOff x="1511" y="1371"/>
            <a:chExt cx="1050" cy="1299"/>
          </a:xfrm>
        </p:grpSpPr>
        <p:grpSp>
          <p:nvGrpSpPr>
            <p:cNvPr id="21548" name="Group 74"/>
            <p:cNvGrpSpPr>
              <a:grpSpLocks/>
            </p:cNvGrpSpPr>
            <p:nvPr/>
          </p:nvGrpSpPr>
          <p:grpSpPr bwMode="auto">
            <a:xfrm>
              <a:off x="1511" y="1371"/>
              <a:ext cx="1050" cy="198"/>
              <a:chOff x="1614" y="1494"/>
              <a:chExt cx="1050" cy="198"/>
            </a:xfrm>
          </p:grpSpPr>
          <p:sp>
            <p:nvSpPr>
              <p:cNvPr id="21550" name="Rectangle 75"/>
              <p:cNvSpPr>
                <a:spLocks noChangeArrowheads="1"/>
              </p:cNvSpPr>
              <p:nvPr/>
            </p:nvSpPr>
            <p:spPr bwMode="auto">
              <a:xfrm>
                <a:off x="2358" y="1500"/>
                <a:ext cx="168" cy="17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35596" name="Freeform 76"/>
              <p:cNvSpPr>
                <a:spLocks/>
              </p:cNvSpPr>
              <p:nvPr/>
            </p:nvSpPr>
            <p:spPr bwMode="auto">
              <a:xfrm>
                <a:off x="1614" y="1494"/>
                <a:ext cx="896" cy="198"/>
              </a:xfrm>
              <a:custGeom>
                <a:avLst/>
                <a:gdLst>
                  <a:gd name="T0" fmla="*/ 18 w 896"/>
                  <a:gd name="T1" fmla="*/ 0 h 198"/>
                  <a:gd name="T2" fmla="*/ 0 w 896"/>
                  <a:gd name="T3" fmla="*/ 96 h 198"/>
                  <a:gd name="T4" fmla="*/ 18 w 896"/>
                  <a:gd name="T5" fmla="*/ 198 h 198"/>
                  <a:gd name="T6" fmla="*/ 774 w 896"/>
                  <a:gd name="T7" fmla="*/ 198 h 198"/>
                  <a:gd name="T8" fmla="*/ 750 w 896"/>
                  <a:gd name="T9" fmla="*/ 90 h 198"/>
                  <a:gd name="T10" fmla="*/ 774 w 896"/>
                  <a:gd name="T11" fmla="*/ 0 h 198"/>
                  <a:gd name="T12" fmla="*/ 18 w 896"/>
                  <a:gd name="T13" fmla="*/ 0 h 19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96"/>
                  <a:gd name="T22" fmla="*/ 0 h 198"/>
                  <a:gd name="T23" fmla="*/ 896 w 896"/>
                  <a:gd name="T24" fmla="*/ 198 h 19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96" h="198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5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/>
              <a:lstStyle/>
              <a:p>
                <a:pPr>
                  <a:defRPr/>
                </a:pPr>
                <a:endParaRPr lang="en-US"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21552" name="Oval 77"/>
              <p:cNvSpPr>
                <a:spLocks noChangeArrowheads="1"/>
              </p:cNvSpPr>
              <p:nvPr/>
            </p:nvSpPr>
            <p:spPr bwMode="auto"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1553" name="Line 78"/>
              <p:cNvSpPr>
                <a:spLocks noChangeShapeType="1"/>
              </p:cNvSpPr>
              <p:nvPr/>
            </p:nvSpPr>
            <p:spPr bwMode="auto">
              <a:xfrm>
                <a:off x="2526" y="1584"/>
                <a:ext cx="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49" name="Freeform 79"/>
            <p:cNvSpPr>
              <a:spLocks/>
            </p:cNvSpPr>
            <p:nvPr/>
          </p:nvSpPr>
          <p:spPr bwMode="auto">
            <a:xfrm>
              <a:off x="1536" y="1563"/>
              <a:ext cx="1015" cy="1107"/>
            </a:xfrm>
            <a:custGeom>
              <a:avLst/>
              <a:gdLst>
                <a:gd name="T0" fmla="*/ 1015 w 1015"/>
                <a:gd name="T1" fmla="*/ 1107 h 1107"/>
                <a:gd name="T2" fmla="*/ 0 w 1015"/>
                <a:gd name="T3" fmla="*/ 0 h 1107"/>
                <a:gd name="T4" fmla="*/ 905 w 1015"/>
                <a:gd name="T5" fmla="*/ 0 h 1107"/>
                <a:gd name="T6" fmla="*/ 1015 w 1015"/>
                <a:gd name="T7" fmla="*/ 1107 h 11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5"/>
                <a:gd name="T13" fmla="*/ 0 h 1107"/>
                <a:gd name="T14" fmla="*/ 1015 w 1015"/>
                <a:gd name="T15" fmla="*/ 1107 h 11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5" h="1107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/>
            <a:lstStyle/>
            <a:p>
              <a:endParaRPr lang="en-US"/>
            </a:p>
          </p:txBody>
        </p:sp>
      </p:grpSp>
      <p:sp>
        <p:nvSpPr>
          <p:cNvPr id="226628" name="Text Box 324"/>
          <p:cNvSpPr txBox="1">
            <a:spLocks noChangeArrowheads="1"/>
          </p:cNvSpPr>
          <p:nvPr/>
        </p:nvSpPr>
        <p:spPr bwMode="auto">
          <a:xfrm>
            <a:off x="787400" y="5545138"/>
            <a:ext cx="747553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frequency division multiplexing:</a:t>
            </a:r>
            <a:r>
              <a:rPr lang="en-US">
                <a:latin typeface="Gill Sans MT" pitchFamily="34" charset="0"/>
              </a:rPr>
              <a:t> different channels transmitted</a:t>
            </a:r>
          </a:p>
          <a:p>
            <a:pPr>
              <a:lnSpc>
                <a:spcPct val="85000"/>
              </a:lnSpc>
            </a:pPr>
            <a:r>
              <a:rPr lang="en-US">
                <a:latin typeface="Gill Sans MT" pitchFamily="34" charset="0"/>
              </a:rPr>
              <a:t>in different frequency bands</a:t>
            </a:r>
          </a:p>
        </p:txBody>
      </p:sp>
      <p:pic>
        <p:nvPicPr>
          <p:cNvPr id="21543" name="Picture 325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44" name="Group 326"/>
          <p:cNvGrpSpPr>
            <a:grpSpLocks/>
          </p:cNvGrpSpPr>
          <p:nvPr/>
        </p:nvGrpSpPr>
        <p:grpSpPr bwMode="auto">
          <a:xfrm>
            <a:off x="560388" y="1928813"/>
            <a:ext cx="609600" cy="609600"/>
            <a:chOff x="-44" y="1473"/>
            <a:chExt cx="981" cy="1105"/>
          </a:xfrm>
        </p:grpSpPr>
        <p:pic>
          <p:nvPicPr>
            <p:cNvPr id="21546" name="Picture 327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47" name="Freeform 32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154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5B2F5BF5-DDCE-4359-91E5-BDD40E0EB52D}" type="slidenum">
              <a:rPr lang="en-US" sz="1200" smtClean="0">
                <a:latin typeface="Tahoma" pitchFamily="34" charset="0"/>
              </a:rPr>
              <a:pPr/>
              <a:t>14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6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06400" y="2290763"/>
            <a:ext cx="3092450" cy="1417637"/>
            <a:chOff x="256" y="1443"/>
            <a:chExt cx="1948" cy="893"/>
          </a:xfrm>
        </p:grpSpPr>
        <p:sp>
          <p:nvSpPr>
            <p:cNvPr id="22707" name="Text Box 6"/>
            <p:cNvSpPr txBox="1">
              <a:spLocks noChangeArrowheads="1"/>
            </p:cNvSpPr>
            <p:nvPr/>
          </p:nvSpPr>
          <p:spPr bwMode="auto">
            <a:xfrm>
              <a:off x="256" y="1885"/>
              <a:ext cx="1948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 i="1"/>
                <a:t>data, TV transmitted at different 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frequencies over </a:t>
              </a:r>
              <a:r>
                <a:rPr lang="en-US" sz="1600" i="1">
                  <a:solidFill>
                    <a:srgbClr val="CC0000"/>
                  </a:solidFill>
                </a:rPr>
                <a:t>shared </a:t>
              </a:r>
              <a:r>
                <a:rPr lang="en-US" sz="1600" i="1"/>
                <a:t>cable 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distribution network</a:t>
              </a:r>
            </a:p>
          </p:txBody>
        </p:sp>
        <p:sp>
          <p:nvSpPr>
            <p:cNvPr id="22708" name="Line 7"/>
            <p:cNvSpPr>
              <a:spLocks noChangeShapeType="1"/>
            </p:cNvSpPr>
            <p:nvPr/>
          </p:nvSpPr>
          <p:spPr bwMode="auto">
            <a:xfrm flipV="1">
              <a:off x="1452" y="1443"/>
              <a:ext cx="282" cy="47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2" name="Rectangle 9"/>
          <p:cNvSpPr>
            <a:spLocks noChangeArrowheads="1"/>
          </p:cNvSpPr>
          <p:nvPr/>
        </p:nvSpPr>
        <p:spPr bwMode="auto">
          <a:xfrm>
            <a:off x="657225" y="1651000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Line 7"/>
          <p:cNvSpPr>
            <a:spLocks noChangeShapeType="1"/>
          </p:cNvSpPr>
          <p:nvPr/>
        </p:nvSpPr>
        <p:spPr bwMode="auto">
          <a:xfrm flipV="1">
            <a:off x="958850" y="2201863"/>
            <a:ext cx="3651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4" name="Text Box 39"/>
          <p:cNvSpPr txBox="1">
            <a:spLocks noChangeArrowheads="1"/>
          </p:cNvSpPr>
          <p:nvPr/>
        </p:nvSpPr>
        <p:spPr bwMode="auto">
          <a:xfrm>
            <a:off x="1120775" y="2352675"/>
            <a:ext cx="7747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cable</a:t>
            </a:r>
          </a:p>
          <a:p>
            <a:pPr algn="ctr">
              <a:lnSpc>
                <a:spcPct val="80000"/>
              </a:lnSpc>
            </a:pPr>
            <a:r>
              <a:rPr lang="en-US" sz="1400"/>
              <a:t>modem</a:t>
            </a:r>
          </a:p>
        </p:txBody>
      </p:sp>
      <p:sp>
        <p:nvSpPr>
          <p:cNvPr id="22535" name="Text Box 41"/>
          <p:cNvSpPr txBox="1">
            <a:spLocks noChangeArrowheads="1"/>
          </p:cNvSpPr>
          <p:nvPr/>
        </p:nvSpPr>
        <p:spPr bwMode="auto">
          <a:xfrm>
            <a:off x="1787525" y="2354263"/>
            <a:ext cx="7064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splitter</a:t>
            </a:r>
          </a:p>
        </p:txBody>
      </p:sp>
      <p:grpSp>
        <p:nvGrpSpPr>
          <p:cNvPr id="22536" name="Group 13"/>
          <p:cNvGrpSpPr>
            <a:grpSpLocks/>
          </p:cNvGrpSpPr>
          <p:nvPr/>
        </p:nvGrpSpPr>
        <p:grpSpPr bwMode="auto">
          <a:xfrm>
            <a:off x="1304925" y="2078038"/>
            <a:ext cx="614363" cy="220662"/>
            <a:chOff x="322" y="890"/>
            <a:chExt cx="872" cy="339"/>
          </a:xfrm>
        </p:grpSpPr>
        <p:sp>
          <p:nvSpPr>
            <p:cNvPr id="22701" name="Rectangle 14"/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2" name="Rectangle 15"/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3" name="Rectangle 16"/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4" name="Rectangle 17"/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5" name="Rectangle 18"/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6" name="AutoShape 19"/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37" name="AutoShape 21"/>
          <p:cNvSpPr>
            <a:spLocks noChangeArrowheads="1"/>
          </p:cNvSpPr>
          <p:nvPr/>
        </p:nvSpPr>
        <p:spPr bwMode="auto">
          <a:xfrm>
            <a:off x="419100" y="1239838"/>
            <a:ext cx="2268538" cy="468312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Rectangle 22"/>
          <p:cNvSpPr>
            <a:spLocks noChangeArrowheads="1"/>
          </p:cNvSpPr>
          <p:nvPr/>
        </p:nvSpPr>
        <p:spPr bwMode="auto">
          <a:xfrm>
            <a:off x="2035175" y="2139950"/>
            <a:ext cx="166688" cy="144463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Freeform 23"/>
          <p:cNvSpPr>
            <a:spLocks/>
          </p:cNvSpPr>
          <p:nvPr/>
        </p:nvSpPr>
        <p:spPr bwMode="auto">
          <a:xfrm>
            <a:off x="1644650" y="1695450"/>
            <a:ext cx="479425" cy="434975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24"/>
          <p:cNvSpPr>
            <a:spLocks noChangeShapeType="1"/>
          </p:cNvSpPr>
          <p:nvPr/>
        </p:nvSpPr>
        <p:spPr bwMode="auto">
          <a:xfrm flipH="1">
            <a:off x="1943100" y="2201863"/>
            <a:ext cx="239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541" name="Picture 25" descr="t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355725"/>
            <a:ext cx="75565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542" name="Group 26"/>
          <p:cNvGrpSpPr>
            <a:grpSpLocks/>
          </p:cNvGrpSpPr>
          <p:nvPr/>
        </p:nvGrpSpPr>
        <p:grpSpPr bwMode="auto">
          <a:xfrm>
            <a:off x="2676525" y="1470025"/>
            <a:ext cx="850900" cy="527050"/>
            <a:chOff x="-490" y="1664"/>
            <a:chExt cx="1429" cy="842"/>
          </a:xfrm>
        </p:grpSpPr>
        <p:sp>
          <p:nvSpPr>
            <p:cNvPr id="22685" name="AutoShape 27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86" name="Group 28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87" name="Rectangle 29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88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89" name="Group 31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95" name="Rectangle 32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96" name="Rectangle 33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97" name="Rectangle 34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98" name="Rectangle 35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99" name="Rectangle 36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700" name="AutoShape 37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90" name="Picture 38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91" name="Rectangle 39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92" name="Freeform 40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3" name="Line 41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94" name="Picture 42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2543" name="Group 43"/>
          <p:cNvGrpSpPr>
            <a:grpSpLocks/>
          </p:cNvGrpSpPr>
          <p:nvPr/>
        </p:nvGrpSpPr>
        <p:grpSpPr bwMode="auto">
          <a:xfrm>
            <a:off x="3578225" y="1463675"/>
            <a:ext cx="850900" cy="527050"/>
            <a:chOff x="-490" y="1664"/>
            <a:chExt cx="1429" cy="842"/>
          </a:xfrm>
        </p:grpSpPr>
        <p:sp>
          <p:nvSpPr>
            <p:cNvPr id="22669" name="AutoShape 44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70" name="Group 45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71" name="Rectangle 46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72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73" name="Group 48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79" name="Rectangle 49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0" name="Rectangle 50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1" name="Rectangle 51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2" name="Rectangle 52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3" name="Rectangle 53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4" name="AutoShape 54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74" name="Picture 55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75" name="Rectangle 56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76" name="Freeform 57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7" name="Line 58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78" name="Picture 59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2544" name="Group 60"/>
          <p:cNvGrpSpPr>
            <a:grpSpLocks/>
          </p:cNvGrpSpPr>
          <p:nvPr/>
        </p:nvGrpSpPr>
        <p:grpSpPr bwMode="auto">
          <a:xfrm>
            <a:off x="2763838" y="2309813"/>
            <a:ext cx="850900" cy="527050"/>
            <a:chOff x="-490" y="1664"/>
            <a:chExt cx="1429" cy="842"/>
          </a:xfrm>
        </p:grpSpPr>
        <p:sp>
          <p:nvSpPr>
            <p:cNvPr id="22653" name="AutoShape 61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54" name="Group 62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55" name="Rectangle 63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56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57" name="Group 65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63" name="Rectangle 66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4" name="Rectangle 67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5" name="Rectangle 68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6" name="Rectangle 69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7" name="Rectangle 70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8" name="AutoShape 71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58" name="Picture 72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59" name="Rectangle 73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60" name="Freeform 74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1" name="Line 75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62" name="Picture 76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2545" name="Group 77"/>
          <p:cNvGrpSpPr>
            <a:grpSpLocks/>
          </p:cNvGrpSpPr>
          <p:nvPr/>
        </p:nvGrpSpPr>
        <p:grpSpPr bwMode="auto">
          <a:xfrm>
            <a:off x="3630613" y="2319338"/>
            <a:ext cx="850900" cy="527050"/>
            <a:chOff x="-490" y="1664"/>
            <a:chExt cx="1429" cy="842"/>
          </a:xfrm>
        </p:grpSpPr>
        <p:sp>
          <p:nvSpPr>
            <p:cNvPr id="22637" name="AutoShape 78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38" name="Group 79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39" name="Rectangle 80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0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41" name="Group 82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47" name="Rectangle 83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48" name="Rectangle 84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49" name="Rectangle 85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50" name="Rectangle 86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51" name="Rectangle 87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52" name="AutoShape 88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42" name="Picture 89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43" name="Rectangle 90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4" name="Freeform 91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5" name="Line 92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46" name="Picture 93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2546" name="Line 94"/>
          <p:cNvSpPr>
            <a:spLocks noChangeShapeType="1"/>
          </p:cNvSpPr>
          <p:nvPr/>
        </p:nvSpPr>
        <p:spPr bwMode="auto">
          <a:xfrm>
            <a:off x="2217738" y="2212975"/>
            <a:ext cx="3690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547" name="Group 95"/>
          <p:cNvGrpSpPr>
            <a:grpSpLocks/>
          </p:cNvGrpSpPr>
          <p:nvPr/>
        </p:nvGrpSpPr>
        <p:grpSpPr bwMode="auto">
          <a:xfrm>
            <a:off x="4719638" y="1471613"/>
            <a:ext cx="850900" cy="527050"/>
            <a:chOff x="-490" y="1664"/>
            <a:chExt cx="1429" cy="842"/>
          </a:xfrm>
        </p:grpSpPr>
        <p:sp>
          <p:nvSpPr>
            <p:cNvPr id="22621" name="AutoShape 96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22" name="Group 97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23" name="Rectangle 98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24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25" name="Group 100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31" name="Rectangle 101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2" name="Rectangle 102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3" name="Rectangle 103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4" name="Rectangle 104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5" name="Rectangle 105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6" name="AutoShape 106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26" name="Picture 107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27" name="Rectangle 108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28" name="Freeform 109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9" name="Line 110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30" name="Picture 111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2548" name="Text Box 112"/>
          <p:cNvSpPr txBox="1">
            <a:spLocks noChangeArrowheads="1"/>
          </p:cNvSpPr>
          <p:nvPr/>
        </p:nvSpPr>
        <p:spPr bwMode="auto">
          <a:xfrm>
            <a:off x="4330700" y="15414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969696"/>
                </a:solidFill>
                <a:latin typeface="Times New Roman" pitchFamily="18" charset="0"/>
              </a:rPr>
              <a:t>…</a:t>
            </a:r>
          </a:p>
        </p:txBody>
      </p:sp>
      <p:sp>
        <p:nvSpPr>
          <p:cNvPr id="22549" name="Line 113"/>
          <p:cNvSpPr>
            <a:spLocks noChangeShapeType="1"/>
          </p:cNvSpPr>
          <p:nvPr/>
        </p:nvSpPr>
        <p:spPr bwMode="auto">
          <a:xfrm flipH="1">
            <a:off x="3311525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0" name="Line 114"/>
          <p:cNvSpPr>
            <a:spLocks noChangeShapeType="1"/>
          </p:cNvSpPr>
          <p:nvPr/>
        </p:nvSpPr>
        <p:spPr bwMode="auto">
          <a:xfrm flipH="1">
            <a:off x="4216400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1" name="Line 115"/>
          <p:cNvSpPr>
            <a:spLocks noChangeShapeType="1"/>
          </p:cNvSpPr>
          <p:nvPr/>
        </p:nvSpPr>
        <p:spPr bwMode="auto">
          <a:xfrm flipH="1">
            <a:off x="5353050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2" name="Freeform 116"/>
          <p:cNvSpPr>
            <a:spLocks/>
          </p:cNvSpPr>
          <p:nvPr/>
        </p:nvSpPr>
        <p:spPr bwMode="auto">
          <a:xfrm>
            <a:off x="4302125" y="221932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3" name="Freeform 117"/>
          <p:cNvSpPr>
            <a:spLocks/>
          </p:cNvSpPr>
          <p:nvPr/>
        </p:nvSpPr>
        <p:spPr bwMode="auto">
          <a:xfrm>
            <a:off x="3435350" y="221297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4" name="Rectangle 44"/>
          <p:cNvSpPr>
            <a:spLocks noChangeArrowheads="1"/>
          </p:cNvSpPr>
          <p:nvPr/>
        </p:nvSpPr>
        <p:spPr bwMode="auto">
          <a:xfrm>
            <a:off x="5646738" y="1787525"/>
            <a:ext cx="955675" cy="70008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2555" name="Text Box 45"/>
          <p:cNvSpPr txBox="1">
            <a:spLocks noChangeArrowheads="1"/>
          </p:cNvSpPr>
          <p:nvPr/>
        </p:nvSpPr>
        <p:spPr bwMode="auto">
          <a:xfrm>
            <a:off x="5157788" y="1250950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/>
              <a:t>cable headend</a:t>
            </a:r>
          </a:p>
        </p:txBody>
      </p:sp>
      <p:sp>
        <p:nvSpPr>
          <p:cNvPr id="22556" name="Freeform 120"/>
          <p:cNvSpPr>
            <a:spLocks/>
          </p:cNvSpPr>
          <p:nvPr/>
        </p:nvSpPr>
        <p:spPr bwMode="auto">
          <a:xfrm>
            <a:off x="5903913" y="1970088"/>
            <a:ext cx="330200" cy="454025"/>
          </a:xfrm>
          <a:custGeom>
            <a:avLst/>
            <a:gdLst>
              <a:gd name="T0" fmla="*/ 0 w 318"/>
              <a:gd name="T1" fmla="*/ 2147483647 h 412"/>
              <a:gd name="T2" fmla="*/ 2147483647 w 318"/>
              <a:gd name="T3" fmla="*/ 2147483647 h 412"/>
              <a:gd name="T4" fmla="*/ 2147483647 w 318"/>
              <a:gd name="T5" fmla="*/ 0 h 412"/>
              <a:gd name="T6" fmla="*/ 2147483647 w 318"/>
              <a:gd name="T7" fmla="*/ 2147483647 h 412"/>
              <a:gd name="T8" fmla="*/ 2147483647 w 318"/>
              <a:gd name="T9" fmla="*/ 2147483647 h 412"/>
              <a:gd name="T10" fmla="*/ 2147483647 w 318"/>
              <a:gd name="T11" fmla="*/ 2147483647 h 412"/>
              <a:gd name="T12" fmla="*/ 2147483647 w 318"/>
              <a:gd name="T13" fmla="*/ 2147483647 h 412"/>
              <a:gd name="T14" fmla="*/ 2147483647 w 318"/>
              <a:gd name="T15" fmla="*/ 2147483647 h 412"/>
              <a:gd name="T16" fmla="*/ 0 w 318"/>
              <a:gd name="T17" fmla="*/ 2147483647 h 4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8"/>
              <a:gd name="T28" fmla="*/ 0 h 412"/>
              <a:gd name="T29" fmla="*/ 318 w 318"/>
              <a:gd name="T30" fmla="*/ 412 h 4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8" h="412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FFFF99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7" name="Freeform 121"/>
          <p:cNvSpPr>
            <a:spLocks/>
          </p:cNvSpPr>
          <p:nvPr/>
        </p:nvSpPr>
        <p:spPr bwMode="auto">
          <a:xfrm>
            <a:off x="5905500" y="1905000"/>
            <a:ext cx="366713" cy="406400"/>
          </a:xfrm>
          <a:custGeom>
            <a:avLst/>
            <a:gdLst>
              <a:gd name="T0" fmla="*/ 0 w 353"/>
              <a:gd name="T1" fmla="*/ 2147483647 h 369"/>
              <a:gd name="T2" fmla="*/ 2147483647 w 353"/>
              <a:gd name="T3" fmla="*/ 0 h 369"/>
              <a:gd name="T4" fmla="*/ 2147483647 w 353"/>
              <a:gd name="T5" fmla="*/ 0 h 369"/>
              <a:gd name="T6" fmla="*/ 2147483647 w 353"/>
              <a:gd name="T7" fmla="*/ 2147483647 h 369"/>
              <a:gd name="T8" fmla="*/ 2147483647 w 353"/>
              <a:gd name="T9" fmla="*/ 2147483647 h 369"/>
              <a:gd name="T10" fmla="*/ 2147483647 w 353"/>
              <a:gd name="T11" fmla="*/ 2147483647 h 369"/>
              <a:gd name="T12" fmla="*/ 2147483647 w 353"/>
              <a:gd name="T13" fmla="*/ 2147483647 h 369"/>
              <a:gd name="T14" fmla="*/ 2147483647 w 353"/>
              <a:gd name="T15" fmla="*/ 2147483647 h 369"/>
              <a:gd name="T16" fmla="*/ 2147483647 w 353"/>
              <a:gd name="T17" fmla="*/ 2147483647 h 369"/>
              <a:gd name="T18" fmla="*/ 2147483647 w 353"/>
              <a:gd name="T19" fmla="*/ 2147483647 h 369"/>
              <a:gd name="T20" fmla="*/ 0 w 353"/>
              <a:gd name="T21" fmla="*/ 2147483647 h 3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3"/>
              <a:gd name="T34" fmla="*/ 0 h 369"/>
              <a:gd name="T35" fmla="*/ 353 w 353"/>
              <a:gd name="T36" fmla="*/ 369 h 3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3" h="369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8" name="Line 122"/>
          <p:cNvSpPr>
            <a:spLocks noChangeShapeType="1"/>
          </p:cNvSpPr>
          <p:nvPr/>
        </p:nvSpPr>
        <p:spPr bwMode="auto">
          <a:xfrm flipH="1">
            <a:off x="6230938" y="2028825"/>
            <a:ext cx="34925" cy="68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9" name="Line 123"/>
          <p:cNvSpPr>
            <a:spLocks noChangeShapeType="1"/>
          </p:cNvSpPr>
          <p:nvPr/>
        </p:nvSpPr>
        <p:spPr bwMode="auto">
          <a:xfrm>
            <a:off x="5932488" y="2200275"/>
            <a:ext cx="26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0" name="Freeform 124"/>
          <p:cNvSpPr>
            <a:spLocks/>
          </p:cNvSpPr>
          <p:nvPr/>
        </p:nvSpPr>
        <p:spPr bwMode="auto">
          <a:xfrm>
            <a:off x="5926138" y="2024063"/>
            <a:ext cx="274637" cy="115887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1" name="Freeform 125"/>
          <p:cNvSpPr>
            <a:spLocks/>
          </p:cNvSpPr>
          <p:nvPr/>
        </p:nvSpPr>
        <p:spPr bwMode="auto">
          <a:xfrm flipV="1">
            <a:off x="5926138" y="2260600"/>
            <a:ext cx="274637" cy="114300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2" name="Text Box 126"/>
          <p:cNvSpPr txBox="1">
            <a:spLocks noChangeArrowheads="1"/>
          </p:cNvSpPr>
          <p:nvPr/>
        </p:nvSpPr>
        <p:spPr bwMode="auto">
          <a:xfrm>
            <a:off x="5711825" y="2449513"/>
            <a:ext cx="950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/>
              <a:t>CMTS</a:t>
            </a:r>
          </a:p>
        </p:txBody>
      </p:sp>
      <p:sp>
        <p:nvSpPr>
          <p:cNvPr id="22563" name="AutoShape 127"/>
          <p:cNvSpPr>
            <a:spLocks noChangeArrowheads="1"/>
          </p:cNvSpPr>
          <p:nvPr/>
        </p:nvSpPr>
        <p:spPr bwMode="auto">
          <a:xfrm>
            <a:off x="5507038" y="1524000"/>
            <a:ext cx="1206500" cy="261938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64" name="Group 128"/>
          <p:cNvGrpSpPr>
            <a:grpSpLocks/>
          </p:cNvGrpSpPr>
          <p:nvPr/>
        </p:nvGrpSpPr>
        <p:grpSpPr bwMode="auto">
          <a:xfrm>
            <a:off x="5143500" y="2905125"/>
            <a:ext cx="2178050" cy="1147763"/>
            <a:chOff x="3240" y="1830"/>
            <a:chExt cx="1372" cy="723"/>
          </a:xfrm>
        </p:grpSpPr>
        <p:sp>
          <p:nvSpPr>
            <p:cNvPr id="22576" name="Freeform 129"/>
            <p:cNvSpPr>
              <a:spLocks/>
            </p:cNvSpPr>
            <p:nvPr/>
          </p:nvSpPr>
          <p:spPr bwMode="auto">
            <a:xfrm>
              <a:off x="3240" y="1830"/>
              <a:ext cx="1372" cy="723"/>
            </a:xfrm>
            <a:custGeom>
              <a:avLst/>
              <a:gdLst>
                <a:gd name="T0" fmla="*/ 469145 w 765"/>
                <a:gd name="T1" fmla="*/ 2309 h 459"/>
                <a:gd name="T2" fmla="*/ 319298 w 765"/>
                <a:gd name="T3" fmla="*/ 16281 h 459"/>
                <a:gd name="T4" fmla="*/ 105985 w 765"/>
                <a:gd name="T5" fmla="*/ 23386 h 459"/>
                <a:gd name="T6" fmla="*/ 15506 w 765"/>
                <a:gd name="T7" fmla="*/ 78344 h 459"/>
                <a:gd name="T8" fmla="*/ 199263 w 765"/>
                <a:gd name="T9" fmla="*/ 103496 h 459"/>
                <a:gd name="T10" fmla="*/ 383538 w 765"/>
                <a:gd name="T11" fmla="*/ 99421 h 459"/>
                <a:gd name="T12" fmla="*/ 646551 w 765"/>
                <a:gd name="T13" fmla="*/ 103496 h 459"/>
                <a:gd name="T14" fmla="*/ 772845 w 765"/>
                <a:gd name="T15" fmla="*/ 101223 h 459"/>
                <a:gd name="T16" fmla="*/ 832759 w 765"/>
                <a:gd name="T17" fmla="*/ 86790 h 459"/>
                <a:gd name="T18" fmla="*/ 830490 w 765"/>
                <a:gd name="T19" fmla="*/ 36837 h 459"/>
                <a:gd name="T20" fmla="*/ 732908 w 765"/>
                <a:gd name="T21" fmla="*/ 7992 h 459"/>
                <a:gd name="T22" fmla="*/ 469145 w 765"/>
                <a:gd name="T23" fmla="*/ 2309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7" name="Line 130"/>
            <p:cNvSpPr>
              <a:spLocks noChangeShapeType="1"/>
            </p:cNvSpPr>
            <p:nvPr/>
          </p:nvSpPr>
          <p:spPr bwMode="auto">
            <a:xfrm flipV="1">
              <a:off x="3763" y="2053"/>
              <a:ext cx="106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8" name="Line 131"/>
            <p:cNvSpPr>
              <a:spLocks noChangeShapeType="1"/>
            </p:cNvSpPr>
            <p:nvPr/>
          </p:nvSpPr>
          <p:spPr bwMode="auto">
            <a:xfrm>
              <a:off x="3616" y="22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Line 132"/>
            <p:cNvSpPr>
              <a:spLocks noChangeShapeType="1"/>
            </p:cNvSpPr>
            <p:nvPr/>
          </p:nvSpPr>
          <p:spPr bwMode="auto">
            <a:xfrm flipV="1">
              <a:off x="3763" y="2114"/>
              <a:ext cx="226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Line 133"/>
            <p:cNvSpPr>
              <a:spLocks noChangeShapeType="1"/>
            </p:cNvSpPr>
            <p:nvPr/>
          </p:nvSpPr>
          <p:spPr bwMode="auto">
            <a:xfrm>
              <a:off x="4076" y="2113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1" name="Line 134"/>
            <p:cNvSpPr>
              <a:spLocks noChangeShapeType="1"/>
            </p:cNvSpPr>
            <p:nvPr/>
          </p:nvSpPr>
          <p:spPr bwMode="auto">
            <a:xfrm>
              <a:off x="3779" y="2380"/>
              <a:ext cx="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Line 135"/>
            <p:cNvSpPr>
              <a:spLocks noChangeShapeType="1"/>
            </p:cNvSpPr>
            <p:nvPr/>
          </p:nvSpPr>
          <p:spPr bwMode="auto">
            <a:xfrm>
              <a:off x="4255" y="2372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583" name="Group 136"/>
            <p:cNvGrpSpPr>
              <a:grpSpLocks/>
            </p:cNvGrpSpPr>
            <p:nvPr/>
          </p:nvGrpSpPr>
          <p:grpSpPr bwMode="auto">
            <a:xfrm>
              <a:off x="3860" y="1969"/>
              <a:ext cx="335" cy="148"/>
              <a:chOff x="4650" y="1129"/>
              <a:chExt cx="246" cy="95"/>
            </a:xfrm>
          </p:grpSpPr>
          <p:sp>
            <p:nvSpPr>
              <p:cNvPr id="2261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61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61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2616" name="Group 14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2619" name="Freeform 14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20" name="Freeform 14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617" name="Line 14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8" name="Line 14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584" name="Group 145"/>
            <p:cNvGrpSpPr>
              <a:grpSpLocks/>
            </p:cNvGrpSpPr>
            <p:nvPr/>
          </p:nvGrpSpPr>
          <p:grpSpPr bwMode="auto">
            <a:xfrm>
              <a:off x="3922" y="2284"/>
              <a:ext cx="336" cy="154"/>
              <a:chOff x="4650" y="1129"/>
              <a:chExt cx="246" cy="95"/>
            </a:xfrm>
          </p:grpSpPr>
          <p:sp>
            <p:nvSpPr>
              <p:cNvPr id="2260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60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60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2608" name="Group 14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2611" name="Freeform 15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12" name="Freeform 15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609" name="Line 15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0" name="Line 15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585" name="Group 154"/>
            <p:cNvGrpSpPr>
              <a:grpSpLocks/>
            </p:cNvGrpSpPr>
            <p:nvPr/>
          </p:nvGrpSpPr>
          <p:grpSpPr bwMode="auto">
            <a:xfrm>
              <a:off x="3443" y="2054"/>
              <a:ext cx="335" cy="149"/>
              <a:chOff x="4650" y="1129"/>
              <a:chExt cx="246" cy="95"/>
            </a:xfrm>
          </p:grpSpPr>
          <p:sp>
            <p:nvSpPr>
              <p:cNvPr id="2259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59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59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2600" name="Group 15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2603" name="Freeform 15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04" name="Freeform 16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601" name="Line 16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2" name="Line 16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586" name="Group 163"/>
            <p:cNvGrpSpPr>
              <a:grpSpLocks/>
            </p:cNvGrpSpPr>
            <p:nvPr/>
          </p:nvGrpSpPr>
          <p:grpSpPr bwMode="auto">
            <a:xfrm>
              <a:off x="3452" y="2284"/>
              <a:ext cx="336" cy="148"/>
              <a:chOff x="4650" y="1129"/>
              <a:chExt cx="246" cy="95"/>
            </a:xfrm>
          </p:grpSpPr>
          <p:sp>
            <p:nvSpPr>
              <p:cNvPr id="2258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59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59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2592" name="Group 167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2595" name="Freeform 16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96" name="Freeform 16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593" name="Line 17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4" name="Line 171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587" name="Line 172"/>
            <p:cNvSpPr>
              <a:spLocks noChangeShapeType="1"/>
            </p:cNvSpPr>
            <p:nvPr/>
          </p:nvSpPr>
          <p:spPr bwMode="auto">
            <a:xfrm>
              <a:off x="4422" y="2370"/>
              <a:ext cx="153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8" name="Text Box 580"/>
            <p:cNvSpPr txBox="1">
              <a:spLocks noChangeArrowheads="1"/>
            </p:cNvSpPr>
            <p:nvPr/>
          </p:nvSpPr>
          <p:spPr bwMode="auto">
            <a:xfrm>
              <a:off x="4231" y="1988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/>
                <a:t>ISP</a:t>
              </a:r>
            </a:p>
          </p:txBody>
        </p:sp>
      </p:grpSp>
      <p:sp>
        <p:nvSpPr>
          <p:cNvPr id="22565" name="Freeform 174"/>
          <p:cNvSpPr>
            <a:spLocks/>
          </p:cNvSpPr>
          <p:nvPr/>
        </p:nvSpPr>
        <p:spPr bwMode="auto">
          <a:xfrm>
            <a:off x="6251575" y="2193925"/>
            <a:ext cx="206375" cy="927100"/>
          </a:xfrm>
          <a:custGeom>
            <a:avLst/>
            <a:gdLst>
              <a:gd name="T0" fmla="*/ 0 w 130"/>
              <a:gd name="T1" fmla="*/ 0 h 584"/>
              <a:gd name="T2" fmla="*/ 2147483647 w 130"/>
              <a:gd name="T3" fmla="*/ 0 h 584"/>
              <a:gd name="T4" fmla="*/ 2147483647 w 130"/>
              <a:gd name="T5" fmla="*/ 2147483647 h 584"/>
              <a:gd name="T6" fmla="*/ 0 60000 65536"/>
              <a:gd name="T7" fmla="*/ 0 60000 65536"/>
              <a:gd name="T8" fmla="*/ 0 60000 65536"/>
              <a:gd name="T9" fmla="*/ 0 w 130"/>
              <a:gd name="T10" fmla="*/ 0 h 584"/>
              <a:gd name="T11" fmla="*/ 130 w 130"/>
              <a:gd name="T12" fmla="*/ 584 h 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0" h="584">
                <a:moveTo>
                  <a:pt x="0" y="0"/>
                </a:moveTo>
                <a:lnTo>
                  <a:pt x="130" y="0"/>
                </a:lnTo>
                <a:lnTo>
                  <a:pt x="130" y="58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" name="Group 175"/>
          <p:cNvGrpSpPr>
            <a:grpSpLocks/>
          </p:cNvGrpSpPr>
          <p:nvPr/>
        </p:nvGrpSpPr>
        <p:grpSpPr bwMode="auto">
          <a:xfrm>
            <a:off x="6210300" y="2355850"/>
            <a:ext cx="2517775" cy="508000"/>
            <a:chOff x="3912" y="1484"/>
            <a:chExt cx="1586" cy="320"/>
          </a:xfrm>
        </p:grpSpPr>
        <p:sp>
          <p:nvSpPr>
            <p:cNvPr id="22574" name="Line 176"/>
            <p:cNvSpPr>
              <a:spLocks noChangeShapeType="1"/>
            </p:cNvSpPr>
            <p:nvPr/>
          </p:nvSpPr>
          <p:spPr bwMode="auto">
            <a:xfrm flipH="1" flipV="1">
              <a:off x="3912" y="1497"/>
              <a:ext cx="711" cy="9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Text Box 177"/>
            <p:cNvSpPr txBox="1">
              <a:spLocks noChangeArrowheads="1"/>
            </p:cNvSpPr>
            <p:nvPr/>
          </p:nvSpPr>
          <p:spPr bwMode="auto">
            <a:xfrm>
              <a:off x="4307" y="1484"/>
              <a:ext cx="1191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 i="1"/>
                <a:t>cable modem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termination system</a:t>
              </a:r>
            </a:p>
          </p:txBody>
        </p:sp>
      </p:grpSp>
      <p:sp>
        <p:nvSpPr>
          <p:cNvPr id="22567" name="Rectangle 3"/>
          <p:cNvSpPr>
            <a:spLocks noChangeArrowheads="1"/>
          </p:cNvSpPr>
          <p:nvPr/>
        </p:nvSpPr>
        <p:spPr bwMode="auto">
          <a:xfrm>
            <a:off x="373063" y="4246563"/>
            <a:ext cx="8401050" cy="209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HFC: hybrid fiber coax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asymmetric: up to 30Mbps downstream transmission rate, 2 Mbps upstream transmission rate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network </a:t>
            </a:r>
            <a:r>
              <a:rPr lang="en-US">
                <a:latin typeface="Gill Sans MT" pitchFamily="34" charset="0"/>
              </a:rPr>
              <a:t>of cable, fiber attaches homes to ISP router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homes </a:t>
            </a: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share access network</a:t>
            </a:r>
            <a:r>
              <a:rPr lang="en-US">
                <a:solidFill>
                  <a:srgbClr val="FF0000"/>
                </a:solidFill>
                <a:latin typeface="Gill Sans MT" pitchFamily="34" charset="0"/>
              </a:rPr>
              <a:t> </a:t>
            </a:r>
            <a:r>
              <a:rPr lang="en-US">
                <a:latin typeface="Gill Sans MT" pitchFamily="34" charset="0"/>
              </a:rPr>
              <a:t>to cable headend 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unlike DSL, which has dedicated access to central office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endParaRPr lang="en-US" sz="2000">
              <a:latin typeface="Gill Sans MT" pitchFamily="34" charset="0"/>
            </a:endParaRPr>
          </a:p>
        </p:txBody>
      </p:sp>
      <p:sp>
        <p:nvSpPr>
          <p:cNvPr id="22568" name="Title 41"/>
          <p:cNvSpPr>
            <a:spLocks/>
          </p:cNvSpPr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Access net: cable network</a:t>
            </a:r>
          </a:p>
        </p:txBody>
      </p:sp>
      <p:pic>
        <p:nvPicPr>
          <p:cNvPr id="22569" name="Picture 180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570" name="Group 181"/>
          <p:cNvGrpSpPr>
            <a:grpSpLocks/>
          </p:cNvGrpSpPr>
          <p:nvPr/>
        </p:nvGrpSpPr>
        <p:grpSpPr bwMode="auto">
          <a:xfrm>
            <a:off x="560388" y="1928813"/>
            <a:ext cx="609600" cy="609600"/>
            <a:chOff x="-44" y="1473"/>
            <a:chExt cx="981" cy="1105"/>
          </a:xfrm>
        </p:grpSpPr>
        <p:pic>
          <p:nvPicPr>
            <p:cNvPr id="22572" name="Picture 182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73" name="Freeform 18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25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F75B78F-F08A-49DE-B350-A56E95C777FD}" type="slidenum">
              <a:rPr lang="en-US" sz="1200" smtClean="0">
                <a:latin typeface="Tahoma" pitchFamily="34" charset="0"/>
              </a:rPr>
              <a:pPr/>
              <a:t>15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23555" name="Title 41"/>
          <p:cNvSpPr>
            <a:spLocks/>
          </p:cNvSpPr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Access net: home network</a:t>
            </a:r>
          </a:p>
        </p:txBody>
      </p:sp>
      <p:pic>
        <p:nvPicPr>
          <p:cNvPr id="23556" name="Picture 8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AutoShape 99"/>
          <p:cNvSpPr>
            <a:spLocks noChangeArrowheads="1"/>
          </p:cNvSpPr>
          <p:nvPr/>
        </p:nvSpPr>
        <p:spPr bwMode="auto">
          <a:xfrm>
            <a:off x="754063" y="1158875"/>
            <a:ext cx="5649912" cy="768350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9" name="Text Box 26"/>
          <p:cNvSpPr txBox="1">
            <a:spLocks noChangeArrowheads="1"/>
          </p:cNvSpPr>
          <p:nvPr/>
        </p:nvSpPr>
        <p:spPr bwMode="auto">
          <a:xfrm>
            <a:off x="5905500" y="3178175"/>
            <a:ext cx="28971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to/from headend or central office</a:t>
            </a:r>
          </a:p>
        </p:txBody>
      </p:sp>
      <p:sp>
        <p:nvSpPr>
          <p:cNvPr id="23559" name="Rectangle 87"/>
          <p:cNvSpPr>
            <a:spLocks noChangeArrowheads="1"/>
          </p:cNvSpPr>
          <p:nvPr/>
        </p:nvSpPr>
        <p:spPr bwMode="auto">
          <a:xfrm>
            <a:off x="1189038" y="1912938"/>
            <a:ext cx="4781550" cy="26622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60" name="Group 105"/>
          <p:cNvGrpSpPr>
            <a:grpSpLocks/>
          </p:cNvGrpSpPr>
          <p:nvPr/>
        </p:nvGrpSpPr>
        <p:grpSpPr bwMode="auto">
          <a:xfrm>
            <a:off x="4287838" y="3252788"/>
            <a:ext cx="3000375" cy="361950"/>
            <a:chOff x="2434" y="2109"/>
            <a:chExt cx="1890" cy="228"/>
          </a:xfrm>
        </p:grpSpPr>
        <p:grpSp>
          <p:nvGrpSpPr>
            <p:cNvPr id="23627" name="Group 91"/>
            <p:cNvGrpSpPr>
              <a:grpSpLocks/>
            </p:cNvGrpSpPr>
            <p:nvPr/>
          </p:nvGrpSpPr>
          <p:grpSpPr bwMode="auto"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23630" name="Rectangle 92"/>
              <p:cNvSpPr>
                <a:spLocks noChangeArrowheads="1"/>
              </p:cNvSpPr>
              <p:nvPr/>
            </p:nvSpPr>
            <p:spPr bwMode="auto"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1" name="Rectangle 93"/>
              <p:cNvSpPr>
                <a:spLocks noChangeArrowheads="1"/>
              </p:cNvSpPr>
              <p:nvPr/>
            </p:nvSpPr>
            <p:spPr bwMode="auto"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2" name="Rectangle 94"/>
              <p:cNvSpPr>
                <a:spLocks noChangeArrowheads="1"/>
              </p:cNvSpPr>
              <p:nvPr/>
            </p:nvSpPr>
            <p:spPr bwMode="auto"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3" name="Rectangle 95"/>
              <p:cNvSpPr>
                <a:spLocks noChangeArrowheads="1"/>
              </p:cNvSpPr>
              <p:nvPr/>
            </p:nvSpPr>
            <p:spPr bwMode="auto"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4" name="Rectangle 96"/>
              <p:cNvSpPr>
                <a:spLocks noChangeArrowheads="1"/>
              </p:cNvSpPr>
              <p:nvPr/>
            </p:nvSpPr>
            <p:spPr bwMode="auto"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5" name="AutoShape 97"/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628" name="Line 102"/>
            <p:cNvSpPr>
              <a:spLocks noChangeShapeType="1"/>
            </p:cNvSpPr>
            <p:nvPr/>
          </p:nvSpPr>
          <p:spPr bwMode="auto">
            <a:xfrm flipH="1">
              <a:off x="3361" y="2258"/>
              <a:ext cx="9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Line 104"/>
            <p:cNvSpPr>
              <a:spLocks noChangeShapeType="1"/>
            </p:cNvSpPr>
            <p:nvPr/>
          </p:nvSpPr>
          <p:spPr bwMode="auto">
            <a:xfrm flipH="1">
              <a:off x="2434" y="226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61" name="Group 107"/>
          <p:cNvGrpSpPr>
            <a:grpSpLocks/>
          </p:cNvGrpSpPr>
          <p:nvPr/>
        </p:nvGrpSpPr>
        <p:grpSpPr bwMode="auto">
          <a:xfrm>
            <a:off x="3273425" y="3227388"/>
            <a:ext cx="1065213" cy="455612"/>
            <a:chOff x="2356" y="1300"/>
            <a:chExt cx="555" cy="194"/>
          </a:xfrm>
        </p:grpSpPr>
        <p:sp>
          <p:nvSpPr>
            <p:cNvPr id="23619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3620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23621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23622" name="Group 111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23625" name="Freeform 11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6" name="Freeform 11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623" name="Line 114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Line 115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62" name="Line 116"/>
          <p:cNvSpPr>
            <a:spLocks noChangeShapeType="1"/>
          </p:cNvSpPr>
          <p:nvPr/>
        </p:nvSpPr>
        <p:spPr bwMode="auto">
          <a:xfrm flipH="1">
            <a:off x="2435225" y="3463925"/>
            <a:ext cx="822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63" name="Group 119"/>
          <p:cNvGrpSpPr>
            <a:grpSpLocks/>
          </p:cNvGrpSpPr>
          <p:nvPr/>
        </p:nvGrpSpPr>
        <p:grpSpPr bwMode="auto">
          <a:xfrm>
            <a:off x="1814513" y="2884488"/>
            <a:ext cx="1068387" cy="820737"/>
            <a:chOff x="2967" y="478"/>
            <a:chExt cx="788" cy="625"/>
          </a:xfrm>
        </p:grpSpPr>
        <p:pic>
          <p:nvPicPr>
            <p:cNvPr id="23617" name="Picture 120" descr="access_point_stylized_smal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18" name="Picture 121" descr="antenna_radiation_stylize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64" name="Line 122"/>
          <p:cNvSpPr>
            <a:spLocks noChangeShapeType="1"/>
          </p:cNvSpPr>
          <p:nvPr/>
        </p:nvSpPr>
        <p:spPr bwMode="auto">
          <a:xfrm flipH="1" flipV="1">
            <a:off x="3756025" y="2767013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" name="Group 138"/>
          <p:cNvGrpSpPr>
            <a:grpSpLocks/>
          </p:cNvGrpSpPr>
          <p:nvPr/>
        </p:nvGrpSpPr>
        <p:grpSpPr bwMode="auto">
          <a:xfrm>
            <a:off x="5326063" y="3703638"/>
            <a:ext cx="2527300" cy="1265237"/>
            <a:chOff x="3355" y="2333"/>
            <a:chExt cx="1592" cy="797"/>
          </a:xfrm>
        </p:grpSpPr>
        <p:sp>
          <p:nvSpPr>
            <p:cNvPr id="23615" name="Text Box 39"/>
            <p:cNvSpPr txBox="1">
              <a:spLocks noChangeArrowheads="1"/>
            </p:cNvSpPr>
            <p:nvPr/>
          </p:nvSpPr>
          <p:spPr bwMode="auto">
            <a:xfrm>
              <a:off x="3355" y="2934"/>
              <a:ext cx="1592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800"/>
                <a:t>cable or DSL modem</a:t>
              </a:r>
            </a:p>
          </p:txBody>
        </p:sp>
        <p:sp>
          <p:nvSpPr>
            <p:cNvPr id="23616" name="Line 129"/>
            <p:cNvSpPr>
              <a:spLocks noChangeShapeType="1"/>
            </p:cNvSpPr>
            <p:nvPr/>
          </p:nvSpPr>
          <p:spPr bwMode="auto">
            <a:xfrm>
              <a:off x="3449" y="2333"/>
              <a:ext cx="0" cy="59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139"/>
          <p:cNvGrpSpPr>
            <a:grpSpLocks/>
          </p:cNvGrpSpPr>
          <p:nvPr/>
        </p:nvGrpSpPr>
        <p:grpSpPr bwMode="auto">
          <a:xfrm>
            <a:off x="4060825" y="3695700"/>
            <a:ext cx="2593975" cy="1778000"/>
            <a:chOff x="2558" y="2328"/>
            <a:chExt cx="1634" cy="1120"/>
          </a:xfrm>
        </p:grpSpPr>
        <p:sp>
          <p:nvSpPr>
            <p:cNvPr id="23613" name="Text Box 39"/>
            <p:cNvSpPr txBox="1">
              <a:spLocks noChangeArrowheads="1"/>
            </p:cNvSpPr>
            <p:nvPr/>
          </p:nvSpPr>
          <p:spPr bwMode="auto">
            <a:xfrm>
              <a:off x="2558" y="3252"/>
              <a:ext cx="163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800"/>
                <a:t>router, firewall, NAT</a:t>
              </a:r>
            </a:p>
          </p:txBody>
        </p:sp>
        <p:sp>
          <p:nvSpPr>
            <p:cNvPr id="23614" name="Line 133"/>
            <p:cNvSpPr>
              <a:spLocks noChangeShapeType="1"/>
            </p:cNvSpPr>
            <p:nvPr/>
          </p:nvSpPr>
          <p:spPr bwMode="auto">
            <a:xfrm>
              <a:off x="2645" y="2328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141"/>
          <p:cNvGrpSpPr>
            <a:grpSpLocks/>
          </p:cNvGrpSpPr>
          <p:nvPr/>
        </p:nvGrpSpPr>
        <p:grpSpPr bwMode="auto">
          <a:xfrm>
            <a:off x="3605213" y="4576763"/>
            <a:ext cx="2927350" cy="1392237"/>
            <a:chOff x="2062" y="2532"/>
            <a:chExt cx="1844" cy="1210"/>
          </a:xfrm>
        </p:grpSpPr>
        <p:sp>
          <p:nvSpPr>
            <p:cNvPr id="23611" name="Line 134"/>
            <p:cNvSpPr>
              <a:spLocks noChangeShapeType="1"/>
            </p:cNvSpPr>
            <p:nvPr/>
          </p:nvSpPr>
          <p:spPr bwMode="auto">
            <a:xfrm>
              <a:off x="2064" y="2532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Text Box 39"/>
            <p:cNvSpPr txBox="1">
              <a:spLocks noChangeArrowheads="1"/>
            </p:cNvSpPr>
            <p:nvPr/>
          </p:nvSpPr>
          <p:spPr bwMode="auto">
            <a:xfrm>
              <a:off x="2062" y="3471"/>
              <a:ext cx="184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800"/>
                <a:t>wired Ethernet (100 Mbps)</a:t>
              </a:r>
            </a:p>
          </p:txBody>
        </p:sp>
      </p:grpSp>
      <p:grpSp>
        <p:nvGrpSpPr>
          <p:cNvPr id="10" name="Group 140"/>
          <p:cNvGrpSpPr>
            <a:grpSpLocks/>
          </p:cNvGrpSpPr>
          <p:nvPr/>
        </p:nvGrpSpPr>
        <p:grpSpPr bwMode="auto">
          <a:xfrm>
            <a:off x="423863" y="3725863"/>
            <a:ext cx="1966912" cy="2043112"/>
            <a:chOff x="267" y="2347"/>
            <a:chExt cx="1239" cy="1287"/>
          </a:xfrm>
        </p:grpSpPr>
        <p:sp>
          <p:nvSpPr>
            <p:cNvPr id="23609" name="Line 136"/>
            <p:cNvSpPr>
              <a:spLocks noChangeShapeType="1"/>
            </p:cNvSpPr>
            <p:nvPr/>
          </p:nvSpPr>
          <p:spPr bwMode="auto">
            <a:xfrm>
              <a:off x="1360" y="2347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Text Box 39"/>
            <p:cNvSpPr txBox="1">
              <a:spLocks noChangeArrowheads="1"/>
            </p:cNvSpPr>
            <p:nvPr/>
          </p:nvSpPr>
          <p:spPr bwMode="auto">
            <a:xfrm>
              <a:off x="267" y="3300"/>
              <a:ext cx="123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0000"/>
                </a:lnSpc>
              </a:pPr>
              <a:r>
                <a:rPr lang="en-US" sz="1800"/>
                <a:t>wireless access </a:t>
              </a:r>
            </a:p>
            <a:p>
              <a:pPr algn="r">
                <a:lnSpc>
                  <a:spcPct val="80000"/>
                </a:lnSpc>
              </a:pPr>
              <a:r>
                <a:rPr lang="en-US" sz="1800"/>
                <a:t>point (54 Mbps)</a:t>
              </a:r>
            </a:p>
          </p:txBody>
        </p:sp>
      </p:grpSp>
      <p:sp>
        <p:nvSpPr>
          <p:cNvPr id="11406" name="Text Box 142"/>
          <p:cNvSpPr txBox="1">
            <a:spLocks noChangeArrowheads="1"/>
          </p:cNvSpPr>
          <p:nvPr/>
        </p:nvSpPr>
        <p:spPr bwMode="auto">
          <a:xfrm>
            <a:off x="1038225" y="1303338"/>
            <a:ext cx="1103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sz="2000"/>
              <a:t>wireless</a:t>
            </a:r>
          </a:p>
          <a:p>
            <a:pPr algn="r"/>
            <a:r>
              <a:rPr lang="en-US" sz="2000"/>
              <a:t>devices</a:t>
            </a:r>
          </a:p>
        </p:txBody>
      </p:sp>
      <p:grpSp>
        <p:nvGrpSpPr>
          <p:cNvPr id="23570" name="Group 143"/>
          <p:cNvGrpSpPr>
            <a:grpSpLocks/>
          </p:cNvGrpSpPr>
          <p:nvPr/>
        </p:nvGrpSpPr>
        <p:grpSpPr bwMode="auto">
          <a:xfrm>
            <a:off x="1384300" y="1954213"/>
            <a:ext cx="733425" cy="758825"/>
            <a:chOff x="2751" y="1851"/>
            <a:chExt cx="462" cy="478"/>
          </a:xfrm>
        </p:grpSpPr>
        <p:pic>
          <p:nvPicPr>
            <p:cNvPr id="23607" name="Picture 144" descr="iphone_stylized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8" name="Picture 145" descr="antenna_radiation_stylize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71" name="Line 146"/>
          <p:cNvSpPr>
            <a:spLocks noChangeShapeType="1"/>
          </p:cNvSpPr>
          <p:nvPr/>
        </p:nvSpPr>
        <p:spPr bwMode="auto">
          <a:xfrm>
            <a:off x="3679825" y="3679825"/>
            <a:ext cx="1270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11" name="Oval 147"/>
          <p:cNvSpPr>
            <a:spLocks noChangeArrowheads="1"/>
          </p:cNvSpPr>
          <p:nvPr/>
        </p:nvSpPr>
        <p:spPr bwMode="auto">
          <a:xfrm>
            <a:off x="1281113" y="2801938"/>
            <a:ext cx="3359150" cy="1050925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" name="Group 150"/>
          <p:cNvGrpSpPr>
            <a:grpSpLocks/>
          </p:cNvGrpSpPr>
          <p:nvPr/>
        </p:nvGrpSpPr>
        <p:grpSpPr bwMode="auto">
          <a:xfrm>
            <a:off x="136525" y="3532188"/>
            <a:ext cx="1630363" cy="717550"/>
            <a:chOff x="86" y="2225"/>
            <a:chExt cx="1027" cy="452"/>
          </a:xfrm>
        </p:grpSpPr>
        <p:sp>
          <p:nvSpPr>
            <p:cNvPr id="23605" name="Text Box 148"/>
            <p:cNvSpPr txBox="1">
              <a:spLocks noChangeArrowheads="1"/>
            </p:cNvSpPr>
            <p:nvPr/>
          </p:nvSpPr>
          <p:spPr bwMode="auto">
            <a:xfrm>
              <a:off x="86" y="2357"/>
              <a:ext cx="102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/>
                <a:t>often combined </a:t>
              </a:r>
            </a:p>
            <a:p>
              <a:pPr algn="r">
                <a:lnSpc>
                  <a:spcPct val="85000"/>
                </a:lnSpc>
              </a:pPr>
              <a:r>
                <a:rPr lang="en-US" sz="1600"/>
                <a:t>in single box</a:t>
              </a:r>
            </a:p>
          </p:txBody>
        </p:sp>
        <p:sp>
          <p:nvSpPr>
            <p:cNvPr id="23606" name="Line 149"/>
            <p:cNvSpPr>
              <a:spLocks noChangeShapeType="1"/>
            </p:cNvSpPr>
            <p:nvPr/>
          </p:nvSpPr>
          <p:spPr bwMode="auto">
            <a:xfrm flipV="1">
              <a:off x="590" y="2225"/>
              <a:ext cx="238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74" name="Group 151"/>
          <p:cNvGrpSpPr>
            <a:grpSpLocks/>
          </p:cNvGrpSpPr>
          <p:nvPr/>
        </p:nvGrpSpPr>
        <p:grpSpPr bwMode="auto">
          <a:xfrm>
            <a:off x="2379663" y="1566863"/>
            <a:ext cx="954087" cy="1027112"/>
            <a:chOff x="877" y="1008"/>
            <a:chExt cx="2747" cy="2591"/>
          </a:xfrm>
        </p:grpSpPr>
        <p:pic>
          <p:nvPicPr>
            <p:cNvPr id="23582" name="Picture 152" descr="antenna_stylize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3" name="Picture 153" descr="laptop_keyboard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4" name="Freeform 154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585" name="Picture 155" descr="screen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6" name="Freeform 156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157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158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159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160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161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592" name="Group 162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3599" name="Freeform 163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0" name="Freeform 164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1" name="Freeform 165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2" name="Freeform 166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3" name="Freeform 167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4" name="Freeform 168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93" name="Freeform 169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170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171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172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173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174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75" name="Group 175"/>
          <p:cNvGrpSpPr>
            <a:grpSpLocks/>
          </p:cNvGrpSpPr>
          <p:nvPr/>
        </p:nvGrpSpPr>
        <p:grpSpPr bwMode="auto">
          <a:xfrm>
            <a:off x="3149600" y="2032000"/>
            <a:ext cx="1123950" cy="862013"/>
            <a:chOff x="-44" y="1473"/>
            <a:chExt cx="981" cy="1105"/>
          </a:xfrm>
        </p:grpSpPr>
        <p:pic>
          <p:nvPicPr>
            <p:cNvPr id="23580" name="Picture 176" descr="desktop_computer_stylized_medium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1" name="Freeform 17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3576" name="Group 178"/>
          <p:cNvGrpSpPr>
            <a:grpSpLocks/>
          </p:cNvGrpSpPr>
          <p:nvPr/>
        </p:nvGrpSpPr>
        <p:grpSpPr bwMode="auto">
          <a:xfrm>
            <a:off x="3090863" y="3838575"/>
            <a:ext cx="849312" cy="712788"/>
            <a:chOff x="-44" y="1473"/>
            <a:chExt cx="981" cy="1105"/>
          </a:xfrm>
        </p:grpSpPr>
        <p:pic>
          <p:nvPicPr>
            <p:cNvPr id="23578" name="Picture 179" descr="desktop_computer_stylized_medium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79" name="Freeform 18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357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CA94AC49-F1D8-47F4-B10D-42F2AC2409FB}" type="slidenum">
              <a:rPr lang="en-US" sz="1200" smtClean="0">
                <a:latin typeface="Tahoma" pitchFamily="34" charset="0"/>
              </a:rPr>
              <a:pPr/>
              <a:t>16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9" grpId="0"/>
      <p:bldP spid="11406" grpId="0"/>
      <p:bldP spid="114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24579" name="Title 50"/>
          <p:cNvSpPr>
            <a:spLocks noGrp="1"/>
          </p:cNvSpPr>
          <p:nvPr>
            <p:ph type="title" idx="4294967295"/>
          </p:nvPr>
        </p:nvSpPr>
        <p:spPr>
          <a:xfrm>
            <a:off x="290513" y="198438"/>
            <a:ext cx="8321675" cy="765175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Enterprise access networks (Ethernet)</a:t>
            </a:r>
          </a:p>
        </p:txBody>
      </p:sp>
      <p:sp>
        <p:nvSpPr>
          <p:cNvPr id="24580" name="Content Placeholder 52"/>
          <p:cNvSpPr>
            <a:spLocks noGrp="1"/>
          </p:cNvSpPr>
          <p:nvPr>
            <p:ph idx="4294967295"/>
          </p:nvPr>
        </p:nvSpPr>
        <p:spPr>
          <a:xfrm>
            <a:off x="455613" y="4783138"/>
            <a:ext cx="8043862" cy="1414462"/>
          </a:xfrm>
        </p:spPr>
        <p:txBody>
          <a:bodyPr/>
          <a:lstStyle/>
          <a:p>
            <a:pPr eaLnBrk="1" hangingPunct="1"/>
            <a:r>
              <a:rPr lang="en-US" sz="2400" smtClean="0">
                <a:ea typeface="ＭＳ Ｐゴシック" pitchFamily="34" charset="-128"/>
              </a:rPr>
              <a:t>typically used in companies, universities, etc</a:t>
            </a:r>
          </a:p>
          <a:p>
            <a:pPr marL="342900" lvl="1" indent="-342900" eaLnBrk="1" hangingPunct="1">
              <a:buSzPct val="65000"/>
              <a:buFont typeface="Wingdings" pitchFamily="2" charset="2"/>
              <a:buChar char="v"/>
            </a:pPr>
            <a:r>
              <a:rPr lang="en-US" smtClean="0"/>
              <a:t>10 Mbps, 100Mbps, 1Gbps, 10Gbps transmission rates</a:t>
            </a:r>
          </a:p>
          <a:p>
            <a:pPr marL="342900" lvl="1" indent="-342900" eaLnBrk="1" hangingPunct="1">
              <a:buSzPct val="65000"/>
              <a:buFont typeface="Wingdings" pitchFamily="2" charset="2"/>
              <a:buChar char="v"/>
            </a:pPr>
            <a:r>
              <a:rPr lang="en-US" smtClean="0"/>
              <a:t>today, end systems typically connect into Ethernet switch</a:t>
            </a:r>
          </a:p>
          <a:p>
            <a:pPr eaLnBrk="1" hangingPunct="1"/>
            <a:endParaRPr lang="en-US" sz="2400" smtClean="0">
              <a:ea typeface="ＭＳ Ｐゴシック" pitchFamily="34" charset="-128"/>
            </a:endParaRPr>
          </a:p>
        </p:txBody>
      </p:sp>
      <p:sp>
        <p:nvSpPr>
          <p:cNvPr id="24581" name="Line 2"/>
          <p:cNvSpPr>
            <a:spLocks noChangeShapeType="1"/>
          </p:cNvSpPr>
          <p:nvPr/>
        </p:nvSpPr>
        <p:spPr bwMode="auto">
          <a:xfrm>
            <a:off x="2217738" y="3186113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3"/>
          <p:cNvSpPr>
            <a:spLocks noChangeShapeType="1"/>
          </p:cNvSpPr>
          <p:nvPr/>
        </p:nvSpPr>
        <p:spPr bwMode="auto">
          <a:xfrm>
            <a:off x="2636838" y="3194050"/>
            <a:ext cx="0" cy="55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4"/>
          <p:cNvSpPr>
            <a:spLocks noChangeShapeType="1"/>
          </p:cNvSpPr>
          <p:nvPr/>
        </p:nvSpPr>
        <p:spPr bwMode="auto">
          <a:xfrm flipH="1">
            <a:off x="1614488" y="3167063"/>
            <a:ext cx="696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84" name="Group 51"/>
          <p:cNvGrpSpPr>
            <a:grpSpLocks/>
          </p:cNvGrpSpPr>
          <p:nvPr/>
        </p:nvGrpSpPr>
        <p:grpSpPr bwMode="auto">
          <a:xfrm>
            <a:off x="2016125" y="2873375"/>
            <a:ext cx="1052513" cy="355600"/>
            <a:chOff x="4410" y="1365"/>
            <a:chExt cx="663" cy="224"/>
          </a:xfrm>
        </p:grpSpPr>
        <p:sp>
          <p:nvSpPr>
            <p:cNvPr id="24772" name="Rectangle 52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3" name="AutoShape 53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4" name="Freeform 54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775" name="Freeform 55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117 h 63"/>
                <a:gd name="T2" fmla="*/ 45061 w 280"/>
                <a:gd name="T3" fmla="*/ 1087 h 63"/>
                <a:gd name="T4" fmla="*/ 265937 w 280"/>
                <a:gd name="T5" fmla="*/ 0 h 63"/>
                <a:gd name="T6" fmla="*/ 33952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776" name="Freeform 56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585" name="Line 59"/>
          <p:cNvSpPr>
            <a:spLocks noChangeShapeType="1"/>
          </p:cNvSpPr>
          <p:nvPr/>
        </p:nvSpPr>
        <p:spPr bwMode="auto">
          <a:xfrm flipH="1">
            <a:off x="1108075" y="2946400"/>
            <a:ext cx="1062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Line 61"/>
          <p:cNvSpPr>
            <a:spLocks noChangeShapeType="1"/>
          </p:cNvSpPr>
          <p:nvPr/>
        </p:nvSpPr>
        <p:spPr bwMode="auto">
          <a:xfrm flipV="1">
            <a:off x="2389188" y="2328863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87" name="Group 62"/>
          <p:cNvGrpSpPr>
            <a:grpSpLocks/>
          </p:cNvGrpSpPr>
          <p:nvPr/>
        </p:nvGrpSpPr>
        <p:grpSpPr bwMode="auto">
          <a:xfrm>
            <a:off x="2089150" y="1876425"/>
            <a:ext cx="873125" cy="627063"/>
            <a:chOff x="2967" y="478"/>
            <a:chExt cx="788" cy="625"/>
          </a:xfrm>
        </p:grpSpPr>
        <p:pic>
          <p:nvPicPr>
            <p:cNvPr id="24770" name="Picture 63" descr="access_point_stylized_smal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71" name="Picture 64" descr="antenna_radiation_stylize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588" name="Group 65"/>
          <p:cNvGrpSpPr>
            <a:grpSpLocks/>
          </p:cNvGrpSpPr>
          <p:nvPr/>
        </p:nvGrpSpPr>
        <p:grpSpPr bwMode="auto">
          <a:xfrm>
            <a:off x="2746375" y="1231900"/>
            <a:ext cx="622300" cy="706438"/>
            <a:chOff x="877" y="1008"/>
            <a:chExt cx="2747" cy="2591"/>
          </a:xfrm>
        </p:grpSpPr>
        <p:pic>
          <p:nvPicPr>
            <p:cNvPr id="24747" name="Picture 66" descr="antenna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48" name="Picture 67" descr="laptop_keyboar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49" name="Freeform 68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750" name="Picture 69" descr="screen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51" name="Freeform 70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2" name="Freeform 71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3" name="Freeform 72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4" name="Freeform 73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5" name="Freeform 74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6" name="Freeform 75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757" name="Group 76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4764" name="Freeform 77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5" name="Freeform 78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6" name="Freeform 79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7" name="Freeform 80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8" name="Freeform 81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9" name="Freeform 82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758" name="Freeform 83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9" name="Freeform 84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0" name="Freeform 85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1" name="Freeform 86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2" name="Freeform 87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3" name="Freeform 88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9" name="Group 89"/>
          <p:cNvGrpSpPr>
            <a:grpSpLocks/>
          </p:cNvGrpSpPr>
          <p:nvPr/>
        </p:nvGrpSpPr>
        <p:grpSpPr bwMode="auto">
          <a:xfrm>
            <a:off x="1216025" y="1511300"/>
            <a:ext cx="566738" cy="625475"/>
            <a:chOff x="877" y="1008"/>
            <a:chExt cx="2747" cy="2591"/>
          </a:xfrm>
        </p:grpSpPr>
        <p:pic>
          <p:nvPicPr>
            <p:cNvPr id="24724" name="Picture 90" descr="antenna_styliz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25" name="Picture 91" descr="laptop_keyboar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26" name="Freeform 92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727" name="Picture 93" descr="screen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28" name="Freeform 94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Freeform 95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Freeform 96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Freeform 97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Freeform 98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3" name="Freeform 99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734" name="Group 100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4741" name="Freeform 10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2" name="Freeform 10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3" name="Freeform 10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4" name="Freeform 10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5" name="Freeform 10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6" name="Freeform 10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735" name="Freeform 107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6" name="Freeform 108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7" name="Freeform 109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8" name="Freeform 110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9" name="Freeform 111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0" name="Freeform 112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0" name="Group 113"/>
          <p:cNvGrpSpPr>
            <a:grpSpLocks/>
          </p:cNvGrpSpPr>
          <p:nvPr/>
        </p:nvGrpSpPr>
        <p:grpSpPr bwMode="auto">
          <a:xfrm>
            <a:off x="1963738" y="1203325"/>
            <a:ext cx="635000" cy="615950"/>
            <a:chOff x="877" y="1008"/>
            <a:chExt cx="2747" cy="2591"/>
          </a:xfrm>
        </p:grpSpPr>
        <p:pic>
          <p:nvPicPr>
            <p:cNvPr id="24701" name="Picture 114" descr="antenna_stylize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02" name="Picture 115" descr="laptop_keyboar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03" name="Freeform 116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704" name="Picture 117" descr="screen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05" name="Freeform 118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Freeform 119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Freeform 120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8" name="Freeform 121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Freeform 122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0" name="Freeform 123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711" name="Group 124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4718" name="Freeform 125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9" name="Freeform 126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0" name="Freeform 127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1" name="Freeform 128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2" name="Freeform 129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3" name="Freeform 130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712" name="Freeform 131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3" name="Freeform 132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4" name="Freeform 133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5" name="Freeform 134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6" name="Freeform 135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7" name="Freeform 136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1" name="Group 296"/>
          <p:cNvGrpSpPr>
            <a:grpSpLocks/>
          </p:cNvGrpSpPr>
          <p:nvPr/>
        </p:nvGrpSpPr>
        <p:grpSpPr bwMode="auto">
          <a:xfrm>
            <a:off x="4429125" y="1851025"/>
            <a:ext cx="1166813" cy="479425"/>
            <a:chOff x="2356" y="1300"/>
            <a:chExt cx="555" cy="194"/>
          </a:xfrm>
        </p:grpSpPr>
        <p:sp>
          <p:nvSpPr>
            <p:cNvPr id="24693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4694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24695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24696" name="Group 300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24699" name="Freeform 30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0" name="Freeform 30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697" name="Line 303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8" name="Line 304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92" name="Line 305"/>
          <p:cNvSpPr>
            <a:spLocks noChangeShapeType="1"/>
          </p:cNvSpPr>
          <p:nvPr/>
        </p:nvSpPr>
        <p:spPr bwMode="auto">
          <a:xfrm flipV="1">
            <a:off x="2778125" y="2111375"/>
            <a:ext cx="1668463" cy="7667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306"/>
          <p:cNvSpPr>
            <a:spLocks noChangeShapeType="1"/>
          </p:cNvSpPr>
          <p:nvPr/>
        </p:nvSpPr>
        <p:spPr bwMode="auto">
          <a:xfrm>
            <a:off x="4594225" y="3005138"/>
            <a:ext cx="0" cy="652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4" name="Line 340"/>
          <p:cNvSpPr>
            <a:spLocks noChangeShapeType="1"/>
          </p:cNvSpPr>
          <p:nvPr/>
        </p:nvSpPr>
        <p:spPr bwMode="auto">
          <a:xfrm>
            <a:off x="4975225" y="2997200"/>
            <a:ext cx="0" cy="652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95" name="Group 230"/>
          <p:cNvGrpSpPr>
            <a:grpSpLocks/>
          </p:cNvGrpSpPr>
          <p:nvPr/>
        </p:nvGrpSpPr>
        <p:grpSpPr bwMode="auto">
          <a:xfrm>
            <a:off x="4432300" y="3616325"/>
            <a:ext cx="365125" cy="766763"/>
            <a:chOff x="4140" y="429"/>
            <a:chExt cx="1425" cy="2396"/>
          </a:xfrm>
        </p:grpSpPr>
        <p:sp>
          <p:nvSpPr>
            <p:cNvPr id="24661" name="Freeform 23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2" name="Rectangle 23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63" name="Freeform 23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Freeform 23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5" name="Rectangle 235"/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66" name="Group 23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4691" name="AutoShape 23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92" name="AutoShape 23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67" name="Rectangle 239"/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68" name="Group 24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689" name="AutoShape 241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90" name="AutoShape 2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69" name="Rectangle 243"/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70" name="Rectangle 244"/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71" name="Group 24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687" name="AutoShape 246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" name="AutoShape 247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72" name="Freeform 24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673" name="Group 24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685" name="AutoShape 25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6" name="AutoShape 251"/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74" name="Rectangle 252"/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75" name="Freeform 25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6" name="Freeform 25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7" name="Oval 255"/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78" name="Freeform 25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9" name="AutoShape 25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0" name="AutoShape 258"/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1" name="Oval 259"/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2" name="Oval 260"/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24683" name="Oval 261"/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4" name="Rectangle 262"/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596" name="Line 342"/>
          <p:cNvSpPr>
            <a:spLocks noChangeShapeType="1"/>
          </p:cNvSpPr>
          <p:nvPr/>
        </p:nvSpPr>
        <p:spPr bwMode="auto">
          <a:xfrm>
            <a:off x="3017838" y="3208338"/>
            <a:ext cx="503237" cy="331787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Text Box 343"/>
          <p:cNvSpPr txBox="1">
            <a:spLocks noChangeArrowheads="1"/>
          </p:cNvSpPr>
          <p:nvPr/>
        </p:nvSpPr>
        <p:spPr bwMode="auto">
          <a:xfrm>
            <a:off x="3051175" y="3538538"/>
            <a:ext cx="12128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Ethernet </a:t>
            </a:r>
          </a:p>
          <a:p>
            <a:pPr algn="ctr">
              <a:lnSpc>
                <a:spcPct val="85000"/>
              </a:lnSpc>
            </a:pPr>
            <a:r>
              <a:rPr lang="en-US" sz="2000"/>
              <a:t>switch</a:t>
            </a:r>
          </a:p>
        </p:txBody>
      </p:sp>
      <p:sp>
        <p:nvSpPr>
          <p:cNvPr id="24598" name="Line 344"/>
          <p:cNvSpPr>
            <a:spLocks noChangeShapeType="1"/>
          </p:cNvSpPr>
          <p:nvPr/>
        </p:nvSpPr>
        <p:spPr bwMode="auto">
          <a:xfrm>
            <a:off x="5307013" y="3954463"/>
            <a:ext cx="525462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9" name="Text Box 345"/>
          <p:cNvSpPr txBox="1">
            <a:spLocks noChangeArrowheads="1"/>
          </p:cNvSpPr>
          <p:nvPr/>
        </p:nvSpPr>
        <p:spPr bwMode="auto">
          <a:xfrm>
            <a:off x="5667375" y="3552825"/>
            <a:ext cx="20621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institutional mail,</a:t>
            </a:r>
          </a:p>
          <a:p>
            <a:pPr algn="ctr">
              <a:lnSpc>
                <a:spcPct val="85000"/>
              </a:lnSpc>
            </a:pPr>
            <a:r>
              <a:rPr lang="en-US" sz="2000"/>
              <a:t>web servers</a:t>
            </a:r>
          </a:p>
        </p:txBody>
      </p:sp>
      <p:sp>
        <p:nvSpPr>
          <p:cNvPr id="24600" name="Text Box 346"/>
          <p:cNvSpPr txBox="1">
            <a:spLocks noChangeArrowheads="1"/>
          </p:cNvSpPr>
          <p:nvPr/>
        </p:nvSpPr>
        <p:spPr bwMode="auto">
          <a:xfrm>
            <a:off x="6332538" y="2986088"/>
            <a:ext cx="21875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institutional router</a:t>
            </a:r>
          </a:p>
        </p:txBody>
      </p:sp>
      <p:sp>
        <p:nvSpPr>
          <p:cNvPr id="24601" name="Line 347"/>
          <p:cNvSpPr>
            <a:spLocks noChangeShapeType="1"/>
          </p:cNvSpPr>
          <p:nvPr/>
        </p:nvSpPr>
        <p:spPr bwMode="auto">
          <a:xfrm>
            <a:off x="5505450" y="2368550"/>
            <a:ext cx="1006475" cy="6635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2" name="Line 348"/>
          <p:cNvSpPr>
            <a:spLocks noChangeShapeType="1"/>
          </p:cNvSpPr>
          <p:nvPr/>
        </p:nvSpPr>
        <p:spPr bwMode="auto">
          <a:xfrm>
            <a:off x="5578475" y="2032000"/>
            <a:ext cx="971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3" name="Line 349"/>
          <p:cNvSpPr>
            <a:spLocks noChangeShapeType="1"/>
          </p:cNvSpPr>
          <p:nvPr/>
        </p:nvSpPr>
        <p:spPr bwMode="auto">
          <a:xfrm>
            <a:off x="6608763" y="2028825"/>
            <a:ext cx="97155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4" name="Line 350"/>
          <p:cNvSpPr>
            <a:spLocks noChangeShapeType="1"/>
          </p:cNvSpPr>
          <p:nvPr/>
        </p:nvSpPr>
        <p:spPr bwMode="auto">
          <a:xfrm>
            <a:off x="5999163" y="2117725"/>
            <a:ext cx="503237" cy="33178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5" name="Text Box 351"/>
          <p:cNvSpPr txBox="1">
            <a:spLocks noChangeArrowheads="1"/>
          </p:cNvSpPr>
          <p:nvPr/>
        </p:nvSpPr>
        <p:spPr bwMode="auto">
          <a:xfrm>
            <a:off x="6475413" y="2320925"/>
            <a:ext cx="2259012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institutional link to </a:t>
            </a:r>
          </a:p>
          <a:p>
            <a:pPr algn="ctr">
              <a:lnSpc>
                <a:spcPct val="85000"/>
              </a:lnSpc>
            </a:pPr>
            <a:r>
              <a:rPr lang="en-US" sz="2000"/>
              <a:t>ISP (Internet)</a:t>
            </a:r>
          </a:p>
          <a:p>
            <a:pPr algn="ctr">
              <a:lnSpc>
                <a:spcPct val="85000"/>
              </a:lnSpc>
            </a:pPr>
            <a:endParaRPr lang="en-US" sz="2000"/>
          </a:p>
        </p:txBody>
      </p:sp>
      <p:grpSp>
        <p:nvGrpSpPr>
          <p:cNvPr id="24606" name="Group 353"/>
          <p:cNvGrpSpPr>
            <a:grpSpLocks/>
          </p:cNvGrpSpPr>
          <p:nvPr/>
        </p:nvGrpSpPr>
        <p:grpSpPr bwMode="auto">
          <a:xfrm>
            <a:off x="4397375" y="2636838"/>
            <a:ext cx="1052513" cy="355600"/>
            <a:chOff x="4410" y="1365"/>
            <a:chExt cx="663" cy="224"/>
          </a:xfrm>
        </p:grpSpPr>
        <p:sp>
          <p:nvSpPr>
            <p:cNvPr id="24656" name="Rectangle 354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7" name="AutoShape 355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8" name="Freeform 356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59" name="Freeform 357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117 h 63"/>
                <a:gd name="T2" fmla="*/ 45061 w 280"/>
                <a:gd name="T3" fmla="*/ 1087 h 63"/>
                <a:gd name="T4" fmla="*/ 265937 w 280"/>
                <a:gd name="T5" fmla="*/ 0 h 63"/>
                <a:gd name="T6" fmla="*/ 33952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60" name="Freeform 358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607" name="Line 359"/>
          <p:cNvSpPr>
            <a:spLocks noChangeShapeType="1"/>
          </p:cNvSpPr>
          <p:nvPr/>
        </p:nvSpPr>
        <p:spPr bwMode="auto">
          <a:xfrm>
            <a:off x="4983163" y="2332038"/>
            <a:ext cx="0" cy="296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608" name="Group 360"/>
          <p:cNvGrpSpPr>
            <a:grpSpLocks/>
          </p:cNvGrpSpPr>
          <p:nvPr/>
        </p:nvGrpSpPr>
        <p:grpSpPr bwMode="auto">
          <a:xfrm>
            <a:off x="4872038" y="3609975"/>
            <a:ext cx="365125" cy="766763"/>
            <a:chOff x="4140" y="429"/>
            <a:chExt cx="1425" cy="2396"/>
          </a:xfrm>
        </p:grpSpPr>
        <p:sp>
          <p:nvSpPr>
            <p:cNvPr id="24624" name="Freeform 36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Rectangle 36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6" name="Freeform 36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Freeform 36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Rectangle 365"/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29" name="Group 36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4654" name="AutoShape 3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5" name="AutoShape 36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30" name="Rectangle 369"/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31" name="Group 37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652" name="AutoShape 371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3" name="AutoShape 37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32" name="Rectangle 373"/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3" name="Rectangle 374"/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34" name="Group 37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650" name="AutoShape 376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1" name="AutoShape 377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35" name="Freeform 37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636" name="Group 37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648" name="AutoShape 38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9" name="AutoShape 381"/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37" name="Rectangle 382"/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8" name="Freeform 38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9" name="Freeform 38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0" name="Oval 385"/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1" name="Freeform 38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2" name="AutoShape 38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3" name="AutoShape 388"/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4" name="Oval 389"/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5" name="Oval 390"/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24646" name="Oval 391"/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7" name="Rectangle 392"/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09" name="Line 393"/>
          <p:cNvSpPr>
            <a:spLocks noChangeShapeType="1"/>
          </p:cNvSpPr>
          <p:nvPr/>
        </p:nvSpPr>
        <p:spPr bwMode="auto">
          <a:xfrm flipH="1">
            <a:off x="3638550" y="3051175"/>
            <a:ext cx="788988" cy="50323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4610" name="Picture 394" descr="underline_base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8223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611" name="Group 395"/>
          <p:cNvGrpSpPr>
            <a:grpSpLocks/>
          </p:cNvGrpSpPr>
          <p:nvPr/>
        </p:nvGrpSpPr>
        <p:grpSpPr bwMode="auto">
          <a:xfrm>
            <a:off x="606425" y="2566988"/>
            <a:ext cx="723900" cy="665162"/>
            <a:chOff x="-44" y="1473"/>
            <a:chExt cx="981" cy="1105"/>
          </a:xfrm>
        </p:grpSpPr>
        <p:pic>
          <p:nvPicPr>
            <p:cNvPr id="24622" name="Picture 396" descr="desktop_computer_stylized_medium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23" name="Freeform 39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4612" name="Group 398"/>
          <p:cNvGrpSpPr>
            <a:grpSpLocks/>
          </p:cNvGrpSpPr>
          <p:nvPr/>
        </p:nvGrpSpPr>
        <p:grpSpPr bwMode="auto">
          <a:xfrm>
            <a:off x="1000125" y="3016250"/>
            <a:ext cx="723900" cy="665163"/>
            <a:chOff x="-44" y="1473"/>
            <a:chExt cx="981" cy="1105"/>
          </a:xfrm>
        </p:grpSpPr>
        <p:pic>
          <p:nvPicPr>
            <p:cNvPr id="24620" name="Picture 399" descr="desktop_computer_stylized_medium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21" name="Freeform 40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4613" name="Group 401"/>
          <p:cNvGrpSpPr>
            <a:grpSpLocks/>
          </p:cNvGrpSpPr>
          <p:nvPr/>
        </p:nvGrpSpPr>
        <p:grpSpPr bwMode="auto">
          <a:xfrm>
            <a:off x="1611313" y="3592513"/>
            <a:ext cx="723900" cy="665162"/>
            <a:chOff x="-44" y="1473"/>
            <a:chExt cx="981" cy="1105"/>
          </a:xfrm>
        </p:grpSpPr>
        <p:pic>
          <p:nvPicPr>
            <p:cNvPr id="24618" name="Picture 402" descr="desktop_computer_stylized_medium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19" name="Freeform 40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4614" name="Group 404"/>
          <p:cNvGrpSpPr>
            <a:grpSpLocks/>
          </p:cNvGrpSpPr>
          <p:nvPr/>
        </p:nvGrpSpPr>
        <p:grpSpPr bwMode="auto">
          <a:xfrm>
            <a:off x="2184400" y="3606800"/>
            <a:ext cx="723900" cy="665163"/>
            <a:chOff x="-44" y="1473"/>
            <a:chExt cx="981" cy="1105"/>
          </a:xfrm>
        </p:grpSpPr>
        <p:pic>
          <p:nvPicPr>
            <p:cNvPr id="24616" name="Picture 405" descr="desktop_computer_stylized_medium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17" name="Freeform 40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61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88304E5-44E5-4759-B10B-B74630F4372F}" type="slidenum">
              <a:rPr lang="en-US" sz="1200" smtClean="0">
                <a:latin typeface="Tahoma" pitchFamily="34" charset="0"/>
              </a:rPr>
              <a:pPr/>
              <a:t>17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3688" y="169863"/>
            <a:ext cx="8382000" cy="984250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Wireless access networks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61938" y="1322388"/>
            <a:ext cx="8370887" cy="865187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shared </a:t>
            </a:r>
            <a:r>
              <a:rPr lang="en-US" sz="2400" i="1" smtClean="0">
                <a:ea typeface="ＭＳ Ｐゴシック" pitchFamily="34" charset="-128"/>
              </a:rPr>
              <a:t>wireless</a:t>
            </a:r>
            <a:r>
              <a:rPr lang="en-US" sz="2400" smtClean="0">
                <a:ea typeface="ＭＳ Ｐゴシック" pitchFamily="34" charset="-128"/>
              </a:rPr>
              <a:t> access network connects end system to router</a:t>
            </a:r>
          </a:p>
          <a:p>
            <a:pPr lvl="1" eaLnBrk="1" hangingPunct="1"/>
            <a:r>
              <a:rPr lang="en-US" sz="2000" smtClean="0"/>
              <a:t>via base station aka </a:t>
            </a:r>
            <a:r>
              <a:rPr lang="ja-JP" altLang="en-US" sz="2000" smtClean="0">
                <a:ea typeface="ＭＳ Ｐゴシック" pitchFamily="34" charset="-128"/>
              </a:rPr>
              <a:t>“</a:t>
            </a:r>
            <a:r>
              <a:rPr lang="en-US" altLang="ja-JP" sz="2000" smtClean="0">
                <a:ea typeface="ＭＳ Ｐゴシック" pitchFamily="34" charset="-128"/>
              </a:rPr>
              <a:t>access point</a:t>
            </a:r>
            <a:r>
              <a:rPr lang="ja-JP" altLang="en-US" sz="2000" smtClean="0">
                <a:ea typeface="ＭＳ Ｐゴシック" pitchFamily="34" charset="-128"/>
              </a:rPr>
              <a:t>”</a:t>
            </a:r>
            <a:endParaRPr lang="en-US" sz="2000" smtClean="0"/>
          </a:p>
        </p:txBody>
      </p:sp>
      <p:pic>
        <p:nvPicPr>
          <p:cNvPr id="25605" name="Picture 7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90588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Rectangle 3"/>
          <p:cNvSpPr>
            <a:spLocks noChangeArrowheads="1"/>
          </p:cNvSpPr>
          <p:nvPr/>
        </p:nvSpPr>
        <p:spPr bwMode="auto">
          <a:xfrm>
            <a:off x="341313" y="2214563"/>
            <a:ext cx="407987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wireless LANs: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within building (100 ft)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802.11b/g (WiFi): 11, 54 Mbps transmission rate</a:t>
            </a:r>
          </a:p>
        </p:txBody>
      </p:sp>
      <p:sp>
        <p:nvSpPr>
          <p:cNvPr id="25607" name="Rectangle 3"/>
          <p:cNvSpPr>
            <a:spLocks noChangeArrowheads="1"/>
          </p:cNvSpPr>
          <p:nvPr/>
        </p:nvSpPr>
        <p:spPr bwMode="auto">
          <a:xfrm>
            <a:off x="4640263" y="1819275"/>
            <a:ext cx="4619625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endParaRPr lang="en-US">
              <a:latin typeface="Gill Sans MT" pitchFamily="34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>
                <a:solidFill>
                  <a:srgbClr val="CC0000"/>
                </a:solidFill>
                <a:latin typeface="Gill Sans MT" pitchFamily="34" charset="0"/>
              </a:rPr>
              <a:t>wide-area wireless access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provided by telco (cellular) operator, 10</a:t>
            </a:r>
            <a:r>
              <a:rPr lang="ja-JP" altLang="en-US" sz="2000">
                <a:latin typeface="Gill Sans MT" pitchFamily="34" charset="0"/>
              </a:rPr>
              <a:t>’</a:t>
            </a:r>
            <a:r>
              <a:rPr lang="en-US" altLang="ja-JP" sz="2000">
                <a:latin typeface="Gill Sans MT" pitchFamily="34" charset="0"/>
              </a:rPr>
              <a:t>s km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between 1 and 10 Mbps 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3G, 4G:  LTE</a:t>
            </a:r>
          </a:p>
        </p:txBody>
      </p:sp>
      <p:grpSp>
        <p:nvGrpSpPr>
          <p:cNvPr id="25608" name="Group 85"/>
          <p:cNvGrpSpPr>
            <a:grpSpLocks/>
          </p:cNvGrpSpPr>
          <p:nvPr/>
        </p:nvGrpSpPr>
        <p:grpSpPr bwMode="auto">
          <a:xfrm>
            <a:off x="958850" y="3536950"/>
            <a:ext cx="2487613" cy="1562100"/>
            <a:chOff x="2889" y="1631"/>
            <a:chExt cx="980" cy="743"/>
          </a:xfrm>
        </p:grpSpPr>
        <p:sp>
          <p:nvSpPr>
            <p:cNvPr id="25710" name="Rectangle 86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11" name="AutoShape 87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CCFF"/>
                </a:solidFill>
              </a:endParaRPr>
            </a:p>
          </p:txBody>
        </p:sp>
      </p:grpSp>
      <p:sp>
        <p:nvSpPr>
          <p:cNvPr id="25609" name="Line 110"/>
          <p:cNvSpPr>
            <a:spLocks noChangeShapeType="1"/>
          </p:cNvSpPr>
          <p:nvPr/>
        </p:nvSpPr>
        <p:spPr bwMode="auto">
          <a:xfrm>
            <a:off x="2603500" y="4941888"/>
            <a:ext cx="0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116"/>
          <p:cNvSpPr>
            <a:spLocks noChangeShapeType="1"/>
          </p:cNvSpPr>
          <p:nvPr/>
        </p:nvSpPr>
        <p:spPr bwMode="auto">
          <a:xfrm flipV="1">
            <a:off x="2003425" y="4806950"/>
            <a:ext cx="28733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611" name="Group 228"/>
          <p:cNvGrpSpPr>
            <a:grpSpLocks/>
          </p:cNvGrpSpPr>
          <p:nvPr/>
        </p:nvGrpSpPr>
        <p:grpSpPr bwMode="auto">
          <a:xfrm>
            <a:off x="2279650" y="4649788"/>
            <a:ext cx="666750" cy="284162"/>
            <a:chOff x="4650" y="1129"/>
            <a:chExt cx="246" cy="95"/>
          </a:xfrm>
        </p:grpSpPr>
        <p:sp>
          <p:nvSpPr>
            <p:cNvPr id="2570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570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2570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25705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5708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9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706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2" name="Group 246"/>
          <p:cNvGrpSpPr>
            <a:grpSpLocks/>
          </p:cNvGrpSpPr>
          <p:nvPr/>
        </p:nvGrpSpPr>
        <p:grpSpPr bwMode="auto">
          <a:xfrm>
            <a:off x="1527175" y="4416425"/>
            <a:ext cx="863600" cy="588963"/>
            <a:chOff x="2967" y="478"/>
            <a:chExt cx="788" cy="625"/>
          </a:xfrm>
        </p:grpSpPr>
        <p:pic>
          <p:nvPicPr>
            <p:cNvPr id="25700" name="Picture 247" descr="access_point_stylized_smal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01" name="Picture 248" descr="antenna_radiation_stylize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13" name="Group 390"/>
          <p:cNvGrpSpPr>
            <a:grpSpLocks/>
          </p:cNvGrpSpPr>
          <p:nvPr/>
        </p:nvGrpSpPr>
        <p:grpSpPr bwMode="auto">
          <a:xfrm>
            <a:off x="1441450" y="3648075"/>
            <a:ext cx="757238" cy="682625"/>
            <a:chOff x="877" y="1008"/>
            <a:chExt cx="2747" cy="2591"/>
          </a:xfrm>
        </p:grpSpPr>
        <p:pic>
          <p:nvPicPr>
            <p:cNvPr id="25677" name="Picture 391" descr="antenna_styliz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8" name="Picture 392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79" name="Freeform 393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680" name="Picture 394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81" name="Freeform 395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2" name="Freeform 396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3" name="Freeform 397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4" name="Freeform 398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5" name="Freeform 399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6" name="Freeform 400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687" name="Group 401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5694" name="Freeform 402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5" name="Freeform 403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6" name="Freeform 404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7" name="Freeform 405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8" name="Freeform 406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9" name="Freeform 407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88" name="Freeform 408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9" name="Freeform 409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0" name="Freeform 410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1" name="Freeform 411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2" name="Freeform 412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3" name="Freeform 413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4" name="Group 445"/>
          <p:cNvGrpSpPr>
            <a:grpSpLocks/>
          </p:cNvGrpSpPr>
          <p:nvPr/>
        </p:nvGrpSpPr>
        <p:grpSpPr bwMode="auto">
          <a:xfrm>
            <a:off x="5146675" y="4071938"/>
            <a:ext cx="2709863" cy="1951037"/>
            <a:chOff x="3652" y="2846"/>
            <a:chExt cx="1253" cy="934"/>
          </a:xfrm>
        </p:grpSpPr>
        <p:sp>
          <p:nvSpPr>
            <p:cNvPr id="25618" name="Freeform 84"/>
            <p:cNvSpPr>
              <a:spLocks/>
            </p:cNvSpPr>
            <p:nvPr/>
          </p:nvSpPr>
          <p:spPr bwMode="auto">
            <a:xfrm>
              <a:off x="3652" y="2949"/>
              <a:ext cx="1094" cy="675"/>
            </a:xfrm>
            <a:custGeom>
              <a:avLst/>
              <a:gdLst>
                <a:gd name="T0" fmla="*/ 1244 w 1036"/>
                <a:gd name="T1" fmla="*/ 11 h 675"/>
                <a:gd name="T2" fmla="*/ 751 w 1036"/>
                <a:gd name="T3" fmla="*/ 53 h 675"/>
                <a:gd name="T4" fmla="*/ 397 w 1036"/>
                <a:gd name="T5" fmla="*/ 129 h 675"/>
                <a:gd name="T6" fmla="*/ 295 w 1036"/>
                <a:gd name="T7" fmla="*/ 229 h 675"/>
                <a:gd name="T8" fmla="*/ 41 w 1036"/>
                <a:gd name="T9" fmla="*/ 297 h 675"/>
                <a:gd name="T10" fmla="*/ 33 w 1036"/>
                <a:gd name="T11" fmla="*/ 459 h 675"/>
                <a:gd name="T12" fmla="*/ 253 w 1036"/>
                <a:gd name="T13" fmla="*/ 489 h 675"/>
                <a:gd name="T14" fmla="*/ 883 w 1036"/>
                <a:gd name="T15" fmla="*/ 489 h 675"/>
                <a:gd name="T16" fmla="*/ 1149 w 1036"/>
                <a:gd name="T17" fmla="*/ 555 h 675"/>
                <a:gd name="T18" fmla="*/ 1446 w 1036"/>
                <a:gd name="T19" fmla="*/ 657 h 675"/>
                <a:gd name="T20" fmla="*/ 1672 w 1036"/>
                <a:gd name="T21" fmla="*/ 661 h 675"/>
                <a:gd name="T22" fmla="*/ 1829 w 1036"/>
                <a:gd name="T23" fmla="*/ 603 h 675"/>
                <a:gd name="T24" fmla="*/ 1908 w 1036"/>
                <a:gd name="T25" fmla="*/ 445 h 675"/>
                <a:gd name="T26" fmla="*/ 1957 w 1036"/>
                <a:gd name="T27" fmla="*/ 291 h 675"/>
                <a:gd name="T28" fmla="*/ 1963 w 1036"/>
                <a:gd name="T29" fmla="*/ 107 h 675"/>
                <a:gd name="T30" fmla="*/ 1795 w 1036"/>
                <a:gd name="T31" fmla="*/ 17 h 675"/>
                <a:gd name="T32" fmla="*/ 1491 w 1036"/>
                <a:gd name="T33" fmla="*/ 3 h 675"/>
                <a:gd name="T34" fmla="*/ 1244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Line 93"/>
            <p:cNvSpPr>
              <a:spLocks noChangeShapeType="1"/>
            </p:cNvSpPr>
            <p:nvPr/>
          </p:nvSpPr>
          <p:spPr bwMode="auto">
            <a:xfrm>
              <a:off x="4337" y="3386"/>
              <a:ext cx="96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25620" name="Picture 133" descr="car_icon_small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0" y="2956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21" name="Group 134"/>
            <p:cNvGrpSpPr>
              <a:grpSpLocks/>
            </p:cNvGrpSpPr>
            <p:nvPr/>
          </p:nvGrpSpPr>
          <p:grpSpPr bwMode="auto">
            <a:xfrm>
              <a:off x="3911" y="2846"/>
              <a:ext cx="262" cy="243"/>
              <a:chOff x="2751" y="1851"/>
              <a:chExt cx="462" cy="478"/>
            </a:xfrm>
          </p:grpSpPr>
          <p:pic>
            <p:nvPicPr>
              <p:cNvPr id="25675" name="Picture 135" descr="iphone_stylized_small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76" name="Picture 136" descr="antenna_radiation_stylize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5622" name="Group 252"/>
            <p:cNvGrpSpPr>
              <a:grpSpLocks/>
            </p:cNvGrpSpPr>
            <p:nvPr/>
          </p:nvGrpSpPr>
          <p:grpSpPr bwMode="auto">
            <a:xfrm>
              <a:off x="4193" y="3034"/>
              <a:ext cx="288" cy="398"/>
              <a:chOff x="742" y="2409"/>
              <a:chExt cx="576" cy="881"/>
            </a:xfrm>
          </p:grpSpPr>
          <p:grpSp>
            <p:nvGrpSpPr>
              <p:cNvPr id="25657" name="Group 25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566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1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2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4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5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6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7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8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9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0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1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2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3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4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25658" name="Picture 269" descr="cell_tower_radiation copy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59" name="Oval 27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5623" name="Group 342"/>
            <p:cNvGrpSpPr>
              <a:grpSpLocks/>
            </p:cNvGrpSpPr>
            <p:nvPr/>
          </p:nvGrpSpPr>
          <p:grpSpPr bwMode="auto">
            <a:xfrm>
              <a:off x="3715" y="3159"/>
              <a:ext cx="337" cy="257"/>
              <a:chOff x="877" y="1008"/>
              <a:chExt cx="2747" cy="2591"/>
            </a:xfrm>
          </p:grpSpPr>
          <p:pic>
            <p:nvPicPr>
              <p:cNvPr id="25634" name="Picture 343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35" name="Picture 344" descr="laptop_keyboard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6" name="Freeform 3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637" name="Picture 346" descr="screen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8" name="Freeform 3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9" name="Freeform 3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0" name="Freeform 3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1" name="Freeform 3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2" name="Freeform 3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3" name="Freeform 3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644" name="Group 3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5651" name="Freeform 3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2" name="Freeform 3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3" name="Freeform 3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4" name="Freeform 3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5" name="Freeform 3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6" name="Freeform 3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645" name="Freeform 3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6" name="Freeform 3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7" name="Freeform 3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8" name="Freeform 3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9" name="Freeform 3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0" name="Freeform 3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24" name="Group 237"/>
            <p:cNvGrpSpPr>
              <a:grpSpLocks/>
            </p:cNvGrpSpPr>
            <p:nvPr/>
          </p:nvGrpSpPr>
          <p:grpSpPr bwMode="auto">
            <a:xfrm>
              <a:off x="4377" y="3439"/>
              <a:ext cx="246" cy="107"/>
              <a:chOff x="4650" y="1129"/>
              <a:chExt cx="246" cy="95"/>
            </a:xfrm>
          </p:grpSpPr>
          <p:sp>
            <p:nvSpPr>
              <p:cNvPr id="2562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562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562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5629" name="Group 24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5632" name="Freeform 2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33" name="Freeform 2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630" name="Line 24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1" name="Line 24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25" name="Line 444"/>
            <p:cNvSpPr>
              <a:spLocks noChangeShapeType="1"/>
            </p:cNvSpPr>
            <p:nvPr/>
          </p:nvSpPr>
          <p:spPr bwMode="auto">
            <a:xfrm>
              <a:off x="4514" y="3542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15" name="Text Box 446"/>
          <p:cNvSpPr txBox="1">
            <a:spLocks noChangeArrowheads="1"/>
          </p:cNvSpPr>
          <p:nvPr/>
        </p:nvSpPr>
        <p:spPr bwMode="auto">
          <a:xfrm>
            <a:off x="2044700" y="518636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 i="1"/>
              <a:t>to Internet</a:t>
            </a:r>
          </a:p>
        </p:txBody>
      </p:sp>
      <p:sp>
        <p:nvSpPr>
          <p:cNvPr id="25616" name="Text Box 447"/>
          <p:cNvSpPr txBox="1">
            <a:spLocks noChangeArrowheads="1"/>
          </p:cNvSpPr>
          <p:nvPr/>
        </p:nvSpPr>
        <p:spPr bwMode="auto">
          <a:xfrm>
            <a:off x="6711950" y="588486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 i="1"/>
              <a:t>to Internet</a:t>
            </a:r>
          </a:p>
        </p:txBody>
      </p:sp>
      <p:sp>
        <p:nvSpPr>
          <p:cNvPr id="2561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37FDC75E-2D3A-4DDF-9A59-F74A72869E8E}" type="slidenum">
              <a:rPr lang="en-US" sz="1200" smtClean="0">
                <a:latin typeface="Tahoma" pitchFamily="34" charset="0"/>
              </a:rPr>
              <a:pPr/>
              <a:t>18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19"/>
          <p:cNvGrpSpPr>
            <a:grpSpLocks/>
          </p:cNvGrpSpPr>
          <p:nvPr/>
        </p:nvGrpSpPr>
        <p:grpSpPr bwMode="auto">
          <a:xfrm>
            <a:off x="5281613" y="2803525"/>
            <a:ext cx="409575" cy="565150"/>
            <a:chOff x="375561" y="297711"/>
            <a:chExt cx="1252683" cy="2142487"/>
          </a:xfrm>
        </p:grpSpPr>
        <p:sp>
          <p:nvSpPr>
            <p:cNvPr id="221" name="Freeform 220"/>
            <p:cNvSpPr/>
            <p:nvPr/>
          </p:nvSpPr>
          <p:spPr>
            <a:xfrm>
              <a:off x="375561" y="297711"/>
              <a:ext cx="971072" cy="2136471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2" name="Freeform 221"/>
            <p:cNvSpPr/>
            <p:nvPr/>
          </p:nvSpPr>
          <p:spPr>
            <a:xfrm>
              <a:off x="375561" y="309747"/>
              <a:ext cx="1247826" cy="77033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6627" name="Title 50"/>
          <p:cNvSpPr>
            <a:spLocks noGrp="1"/>
          </p:cNvSpPr>
          <p:nvPr>
            <p:ph type="title" idx="4294967295"/>
          </p:nvPr>
        </p:nvSpPr>
        <p:spPr>
          <a:xfrm>
            <a:off x="290513" y="198438"/>
            <a:ext cx="8321675" cy="765175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Host: sends </a:t>
            </a:r>
            <a:r>
              <a:rPr lang="en-US" sz="4000" i="1" smtClean="0">
                <a:ea typeface="ＭＳ Ｐゴシック" pitchFamily="34" charset="-128"/>
              </a:rPr>
              <a:t>packets</a:t>
            </a:r>
            <a:r>
              <a:rPr lang="en-US" sz="4000" smtClean="0">
                <a:ea typeface="ＭＳ Ｐゴシック" pitchFamily="34" charset="-128"/>
              </a:rPr>
              <a:t> of data</a:t>
            </a:r>
          </a:p>
        </p:txBody>
      </p:sp>
      <p:sp>
        <p:nvSpPr>
          <p:cNvPr id="243750" name="Content Placeholder 52"/>
          <p:cNvSpPr>
            <a:spLocks noGrp="1"/>
          </p:cNvSpPr>
          <p:nvPr>
            <p:ph idx="4294967295"/>
          </p:nvPr>
        </p:nvSpPr>
        <p:spPr>
          <a:xfrm>
            <a:off x="428625" y="1296988"/>
            <a:ext cx="3775075" cy="3425825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ea typeface="+mn-ea"/>
              </a:rPr>
              <a:t>host sending function:</a:t>
            </a:r>
          </a:p>
          <a:p>
            <a:pPr eaLnBrk="1" hangingPunct="1">
              <a:defRPr/>
            </a:pPr>
            <a:r>
              <a:rPr lang="en-US" sz="2400" dirty="0" smtClean="0">
                <a:ea typeface="+mn-ea"/>
              </a:rPr>
              <a:t>takes application message</a:t>
            </a:r>
          </a:p>
          <a:p>
            <a:pPr eaLnBrk="1" hangingPunct="1">
              <a:defRPr/>
            </a:pPr>
            <a:r>
              <a:rPr lang="en-US" sz="2400" dirty="0" smtClean="0">
                <a:ea typeface="+mn-ea"/>
              </a:rPr>
              <a:t>breaks into smaller chunks, known as </a:t>
            </a:r>
            <a:r>
              <a:rPr lang="en-US" sz="2400" i="1" dirty="0" smtClean="0">
                <a:solidFill>
                  <a:srgbClr val="C00000"/>
                </a:solidFill>
                <a:ea typeface="+mn-ea"/>
              </a:rPr>
              <a:t>packets</a:t>
            </a:r>
            <a:r>
              <a:rPr lang="en-US" sz="2400" dirty="0" smtClean="0">
                <a:ea typeface="+mn-ea"/>
              </a:rPr>
              <a:t>, of length </a:t>
            </a:r>
            <a:r>
              <a:rPr lang="en-US" sz="2400" i="1" dirty="0" smtClean="0">
                <a:solidFill>
                  <a:srgbClr val="C00000"/>
                </a:solidFill>
                <a:ea typeface="+mn-ea"/>
              </a:rPr>
              <a:t>L</a:t>
            </a:r>
            <a:r>
              <a:rPr lang="en-US" sz="2400" dirty="0" smtClean="0">
                <a:ea typeface="+mn-ea"/>
              </a:rPr>
              <a:t> bits</a:t>
            </a:r>
          </a:p>
          <a:p>
            <a:pPr eaLnBrk="1" hangingPunct="1">
              <a:defRPr/>
            </a:pPr>
            <a:r>
              <a:rPr lang="en-US" sz="2400" dirty="0" smtClean="0">
                <a:ea typeface="+mn-ea"/>
              </a:rPr>
              <a:t>transmits packet into access network at </a:t>
            </a:r>
            <a:r>
              <a:rPr lang="en-US" sz="2400" i="1" dirty="0" smtClean="0">
                <a:solidFill>
                  <a:srgbClr val="C00000"/>
                </a:solidFill>
                <a:ea typeface="+mn-ea"/>
              </a:rPr>
              <a:t>transmission rate R</a:t>
            </a:r>
          </a:p>
          <a:p>
            <a:pPr lvl="1" eaLnBrk="1" hangingPunct="1">
              <a:defRPr/>
            </a:pPr>
            <a:r>
              <a:rPr lang="en-US" dirty="0" smtClean="0"/>
              <a:t>link transmission rate, aka link </a:t>
            </a:r>
            <a:r>
              <a:rPr lang="en-US" i="1" dirty="0" smtClean="0">
                <a:solidFill>
                  <a:srgbClr val="C00000"/>
                </a:solidFill>
              </a:rPr>
              <a:t>capacity, aka link bandwidth</a:t>
            </a:r>
          </a:p>
        </p:txBody>
      </p:sp>
      <p:sp>
        <p:nvSpPr>
          <p:cNvPr id="26629" name="Line 305"/>
          <p:cNvSpPr>
            <a:spLocks noChangeShapeType="1"/>
          </p:cNvSpPr>
          <p:nvPr/>
        </p:nvSpPr>
        <p:spPr bwMode="auto">
          <a:xfrm>
            <a:off x="5705475" y="3727450"/>
            <a:ext cx="2454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6630" name="Picture 39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8223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631" name="Group 51"/>
          <p:cNvGrpSpPr>
            <a:grpSpLocks/>
          </p:cNvGrpSpPr>
          <p:nvPr/>
        </p:nvGrpSpPr>
        <p:grpSpPr bwMode="auto">
          <a:xfrm>
            <a:off x="7883525" y="3427413"/>
            <a:ext cx="1052513" cy="355600"/>
            <a:chOff x="4410" y="1365"/>
            <a:chExt cx="663" cy="224"/>
          </a:xfrm>
        </p:grpSpPr>
        <p:sp>
          <p:nvSpPr>
            <p:cNvPr id="26656" name="Rectangle 52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57" name="AutoShape 53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58" name="Freeform 54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Freeform 55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117 h 63"/>
                <a:gd name="T2" fmla="*/ 45061 w 280"/>
                <a:gd name="T3" fmla="*/ 1087 h 63"/>
                <a:gd name="T4" fmla="*/ 265937 w 280"/>
                <a:gd name="T5" fmla="*/ 0 h 63"/>
                <a:gd name="T6" fmla="*/ 33952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660" name="Freeform 56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6632" name="TextBox 1"/>
          <p:cNvSpPr txBox="1">
            <a:spLocks noChangeArrowheads="1"/>
          </p:cNvSpPr>
          <p:nvPr/>
        </p:nvSpPr>
        <p:spPr bwMode="auto">
          <a:xfrm>
            <a:off x="5756275" y="3759200"/>
            <a:ext cx="2646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 i="1"/>
              <a:t>R: </a:t>
            </a:r>
            <a:r>
              <a:rPr lang="en-US" sz="1800"/>
              <a:t>link transmission rate</a:t>
            </a:r>
          </a:p>
        </p:txBody>
      </p:sp>
      <p:grpSp>
        <p:nvGrpSpPr>
          <p:cNvPr id="26633" name="Group 201"/>
          <p:cNvGrpSpPr>
            <a:grpSpLocks/>
          </p:cNvGrpSpPr>
          <p:nvPr/>
        </p:nvGrpSpPr>
        <p:grpSpPr bwMode="auto">
          <a:xfrm>
            <a:off x="5033963" y="2809875"/>
            <a:ext cx="409575" cy="565150"/>
            <a:chOff x="375561" y="297711"/>
            <a:chExt cx="1252683" cy="2138362"/>
          </a:xfrm>
        </p:grpSpPr>
        <p:sp>
          <p:nvSpPr>
            <p:cNvPr id="203" name="Freeform 202"/>
            <p:cNvSpPr/>
            <p:nvPr/>
          </p:nvSpPr>
          <p:spPr>
            <a:xfrm>
              <a:off x="375561" y="297711"/>
              <a:ext cx="971072" cy="213836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375561" y="309724"/>
              <a:ext cx="1247826" cy="768849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6634" name="TextBox 205"/>
          <p:cNvSpPr txBox="1">
            <a:spLocks noChangeArrowheads="1"/>
          </p:cNvSpPr>
          <p:nvPr/>
        </p:nvSpPr>
        <p:spPr bwMode="auto">
          <a:xfrm>
            <a:off x="4791075" y="3986213"/>
            <a:ext cx="66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/>
              <a:t>host</a:t>
            </a:r>
          </a:p>
        </p:txBody>
      </p:sp>
      <p:grpSp>
        <p:nvGrpSpPr>
          <p:cNvPr id="26635" name="Group 206"/>
          <p:cNvGrpSpPr>
            <a:grpSpLocks/>
          </p:cNvGrpSpPr>
          <p:nvPr/>
        </p:nvGrpSpPr>
        <p:grpSpPr bwMode="auto">
          <a:xfrm>
            <a:off x="4559300" y="3535363"/>
            <a:ext cx="1295400" cy="506412"/>
            <a:chOff x="1816230" y="6118900"/>
            <a:chExt cx="1843339" cy="739100"/>
          </a:xfrm>
        </p:grpSpPr>
        <p:pic>
          <p:nvPicPr>
            <p:cNvPr id="26651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9" name="Rectangle 208"/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26636" name="Group 209"/>
          <p:cNvGrpSpPr>
            <a:grpSpLocks/>
          </p:cNvGrpSpPr>
          <p:nvPr/>
        </p:nvGrpSpPr>
        <p:grpSpPr bwMode="auto">
          <a:xfrm>
            <a:off x="4699000" y="1919288"/>
            <a:ext cx="1409700" cy="877887"/>
            <a:chOff x="2387973" y="4309243"/>
            <a:chExt cx="1771787" cy="1282262"/>
          </a:xfrm>
        </p:grpSpPr>
        <p:pic>
          <p:nvPicPr>
            <p:cNvPr id="26649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" name="Rectangle 211"/>
            <p:cNvSpPr/>
            <p:nvPr/>
          </p:nvSpPr>
          <p:spPr>
            <a:xfrm rot="11601822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6637" name="TextBox 215"/>
          <p:cNvSpPr txBox="1">
            <a:spLocks noChangeArrowheads="1"/>
          </p:cNvSpPr>
          <p:nvPr/>
        </p:nvSpPr>
        <p:spPr bwMode="auto">
          <a:xfrm>
            <a:off x="5448300" y="3341688"/>
            <a:ext cx="288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1</a:t>
            </a:r>
          </a:p>
        </p:txBody>
      </p:sp>
      <p:sp>
        <p:nvSpPr>
          <p:cNvPr id="26638" name="TextBox 216"/>
          <p:cNvSpPr txBox="1">
            <a:spLocks noChangeArrowheads="1"/>
          </p:cNvSpPr>
          <p:nvPr/>
        </p:nvSpPr>
        <p:spPr bwMode="auto">
          <a:xfrm>
            <a:off x="5207000" y="3349625"/>
            <a:ext cx="2889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2</a:t>
            </a:r>
          </a:p>
        </p:txBody>
      </p:sp>
      <p:cxnSp>
        <p:nvCxnSpPr>
          <p:cNvPr id="26639" name="Straight Connector 3"/>
          <p:cNvCxnSpPr>
            <a:cxnSpLocks noChangeShapeType="1"/>
          </p:cNvCxnSpPr>
          <p:nvPr/>
        </p:nvCxnSpPr>
        <p:spPr bwMode="auto">
          <a:xfrm flipV="1">
            <a:off x="5697538" y="2363788"/>
            <a:ext cx="1225550" cy="565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0" name="TextBox 234"/>
          <p:cNvSpPr txBox="1">
            <a:spLocks noChangeArrowheads="1"/>
          </p:cNvSpPr>
          <p:nvPr/>
        </p:nvSpPr>
        <p:spPr bwMode="auto">
          <a:xfrm>
            <a:off x="6861175" y="2014538"/>
            <a:ext cx="15319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/>
              <a:t>two packets, </a:t>
            </a:r>
          </a:p>
          <a:p>
            <a:r>
              <a:rPr lang="en-US" sz="1800" i="1"/>
              <a:t>L</a:t>
            </a:r>
            <a:r>
              <a:rPr lang="en-US" sz="1800"/>
              <a:t> bits each</a:t>
            </a:r>
          </a:p>
        </p:txBody>
      </p:sp>
      <p:sp>
        <p:nvSpPr>
          <p:cNvPr id="26641" name="TextBox 235"/>
          <p:cNvSpPr txBox="1">
            <a:spLocks noChangeArrowheads="1"/>
          </p:cNvSpPr>
          <p:nvPr/>
        </p:nvSpPr>
        <p:spPr bwMode="auto">
          <a:xfrm>
            <a:off x="1550988" y="5456238"/>
            <a:ext cx="147955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>
              <a:lnSpc>
                <a:spcPts val="1800"/>
              </a:lnSpc>
            </a:pPr>
            <a:r>
              <a:rPr lang="en-US" sz="1800"/>
              <a:t>packet</a:t>
            </a:r>
          </a:p>
          <a:p>
            <a:pPr algn="r">
              <a:lnSpc>
                <a:spcPts val="1800"/>
              </a:lnSpc>
            </a:pPr>
            <a:r>
              <a:rPr lang="en-US" sz="1800"/>
              <a:t>transmission</a:t>
            </a:r>
          </a:p>
          <a:p>
            <a:pPr algn="r">
              <a:lnSpc>
                <a:spcPts val="1800"/>
              </a:lnSpc>
            </a:pPr>
            <a:r>
              <a:rPr lang="en-US" sz="1800"/>
              <a:t>delay</a:t>
            </a:r>
          </a:p>
        </p:txBody>
      </p:sp>
      <p:sp>
        <p:nvSpPr>
          <p:cNvPr id="26642" name="TextBox 237"/>
          <p:cNvSpPr txBox="1">
            <a:spLocks noChangeArrowheads="1"/>
          </p:cNvSpPr>
          <p:nvPr/>
        </p:nvSpPr>
        <p:spPr bwMode="auto">
          <a:xfrm>
            <a:off x="3660775" y="5453063"/>
            <a:ext cx="17113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en-US" sz="1800"/>
              <a:t>time needed to</a:t>
            </a:r>
          </a:p>
          <a:p>
            <a:pPr algn="ctr">
              <a:lnSpc>
                <a:spcPts val="1800"/>
              </a:lnSpc>
            </a:pPr>
            <a:r>
              <a:rPr lang="en-US" sz="1800"/>
              <a:t>transmit </a:t>
            </a:r>
            <a:r>
              <a:rPr lang="en-US" sz="1800" i="1"/>
              <a:t>L</a:t>
            </a:r>
            <a:r>
              <a:rPr lang="en-US" sz="1800"/>
              <a:t>-bit</a:t>
            </a:r>
          </a:p>
          <a:p>
            <a:pPr algn="ctr">
              <a:lnSpc>
                <a:spcPts val="1800"/>
              </a:lnSpc>
            </a:pPr>
            <a:r>
              <a:rPr lang="en-US" sz="1800"/>
              <a:t>packet into link</a:t>
            </a:r>
          </a:p>
        </p:txBody>
      </p:sp>
      <p:sp>
        <p:nvSpPr>
          <p:cNvPr id="26643" name="TextBox 4"/>
          <p:cNvSpPr txBox="1">
            <a:spLocks noChangeArrowheads="1"/>
          </p:cNvSpPr>
          <p:nvPr/>
        </p:nvSpPr>
        <p:spPr bwMode="auto">
          <a:xfrm>
            <a:off x="6167438" y="5400675"/>
            <a:ext cx="17414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/>
              <a:t>L</a:t>
            </a:r>
            <a:r>
              <a:rPr lang="en-US"/>
              <a:t> (bits)</a:t>
            </a:r>
          </a:p>
          <a:p>
            <a:r>
              <a:rPr lang="en-US" i="1"/>
              <a:t>R</a:t>
            </a:r>
            <a:r>
              <a:rPr lang="en-US"/>
              <a:t> (bits/sec)</a:t>
            </a:r>
          </a:p>
        </p:txBody>
      </p:sp>
      <p:cxnSp>
        <p:nvCxnSpPr>
          <p:cNvPr id="26644" name="Straight Connector 9"/>
          <p:cNvCxnSpPr>
            <a:cxnSpLocks noChangeShapeType="1"/>
          </p:cNvCxnSpPr>
          <p:nvPr/>
        </p:nvCxnSpPr>
        <p:spPr bwMode="auto">
          <a:xfrm>
            <a:off x="6254750" y="5819775"/>
            <a:ext cx="1284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5" name="TextBox 10"/>
          <p:cNvSpPr txBox="1">
            <a:spLocks noChangeArrowheads="1"/>
          </p:cNvSpPr>
          <p:nvPr/>
        </p:nvSpPr>
        <p:spPr bwMode="auto">
          <a:xfrm>
            <a:off x="3228975" y="5586413"/>
            <a:ext cx="36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=</a:t>
            </a:r>
          </a:p>
        </p:txBody>
      </p:sp>
      <p:sp>
        <p:nvSpPr>
          <p:cNvPr id="26646" name="TextBox 245"/>
          <p:cNvSpPr txBox="1">
            <a:spLocks noChangeArrowheads="1"/>
          </p:cNvSpPr>
          <p:nvPr/>
        </p:nvSpPr>
        <p:spPr bwMode="auto">
          <a:xfrm>
            <a:off x="5570538" y="5602288"/>
            <a:ext cx="36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=</a:t>
            </a:r>
          </a:p>
        </p:txBody>
      </p:sp>
      <p:sp>
        <p:nvSpPr>
          <p:cNvPr id="26647" name="Rectangle 11"/>
          <p:cNvSpPr>
            <a:spLocks noChangeArrowheads="1"/>
          </p:cNvSpPr>
          <p:nvPr/>
        </p:nvSpPr>
        <p:spPr bwMode="auto">
          <a:xfrm>
            <a:off x="1109663" y="5322888"/>
            <a:ext cx="7275512" cy="1001712"/>
          </a:xfrm>
          <a:prstGeom prst="rect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C60A018-0A96-4188-AE6C-3F6D4F9C9695}" type="slidenum">
              <a:rPr lang="en-US" sz="1200" smtClean="0">
                <a:latin typeface="Tahoma" pitchFamily="34" charset="0"/>
              </a:rPr>
              <a:pPr/>
              <a:t>19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27651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920750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7363" y="296863"/>
            <a:ext cx="7772400" cy="879475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Physical media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482725"/>
            <a:ext cx="4322763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bit:</a:t>
            </a:r>
            <a:r>
              <a:rPr lang="en-US" sz="2400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z="2400" smtClean="0">
                <a:ea typeface="ＭＳ Ｐゴシック" pitchFamily="34" charset="-128"/>
              </a:rPr>
              <a:t>propagates between</a:t>
            </a:r>
            <a:br>
              <a:rPr lang="en-US" sz="2400" smtClean="0">
                <a:ea typeface="ＭＳ Ｐゴシック" pitchFamily="34" charset="-128"/>
              </a:rPr>
            </a:br>
            <a:r>
              <a:rPr lang="en-US" sz="2400" smtClean="0">
                <a:ea typeface="ＭＳ Ｐゴシック" pitchFamily="34" charset="-128"/>
              </a:rPr>
              <a:t>transmitter/receiver pairs</a:t>
            </a:r>
            <a:endParaRPr lang="en-US" sz="240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physical link:</a:t>
            </a:r>
            <a:r>
              <a:rPr lang="en-US" sz="2400" smtClean="0">
                <a:ea typeface="ＭＳ Ｐゴシック" pitchFamily="34" charset="-128"/>
              </a:rPr>
              <a:t> what lies between transmitter &amp; receiver</a:t>
            </a:r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guided media: </a:t>
            </a:r>
          </a:p>
          <a:p>
            <a:pPr lvl="1" eaLnBrk="1" hangingPunct="1"/>
            <a:r>
              <a:rPr lang="en-US" smtClean="0"/>
              <a:t>signals propagate in solid media: copper, fiber, coax</a:t>
            </a:r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unguided media:</a:t>
            </a:r>
            <a:r>
              <a:rPr lang="en-US" sz="2400" smtClean="0">
                <a:ea typeface="ＭＳ Ｐゴシック" pitchFamily="34" charset="-128"/>
              </a:rPr>
              <a:t> </a:t>
            </a:r>
          </a:p>
          <a:p>
            <a:pPr lvl="1" eaLnBrk="1" hangingPunct="1"/>
            <a:r>
              <a:rPr lang="en-US" smtClean="0"/>
              <a:t>signals propagate freely, e.g., radio</a:t>
            </a:r>
          </a:p>
        </p:txBody>
      </p:sp>
      <p:sp>
        <p:nvSpPr>
          <p:cNvPr id="2765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51413" y="2111375"/>
            <a:ext cx="3810000" cy="33464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twisted pair (TP</a:t>
            </a:r>
            <a:r>
              <a:rPr lang="en-US" sz="2400" i="1" smtClean="0">
                <a:solidFill>
                  <a:srgbClr val="FF0000"/>
                </a:solidFill>
                <a:ea typeface="ＭＳ Ｐゴシック" pitchFamily="34" charset="-128"/>
              </a:rPr>
              <a:t>)</a:t>
            </a:r>
            <a:endParaRPr lang="en-US" sz="2400" i="1" smtClean="0"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two insulated copper wires</a:t>
            </a:r>
          </a:p>
          <a:p>
            <a:pPr lvl="1" eaLnBrk="1" hangingPunct="1">
              <a:buSzPct val="75000"/>
            </a:pPr>
            <a:r>
              <a:rPr lang="en-US" sz="2000" smtClean="0"/>
              <a:t>Category 5: 100 Mbps, 1 Gpbs Ethernet</a:t>
            </a:r>
          </a:p>
          <a:p>
            <a:pPr lvl="1" eaLnBrk="1" hangingPunct="1">
              <a:buSzPct val="75000"/>
            </a:pPr>
            <a:r>
              <a:rPr lang="en-US" sz="2000" smtClean="0"/>
              <a:t>Category 6: 10Gbps</a:t>
            </a:r>
          </a:p>
        </p:txBody>
      </p:sp>
      <p:pic>
        <p:nvPicPr>
          <p:cNvPr id="2765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913" y="4187825"/>
            <a:ext cx="2276475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1CFDAA5-1952-48AD-B397-B40C6B271712}" type="slidenum">
              <a:rPr lang="en-US" sz="1200" smtClean="0">
                <a:latin typeface="Tahoma" pitchFamily="34" charset="0"/>
              </a:rPr>
              <a:pPr/>
              <a:t>20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28675" name="Picture 6" descr="f-pi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950" y="4899025"/>
            <a:ext cx="23717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12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857250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3688" y="228600"/>
            <a:ext cx="8382000" cy="8794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Physical media: coax, fiber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962400" cy="43275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coaxial cable:</a:t>
            </a:r>
            <a:endParaRPr lang="en-US" sz="2400" i="1" smtClean="0">
              <a:solidFill>
                <a:srgbClr val="CC0000"/>
              </a:solidFill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two concentric copper conductors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bidirectional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broadband:</a:t>
            </a:r>
          </a:p>
          <a:p>
            <a:pPr lvl="1" eaLnBrk="1" hangingPunct="1"/>
            <a:r>
              <a:rPr lang="en-US" sz="2000" smtClean="0"/>
              <a:t> multiple channels on cable</a:t>
            </a:r>
          </a:p>
          <a:p>
            <a:pPr lvl="1" eaLnBrk="1" hangingPunct="1"/>
            <a:r>
              <a:rPr lang="en-US" sz="2000" smtClean="0"/>
              <a:t> HFC (hybrid fiber coax )</a:t>
            </a:r>
          </a:p>
        </p:txBody>
      </p:sp>
      <p:pic>
        <p:nvPicPr>
          <p:cNvPr id="28679" name="Picture 4" descr="coax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3863975"/>
            <a:ext cx="25019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Rectangle 5"/>
          <p:cNvSpPr>
            <a:spLocks noChangeArrowheads="1"/>
          </p:cNvSpPr>
          <p:nvPr/>
        </p:nvSpPr>
        <p:spPr bwMode="auto">
          <a:xfrm>
            <a:off x="4667250" y="1317625"/>
            <a:ext cx="4230688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fiber optic cable:</a:t>
            </a:r>
            <a:endParaRPr lang="en-US" i="1">
              <a:solidFill>
                <a:srgbClr val="CC0000"/>
              </a:solidFill>
              <a:latin typeface="Gill Sans MT" pitchFamily="34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glass fiber carrying light pulses, each pulse a bit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high-speed operation: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high-speed point-to-point transmission (e.g., 10</a:t>
            </a:r>
            <a:r>
              <a:rPr lang="ja-JP" altLang="en-US" sz="2000">
                <a:latin typeface="Gill Sans MT" pitchFamily="34" charset="0"/>
              </a:rPr>
              <a:t>’</a:t>
            </a:r>
            <a:r>
              <a:rPr lang="en-US" altLang="ja-JP" sz="2000">
                <a:latin typeface="Gill Sans MT" pitchFamily="34" charset="0"/>
              </a:rPr>
              <a:t>s-100</a:t>
            </a:r>
            <a:r>
              <a:rPr lang="ja-JP" altLang="en-US" sz="2000">
                <a:latin typeface="Gill Sans MT" pitchFamily="34" charset="0"/>
              </a:rPr>
              <a:t>’</a:t>
            </a:r>
            <a:r>
              <a:rPr lang="en-US" altLang="ja-JP" sz="2000">
                <a:latin typeface="Gill Sans MT" pitchFamily="34" charset="0"/>
              </a:rPr>
              <a:t>s Gpbs transmission rate)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low error rate: 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repeaters spaced far apart 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immune to electromagnetic noise</a:t>
            </a:r>
          </a:p>
        </p:txBody>
      </p:sp>
      <p:sp>
        <p:nvSpPr>
          <p:cNvPr id="2868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334711CB-5367-498F-B686-DB212A3A9643}" type="slidenum">
              <a:rPr lang="en-US" sz="1200" smtClean="0">
                <a:latin typeface="Tahoma" pitchFamily="34" charset="0"/>
              </a:rPr>
              <a:pPr/>
              <a:t>21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29699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800100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2863"/>
            <a:ext cx="8382000" cy="1143000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Physical media: radio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962400" cy="48768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signal carried in electromagnetic spectrum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no physical </a:t>
            </a: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wire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endParaRPr lang="en-US" altLang="ja-JP" sz="2400" smtClean="0"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bidirectional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propagation environment effects:</a:t>
            </a:r>
          </a:p>
          <a:p>
            <a:pPr lvl="1" eaLnBrk="1" hangingPunct="1"/>
            <a:r>
              <a:rPr lang="en-US" smtClean="0"/>
              <a:t>reflection </a:t>
            </a:r>
          </a:p>
          <a:p>
            <a:pPr lvl="1" eaLnBrk="1" hangingPunct="1"/>
            <a:r>
              <a:rPr lang="en-US" smtClean="0"/>
              <a:t>obstruction by objects</a:t>
            </a:r>
          </a:p>
          <a:p>
            <a:pPr lvl="1" eaLnBrk="1" hangingPunct="1"/>
            <a:r>
              <a:rPr lang="en-US" smtClean="0"/>
              <a:t>interference</a:t>
            </a:r>
          </a:p>
        </p:txBody>
      </p:sp>
      <p:sp>
        <p:nvSpPr>
          <p:cNvPr id="29702" name="Rectangle 4"/>
          <p:cNvSpPr>
            <a:spLocks noChangeArrowheads="1"/>
          </p:cNvSpPr>
          <p:nvPr/>
        </p:nvSpPr>
        <p:spPr bwMode="auto">
          <a:xfrm>
            <a:off x="4686300" y="1238250"/>
            <a:ext cx="44577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radio link types:</a:t>
            </a:r>
            <a:endParaRPr lang="en-US" i="1">
              <a:solidFill>
                <a:srgbClr val="CC0000"/>
              </a:solidFill>
              <a:latin typeface="Gill Sans MT" pitchFamily="34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terrestrial  microwave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e.g. up to 45 Mbps channels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LAN</a:t>
            </a:r>
            <a:r>
              <a:rPr lang="en-US">
                <a:latin typeface="Gill Sans MT" pitchFamily="34" charset="0"/>
              </a:rPr>
              <a:t> (e.g., WiFi)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11Mbps, 54 Mbps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wide-area</a:t>
            </a:r>
            <a:r>
              <a:rPr lang="en-US">
                <a:latin typeface="Gill Sans MT" pitchFamily="34" charset="0"/>
              </a:rPr>
              <a:t> (e.g., cellular)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3G cellular: ~ few Mbps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satellite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Kbps to 45Mbps channel (or multiple smaller channels)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270 msec end-end delay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geosynchronous versus low altitude</a:t>
            </a:r>
          </a:p>
        </p:txBody>
      </p:sp>
      <p:sp>
        <p:nvSpPr>
          <p:cNvPr id="297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5C335C0-37D8-400C-8EEA-43B246D4E2F8}" type="slidenum">
              <a:rPr lang="en-US" sz="1200" smtClean="0">
                <a:latin typeface="Tahoma" pitchFamily="34" charset="0"/>
              </a:rPr>
              <a:pPr/>
              <a:t>22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30723" name="Picture 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0250" y="1406525"/>
            <a:ext cx="8207375" cy="4648200"/>
          </a:xfrm>
        </p:spPr>
        <p:txBody>
          <a:bodyPr/>
          <a:lstStyle/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1.1 what </a:t>
            </a:r>
            <a:r>
              <a:rPr lang="en-US" sz="2800" i="1" smtClean="0">
                <a:solidFill>
                  <a:srgbClr val="000099"/>
                </a:solidFill>
              </a:rPr>
              <a:t>is</a:t>
            </a:r>
            <a:r>
              <a:rPr lang="en-US" sz="2800" smtClean="0">
                <a:solidFill>
                  <a:srgbClr val="000099"/>
                </a:solidFill>
              </a:rPr>
              <a:t> the Internet?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1.2</a:t>
            </a:r>
            <a:r>
              <a:rPr lang="en-US" sz="2800" smtClean="0"/>
              <a:t> network edge</a:t>
            </a:r>
          </a:p>
          <a:p>
            <a:pPr lvl="2" eaLnBrk="1" hangingPunct="1">
              <a:lnSpc>
                <a:spcPct val="105000"/>
              </a:lnSpc>
              <a:spcBef>
                <a:spcPct val="5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1.3 network core</a:t>
            </a:r>
          </a:p>
          <a:p>
            <a:pPr lvl="2" eaLnBrk="1" hangingPunct="1">
              <a:lnSpc>
                <a:spcPct val="105000"/>
              </a:lnSpc>
              <a:spcBef>
                <a:spcPct val="5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400" smtClean="0">
                <a:solidFill>
                  <a:srgbClr val="CC0000"/>
                </a:solidFill>
                <a:latin typeface="Gill Sans MT" pitchFamily="34" charset="0"/>
              </a:rPr>
              <a:t>packet switching,  circuit switching, network structure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1.4 </a:t>
            </a:r>
            <a:r>
              <a:rPr lang="en-US" sz="2800" smtClean="0"/>
              <a:t>delay, loss, throughput in networks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1.5</a:t>
            </a:r>
            <a:r>
              <a:rPr lang="en-US" sz="2800" smtClean="0"/>
              <a:t> protocol layers, service models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3072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0DBD2C59-681E-47B4-BC4C-5FBA349F502A}" type="slidenum">
              <a:rPr lang="en-US" sz="1200" smtClean="0">
                <a:latin typeface="Tahoma" pitchFamily="34" charset="0"/>
              </a:rPr>
              <a:pPr/>
              <a:t>23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4271963" cy="46482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mesh of interconnected routers</a:t>
            </a:r>
          </a:p>
          <a:p>
            <a:pPr eaLnBrk="1" hangingPunct="1"/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packet-switching: hosts break application-layer messages into </a:t>
            </a: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packets</a:t>
            </a:r>
          </a:p>
          <a:p>
            <a:pPr lvl="1" eaLnBrk="1" hangingPunct="1"/>
            <a:r>
              <a:rPr lang="en-US" smtClean="0"/>
              <a:t>forward packets</a:t>
            </a:r>
            <a:r>
              <a:rPr lang="en-US" i="1" smtClean="0"/>
              <a:t> </a:t>
            </a:r>
            <a:r>
              <a:rPr lang="en-US" smtClean="0"/>
              <a:t>from one router to the next, across links on path from source to destination</a:t>
            </a:r>
          </a:p>
          <a:p>
            <a:pPr lvl="1" eaLnBrk="1" hangingPunct="1"/>
            <a:r>
              <a:rPr lang="en-US" smtClean="0"/>
              <a:t>each packet transmitted at full link capacity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The network core</a:t>
            </a:r>
          </a:p>
        </p:txBody>
      </p:sp>
      <p:sp>
        <p:nvSpPr>
          <p:cNvPr id="31749" name="Freeform 637"/>
          <p:cNvSpPr>
            <a:spLocks/>
          </p:cNvSpPr>
          <p:nvPr/>
        </p:nvSpPr>
        <p:spPr bwMode="auto">
          <a:xfrm>
            <a:off x="5202238" y="1712913"/>
            <a:ext cx="1736725" cy="1071562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50" name="Group 638"/>
          <p:cNvGrpSpPr>
            <a:grpSpLocks/>
          </p:cNvGrpSpPr>
          <p:nvPr/>
        </p:nvGrpSpPr>
        <p:grpSpPr bwMode="auto">
          <a:xfrm>
            <a:off x="5370513" y="3048000"/>
            <a:ext cx="1458912" cy="933450"/>
            <a:chOff x="2889" y="1631"/>
            <a:chExt cx="980" cy="743"/>
          </a:xfrm>
        </p:grpSpPr>
        <p:sp>
          <p:nvSpPr>
            <p:cNvPr id="32250" name="Rectangle 63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51" name="AutoShape 64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CCFF"/>
                </a:solidFill>
              </a:endParaRPr>
            </a:p>
          </p:txBody>
        </p:sp>
      </p:grpSp>
      <p:sp>
        <p:nvSpPr>
          <p:cNvPr id="31751" name="Freeform 641"/>
          <p:cNvSpPr>
            <a:spLocks/>
          </p:cNvSpPr>
          <p:nvPr/>
        </p:nvSpPr>
        <p:spPr bwMode="auto">
          <a:xfrm>
            <a:off x="5364163" y="4425950"/>
            <a:ext cx="3225800" cy="1665288"/>
          </a:xfrm>
          <a:custGeom>
            <a:avLst/>
            <a:gdLst>
              <a:gd name="T0" fmla="*/ 2147483647 w 2032"/>
              <a:gd name="T1" fmla="*/ 2147483647 h 1049"/>
              <a:gd name="T2" fmla="*/ 2147483647 w 2032"/>
              <a:gd name="T3" fmla="*/ 2147483647 h 1049"/>
              <a:gd name="T4" fmla="*/ 2147483647 w 2032"/>
              <a:gd name="T5" fmla="*/ 2147483647 h 1049"/>
              <a:gd name="T6" fmla="*/ 2147483647 w 2032"/>
              <a:gd name="T7" fmla="*/ 2147483647 h 1049"/>
              <a:gd name="T8" fmla="*/ 2147483647 w 2032"/>
              <a:gd name="T9" fmla="*/ 2147483647 h 1049"/>
              <a:gd name="T10" fmla="*/ 2147483647 w 2032"/>
              <a:gd name="T11" fmla="*/ 2147483647 h 1049"/>
              <a:gd name="T12" fmla="*/ 2147483647 w 2032"/>
              <a:gd name="T13" fmla="*/ 2147483647 h 1049"/>
              <a:gd name="T14" fmla="*/ 2147483647 w 2032"/>
              <a:gd name="T15" fmla="*/ 2147483647 h 1049"/>
              <a:gd name="T16" fmla="*/ 2147483647 w 2032"/>
              <a:gd name="T17" fmla="*/ 2147483647 h 1049"/>
              <a:gd name="T18" fmla="*/ 2147483647 w 2032"/>
              <a:gd name="T19" fmla="*/ 2147483647 h 1049"/>
              <a:gd name="T20" fmla="*/ 2147483647 w 2032"/>
              <a:gd name="T21" fmla="*/ 2147483647 h 1049"/>
              <a:gd name="T22" fmla="*/ 2147483647 w 2032"/>
              <a:gd name="T23" fmla="*/ 2147483647 h 1049"/>
              <a:gd name="T24" fmla="*/ 2147483647 w 2032"/>
              <a:gd name="T25" fmla="*/ 2147483647 h 1049"/>
              <a:gd name="T26" fmla="*/ 2147483647 w 2032"/>
              <a:gd name="T27" fmla="*/ 2147483647 h 1049"/>
              <a:gd name="T28" fmla="*/ 2147483647 w 2032"/>
              <a:gd name="T29" fmla="*/ 2147483647 h 1049"/>
              <a:gd name="T30" fmla="*/ 2147483647 w 2032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032"/>
              <a:gd name="T49" fmla="*/ 0 h 1049"/>
              <a:gd name="T50" fmla="*/ 2032 w 2032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032" h="1049">
                <a:moveTo>
                  <a:pt x="1044" y="26"/>
                </a:moveTo>
                <a:cubicBezTo>
                  <a:pt x="959" y="45"/>
                  <a:pt x="924" y="118"/>
                  <a:pt x="847" y="125"/>
                </a:cubicBezTo>
                <a:cubicBezTo>
                  <a:pt x="770" y="132"/>
                  <a:pt x="697" y="61"/>
                  <a:pt x="580" y="68"/>
                </a:cubicBezTo>
                <a:cubicBezTo>
                  <a:pt x="463" y="75"/>
                  <a:pt x="232" y="119"/>
                  <a:pt x="143" y="170"/>
                </a:cubicBezTo>
                <a:cubicBezTo>
                  <a:pt x="54" y="221"/>
                  <a:pt x="65" y="289"/>
                  <a:pt x="48" y="374"/>
                </a:cubicBezTo>
                <a:cubicBezTo>
                  <a:pt x="31" y="459"/>
                  <a:pt x="0" y="618"/>
                  <a:pt x="41" y="680"/>
                </a:cubicBezTo>
                <a:cubicBezTo>
                  <a:pt x="82" y="742"/>
                  <a:pt x="191" y="709"/>
                  <a:pt x="294" y="744"/>
                </a:cubicBezTo>
                <a:cubicBezTo>
                  <a:pt x="397" y="779"/>
                  <a:pt x="527" y="849"/>
                  <a:pt x="660" y="893"/>
                </a:cubicBezTo>
                <a:cubicBezTo>
                  <a:pt x="793" y="938"/>
                  <a:pt x="944" y="991"/>
                  <a:pt x="1088" y="1014"/>
                </a:cubicBezTo>
                <a:cubicBezTo>
                  <a:pt x="1232" y="1036"/>
                  <a:pt x="1401" y="1049"/>
                  <a:pt x="1525" y="1031"/>
                </a:cubicBezTo>
                <a:cubicBezTo>
                  <a:pt x="1649" y="1012"/>
                  <a:pt x="1749" y="960"/>
                  <a:pt x="1831" y="907"/>
                </a:cubicBezTo>
                <a:cubicBezTo>
                  <a:pt x="1913" y="855"/>
                  <a:pt x="1998" y="824"/>
                  <a:pt x="2015" y="714"/>
                </a:cubicBezTo>
                <a:cubicBezTo>
                  <a:pt x="2032" y="604"/>
                  <a:pt x="1990" y="350"/>
                  <a:pt x="1931" y="251"/>
                </a:cubicBezTo>
                <a:cubicBezTo>
                  <a:pt x="1872" y="151"/>
                  <a:pt x="1754" y="153"/>
                  <a:pt x="1658" y="114"/>
                </a:cubicBezTo>
                <a:cubicBezTo>
                  <a:pt x="1562" y="76"/>
                  <a:pt x="1457" y="30"/>
                  <a:pt x="1355" y="15"/>
                </a:cubicBezTo>
                <a:cubicBezTo>
                  <a:pt x="1253" y="0"/>
                  <a:pt x="1129" y="8"/>
                  <a:pt x="1044" y="26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Line 642"/>
          <p:cNvSpPr>
            <a:spLocks noChangeShapeType="1"/>
          </p:cNvSpPr>
          <p:nvPr/>
        </p:nvSpPr>
        <p:spPr bwMode="auto">
          <a:xfrm rot="-5400000">
            <a:off x="7845425" y="5162551"/>
            <a:ext cx="523875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Line 643"/>
          <p:cNvSpPr>
            <a:spLocks noChangeShapeType="1"/>
          </p:cNvSpPr>
          <p:nvPr/>
        </p:nvSpPr>
        <p:spPr bwMode="auto">
          <a:xfrm rot="5400000" flipV="1">
            <a:off x="7991475" y="5443538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Line 644"/>
          <p:cNvSpPr>
            <a:spLocks noChangeShapeType="1"/>
          </p:cNvSpPr>
          <p:nvPr/>
        </p:nvSpPr>
        <p:spPr bwMode="auto">
          <a:xfrm rot="-5400000">
            <a:off x="8177213" y="5119688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Line 646"/>
          <p:cNvSpPr>
            <a:spLocks noChangeShapeType="1"/>
          </p:cNvSpPr>
          <p:nvPr/>
        </p:nvSpPr>
        <p:spPr bwMode="auto">
          <a:xfrm>
            <a:off x="6100763" y="4776788"/>
            <a:ext cx="212725" cy="984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Line 647"/>
          <p:cNvSpPr>
            <a:spLocks noChangeShapeType="1"/>
          </p:cNvSpPr>
          <p:nvPr/>
        </p:nvSpPr>
        <p:spPr bwMode="auto">
          <a:xfrm flipV="1">
            <a:off x="5842000" y="5040313"/>
            <a:ext cx="390525" cy="730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Line 650"/>
          <p:cNvSpPr>
            <a:spLocks noChangeShapeType="1"/>
          </p:cNvSpPr>
          <p:nvPr/>
        </p:nvSpPr>
        <p:spPr bwMode="auto">
          <a:xfrm flipH="1">
            <a:off x="6267450" y="5087938"/>
            <a:ext cx="103188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Line 651"/>
          <p:cNvSpPr>
            <a:spLocks noChangeShapeType="1"/>
          </p:cNvSpPr>
          <p:nvPr/>
        </p:nvSpPr>
        <p:spPr bwMode="auto">
          <a:xfrm flipH="1" flipV="1">
            <a:off x="6548438" y="5100638"/>
            <a:ext cx="114300" cy="1730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9" name="Line 652"/>
          <p:cNvSpPr>
            <a:spLocks noChangeShapeType="1"/>
          </p:cNvSpPr>
          <p:nvPr/>
        </p:nvSpPr>
        <p:spPr bwMode="auto">
          <a:xfrm>
            <a:off x="6743700" y="5056188"/>
            <a:ext cx="503238" cy="2698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0" name="Line 654"/>
          <p:cNvSpPr>
            <a:spLocks noChangeShapeType="1"/>
          </p:cNvSpPr>
          <p:nvPr/>
        </p:nvSpPr>
        <p:spPr bwMode="auto">
          <a:xfrm>
            <a:off x="6046788" y="3582988"/>
            <a:ext cx="234950" cy="7461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1" name="Line 655"/>
          <p:cNvSpPr>
            <a:spLocks noChangeShapeType="1"/>
          </p:cNvSpPr>
          <p:nvPr/>
        </p:nvSpPr>
        <p:spPr bwMode="auto">
          <a:xfrm flipV="1">
            <a:off x="5891213" y="3736975"/>
            <a:ext cx="168275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62" name="Group 656"/>
          <p:cNvGrpSpPr>
            <a:grpSpLocks/>
          </p:cNvGrpSpPr>
          <p:nvPr/>
        </p:nvGrpSpPr>
        <p:grpSpPr bwMode="auto">
          <a:xfrm>
            <a:off x="5611813" y="3503613"/>
            <a:ext cx="506412" cy="352425"/>
            <a:chOff x="2967" y="478"/>
            <a:chExt cx="788" cy="625"/>
          </a:xfrm>
        </p:grpSpPr>
        <p:pic>
          <p:nvPicPr>
            <p:cNvPr id="32248" name="Picture 657" descr="access_point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249" name="Picture 658" descr="antenna_radiation_styliz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63" name="Freeform 659"/>
          <p:cNvSpPr>
            <a:spLocks/>
          </p:cNvSpPr>
          <p:nvPr/>
        </p:nvSpPr>
        <p:spPr bwMode="auto">
          <a:xfrm>
            <a:off x="7015163" y="3530600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4" name="Freeform 660"/>
          <p:cNvSpPr>
            <a:spLocks/>
          </p:cNvSpPr>
          <p:nvPr/>
        </p:nvSpPr>
        <p:spPr bwMode="auto">
          <a:xfrm>
            <a:off x="7011988" y="2005013"/>
            <a:ext cx="1730375" cy="1125537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5" name="Line 661"/>
          <p:cNvSpPr>
            <a:spLocks noChangeShapeType="1"/>
          </p:cNvSpPr>
          <p:nvPr/>
        </p:nvSpPr>
        <p:spPr bwMode="auto">
          <a:xfrm>
            <a:off x="7396163" y="3816350"/>
            <a:ext cx="163512" cy="1206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6" name="Line 662"/>
          <p:cNvSpPr>
            <a:spLocks noChangeShapeType="1"/>
          </p:cNvSpPr>
          <p:nvPr/>
        </p:nvSpPr>
        <p:spPr bwMode="auto">
          <a:xfrm>
            <a:off x="7493000" y="3736975"/>
            <a:ext cx="279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7" name="Line 663"/>
          <p:cNvSpPr>
            <a:spLocks noChangeShapeType="1"/>
          </p:cNvSpPr>
          <p:nvPr/>
        </p:nvSpPr>
        <p:spPr bwMode="auto">
          <a:xfrm flipV="1">
            <a:off x="7729538" y="3822700"/>
            <a:ext cx="134937" cy="1047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8" name="Line 664"/>
          <p:cNvSpPr>
            <a:spLocks noChangeShapeType="1"/>
          </p:cNvSpPr>
          <p:nvPr/>
        </p:nvSpPr>
        <p:spPr bwMode="auto">
          <a:xfrm>
            <a:off x="6723063" y="2590800"/>
            <a:ext cx="509587" cy="3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9" name="Line 665"/>
          <p:cNvSpPr>
            <a:spLocks noChangeShapeType="1"/>
          </p:cNvSpPr>
          <p:nvPr/>
        </p:nvSpPr>
        <p:spPr bwMode="auto">
          <a:xfrm>
            <a:off x="7358063" y="4700588"/>
            <a:ext cx="390525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0" name="Line 666"/>
          <p:cNvSpPr>
            <a:spLocks noChangeShapeType="1"/>
          </p:cNvSpPr>
          <p:nvPr/>
        </p:nvSpPr>
        <p:spPr bwMode="auto">
          <a:xfrm flipV="1">
            <a:off x="6737350" y="4687888"/>
            <a:ext cx="322263" cy="1984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1" name="Line 667"/>
          <p:cNvSpPr>
            <a:spLocks noChangeShapeType="1"/>
          </p:cNvSpPr>
          <p:nvPr/>
        </p:nvSpPr>
        <p:spPr bwMode="auto">
          <a:xfrm flipV="1">
            <a:off x="6780213" y="4979988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2" name="Line 668"/>
          <p:cNvSpPr>
            <a:spLocks noChangeShapeType="1"/>
          </p:cNvSpPr>
          <p:nvPr/>
        </p:nvSpPr>
        <p:spPr bwMode="auto">
          <a:xfrm flipV="1">
            <a:off x="7577138" y="2495550"/>
            <a:ext cx="123825" cy="873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3" name="Line 669"/>
          <p:cNvSpPr>
            <a:spLocks noChangeShapeType="1"/>
          </p:cNvSpPr>
          <p:nvPr/>
        </p:nvSpPr>
        <p:spPr bwMode="auto">
          <a:xfrm>
            <a:off x="7405688" y="2668588"/>
            <a:ext cx="0" cy="825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4" name="Line 670"/>
          <p:cNvSpPr>
            <a:spLocks noChangeShapeType="1"/>
          </p:cNvSpPr>
          <p:nvPr/>
        </p:nvSpPr>
        <p:spPr bwMode="auto">
          <a:xfrm flipV="1">
            <a:off x="7580313" y="2562225"/>
            <a:ext cx="263525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5" name="Line 671"/>
          <p:cNvSpPr>
            <a:spLocks noChangeShapeType="1"/>
          </p:cNvSpPr>
          <p:nvPr/>
        </p:nvSpPr>
        <p:spPr bwMode="auto">
          <a:xfrm>
            <a:off x="7942263" y="2563813"/>
            <a:ext cx="0" cy="196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6" name="Line 672"/>
          <p:cNvSpPr>
            <a:spLocks noChangeShapeType="1"/>
          </p:cNvSpPr>
          <p:nvPr/>
        </p:nvSpPr>
        <p:spPr bwMode="auto">
          <a:xfrm>
            <a:off x="7596188" y="2870200"/>
            <a:ext cx="18891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7" name="Line 673"/>
          <p:cNvSpPr>
            <a:spLocks noChangeShapeType="1"/>
          </p:cNvSpPr>
          <p:nvPr/>
        </p:nvSpPr>
        <p:spPr bwMode="auto">
          <a:xfrm>
            <a:off x="8150225" y="2860675"/>
            <a:ext cx="177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8" name="Line 674"/>
          <p:cNvSpPr>
            <a:spLocks noChangeShapeType="1"/>
          </p:cNvSpPr>
          <p:nvPr/>
        </p:nvSpPr>
        <p:spPr bwMode="auto">
          <a:xfrm flipH="1">
            <a:off x="7299325" y="2936875"/>
            <a:ext cx="98425" cy="704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9" name="Line 675"/>
          <p:cNvSpPr>
            <a:spLocks noChangeShapeType="1"/>
          </p:cNvSpPr>
          <p:nvPr/>
        </p:nvSpPr>
        <p:spPr bwMode="auto">
          <a:xfrm flipH="1">
            <a:off x="7888288" y="2936875"/>
            <a:ext cx="111125" cy="7270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0" name="Line 676"/>
          <p:cNvSpPr>
            <a:spLocks noChangeShapeType="1"/>
          </p:cNvSpPr>
          <p:nvPr/>
        </p:nvSpPr>
        <p:spPr bwMode="auto">
          <a:xfrm flipV="1">
            <a:off x="7272338" y="4078288"/>
            <a:ext cx="227012" cy="4365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1" name="Line 677"/>
          <p:cNvSpPr>
            <a:spLocks noChangeShapeType="1"/>
          </p:cNvSpPr>
          <p:nvPr/>
        </p:nvSpPr>
        <p:spPr bwMode="auto">
          <a:xfrm>
            <a:off x="8345488" y="2859088"/>
            <a:ext cx="177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82" name="Group 678"/>
          <p:cNvGrpSpPr>
            <a:grpSpLocks/>
          </p:cNvGrpSpPr>
          <p:nvPr/>
        </p:nvGrpSpPr>
        <p:grpSpPr bwMode="auto">
          <a:xfrm>
            <a:off x="6053138" y="1846263"/>
            <a:ext cx="468312" cy="620712"/>
            <a:chOff x="1653" y="3023"/>
            <a:chExt cx="622" cy="911"/>
          </a:xfrm>
        </p:grpSpPr>
        <p:sp>
          <p:nvSpPr>
            <p:cNvPr id="32231" name="Line 270"/>
            <p:cNvSpPr>
              <a:spLocks noChangeShapeType="1"/>
            </p:cNvSpPr>
            <p:nvPr/>
          </p:nvSpPr>
          <p:spPr bwMode="auto">
            <a:xfrm flipH="1">
              <a:off x="1766" y="3287"/>
              <a:ext cx="188" cy="586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2" name="Line 271"/>
            <p:cNvSpPr>
              <a:spLocks noChangeShapeType="1"/>
            </p:cNvSpPr>
            <p:nvPr/>
          </p:nvSpPr>
          <p:spPr bwMode="auto">
            <a:xfrm>
              <a:off x="1954" y="3287"/>
              <a:ext cx="188" cy="583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3" name="Line 272"/>
            <p:cNvSpPr>
              <a:spLocks noChangeShapeType="1"/>
            </p:cNvSpPr>
            <p:nvPr/>
          </p:nvSpPr>
          <p:spPr bwMode="auto">
            <a:xfrm>
              <a:off x="1766" y="3870"/>
              <a:ext cx="188" cy="6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4" name="Line 273"/>
            <p:cNvSpPr>
              <a:spLocks noChangeShapeType="1"/>
            </p:cNvSpPr>
            <p:nvPr/>
          </p:nvSpPr>
          <p:spPr bwMode="auto">
            <a:xfrm flipH="1">
              <a:off x="1954" y="3870"/>
              <a:ext cx="188" cy="6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5" name="Line 274"/>
            <p:cNvSpPr>
              <a:spLocks noChangeShapeType="1"/>
            </p:cNvSpPr>
            <p:nvPr/>
          </p:nvSpPr>
          <p:spPr bwMode="auto">
            <a:xfrm>
              <a:off x="1954" y="3300"/>
              <a:ext cx="0" cy="63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6" name="Line 275"/>
            <p:cNvSpPr>
              <a:spLocks noChangeShapeType="1"/>
            </p:cNvSpPr>
            <p:nvPr/>
          </p:nvSpPr>
          <p:spPr bwMode="auto">
            <a:xfrm flipV="1">
              <a:off x="1766" y="3810"/>
              <a:ext cx="188" cy="63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7" name="Line 276"/>
            <p:cNvSpPr>
              <a:spLocks noChangeShapeType="1"/>
            </p:cNvSpPr>
            <p:nvPr/>
          </p:nvSpPr>
          <p:spPr bwMode="auto">
            <a:xfrm flipH="1" flipV="1">
              <a:off x="1954" y="3810"/>
              <a:ext cx="188" cy="6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8" name="Line 277"/>
            <p:cNvSpPr>
              <a:spLocks noChangeShapeType="1"/>
            </p:cNvSpPr>
            <p:nvPr/>
          </p:nvSpPr>
          <p:spPr bwMode="auto">
            <a:xfrm>
              <a:off x="1846" y="3618"/>
              <a:ext cx="108" cy="4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9" name="Line 278"/>
            <p:cNvSpPr>
              <a:spLocks noChangeShapeType="1"/>
            </p:cNvSpPr>
            <p:nvPr/>
          </p:nvSpPr>
          <p:spPr bwMode="auto">
            <a:xfrm flipV="1">
              <a:off x="1954" y="3618"/>
              <a:ext cx="114" cy="4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0" name="Line 279"/>
            <p:cNvSpPr>
              <a:spLocks noChangeShapeType="1"/>
            </p:cNvSpPr>
            <p:nvPr/>
          </p:nvSpPr>
          <p:spPr bwMode="auto">
            <a:xfrm>
              <a:off x="1810" y="3704"/>
              <a:ext cx="139" cy="65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1" name="Line 280"/>
            <p:cNvSpPr>
              <a:spLocks noChangeShapeType="1"/>
            </p:cNvSpPr>
            <p:nvPr/>
          </p:nvSpPr>
          <p:spPr bwMode="auto">
            <a:xfrm flipV="1">
              <a:off x="1954" y="3717"/>
              <a:ext cx="140" cy="57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2" name="Line 281"/>
            <p:cNvSpPr>
              <a:spLocks noChangeShapeType="1"/>
            </p:cNvSpPr>
            <p:nvPr/>
          </p:nvSpPr>
          <p:spPr bwMode="auto">
            <a:xfrm flipV="1">
              <a:off x="1954" y="3530"/>
              <a:ext cx="72" cy="2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3" name="Line 282"/>
            <p:cNvSpPr>
              <a:spLocks noChangeShapeType="1"/>
            </p:cNvSpPr>
            <p:nvPr/>
          </p:nvSpPr>
          <p:spPr bwMode="auto">
            <a:xfrm flipV="1">
              <a:off x="1954" y="3409"/>
              <a:ext cx="45" cy="1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4" name="Line 283"/>
            <p:cNvSpPr>
              <a:spLocks noChangeShapeType="1"/>
            </p:cNvSpPr>
            <p:nvPr/>
          </p:nvSpPr>
          <p:spPr bwMode="auto">
            <a:xfrm>
              <a:off x="1873" y="3522"/>
              <a:ext cx="87" cy="32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5" name="Line 284"/>
            <p:cNvSpPr>
              <a:spLocks noChangeShapeType="1"/>
            </p:cNvSpPr>
            <p:nvPr/>
          </p:nvSpPr>
          <p:spPr bwMode="auto">
            <a:xfrm>
              <a:off x="1912" y="3404"/>
              <a:ext cx="50" cy="31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6" name="Oval 694"/>
            <p:cNvSpPr>
              <a:spLocks noChangeArrowheads="1"/>
            </p:cNvSpPr>
            <p:nvPr/>
          </p:nvSpPr>
          <p:spPr bwMode="auto">
            <a:xfrm>
              <a:off x="1921" y="3233"/>
              <a:ext cx="63" cy="68"/>
            </a:xfrm>
            <a:prstGeom prst="ellipse">
              <a:avLst/>
            </a:prstGeom>
            <a:solidFill>
              <a:srgbClr val="808080"/>
            </a:soli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2247" name="Picture 695" descr="cell_tower_radiation_gra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3" y="3023"/>
              <a:ext cx="622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83" name="Group 696"/>
          <p:cNvGrpSpPr>
            <a:grpSpLocks/>
          </p:cNvGrpSpPr>
          <p:nvPr/>
        </p:nvGrpSpPr>
        <p:grpSpPr bwMode="auto">
          <a:xfrm>
            <a:off x="6289675" y="2406650"/>
            <a:ext cx="454025" cy="254000"/>
            <a:chOff x="3843" y="1516"/>
            <a:chExt cx="286" cy="160"/>
          </a:xfrm>
        </p:grpSpPr>
        <p:sp>
          <p:nvSpPr>
            <p:cNvPr id="32222" name="Line 697"/>
            <p:cNvSpPr>
              <a:spLocks noChangeShapeType="1"/>
            </p:cNvSpPr>
            <p:nvPr/>
          </p:nvSpPr>
          <p:spPr bwMode="auto">
            <a:xfrm>
              <a:off x="3843" y="1516"/>
              <a:ext cx="96" cy="6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23" name="Oval 407"/>
            <p:cNvSpPr>
              <a:spLocks noChangeArrowheads="1"/>
            </p:cNvSpPr>
            <p:nvPr/>
          </p:nvSpPr>
          <p:spPr bwMode="auto">
            <a:xfrm>
              <a:off x="3884" y="1616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224" name="Rectangle 410"/>
            <p:cNvSpPr>
              <a:spLocks noChangeArrowheads="1"/>
            </p:cNvSpPr>
            <p:nvPr/>
          </p:nvSpPr>
          <p:spPr bwMode="auto">
            <a:xfrm>
              <a:off x="3884" y="1610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225" name="Oval 411"/>
            <p:cNvSpPr>
              <a:spLocks noChangeArrowheads="1"/>
            </p:cNvSpPr>
            <p:nvPr/>
          </p:nvSpPr>
          <p:spPr bwMode="auto">
            <a:xfrm>
              <a:off x="3883" y="1569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226" name="Group 701"/>
            <p:cNvGrpSpPr>
              <a:grpSpLocks/>
            </p:cNvGrpSpPr>
            <p:nvPr/>
          </p:nvGrpSpPr>
          <p:grpSpPr bwMode="auto">
            <a:xfrm>
              <a:off x="3932" y="1587"/>
              <a:ext cx="138" cy="33"/>
              <a:chOff x="2468" y="1332"/>
              <a:chExt cx="310" cy="60"/>
            </a:xfrm>
          </p:grpSpPr>
          <p:sp>
            <p:nvSpPr>
              <p:cNvPr id="32229" name="Freeform 70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30" name="Freeform 70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227" name="Line 704"/>
            <p:cNvSpPr>
              <a:spLocks noChangeShapeType="1"/>
            </p:cNvSpPr>
            <p:nvPr/>
          </p:nvSpPr>
          <p:spPr bwMode="auto">
            <a:xfrm>
              <a:off x="3884" y="1602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28" name="Line 705"/>
            <p:cNvSpPr>
              <a:spLocks noChangeShapeType="1"/>
            </p:cNvSpPr>
            <p:nvPr/>
          </p:nvSpPr>
          <p:spPr bwMode="auto">
            <a:xfrm>
              <a:off x="4127" y="1604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4" name="Group 706"/>
          <p:cNvGrpSpPr>
            <a:grpSpLocks/>
          </p:cNvGrpSpPr>
          <p:nvPr/>
        </p:nvGrpSpPr>
        <p:grpSpPr bwMode="auto">
          <a:xfrm>
            <a:off x="7202488" y="2493963"/>
            <a:ext cx="390525" cy="174625"/>
            <a:chOff x="4334" y="1470"/>
            <a:chExt cx="246" cy="107"/>
          </a:xfrm>
        </p:grpSpPr>
        <p:sp>
          <p:nvSpPr>
            <p:cNvPr id="3221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21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21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217" name="Group 710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220" name="Freeform 71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21" name="Freeform 71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218" name="Line 713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19" name="Line 714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5" name="Group 715"/>
          <p:cNvGrpSpPr>
            <a:grpSpLocks/>
          </p:cNvGrpSpPr>
          <p:nvPr/>
        </p:nvGrpSpPr>
        <p:grpSpPr bwMode="auto">
          <a:xfrm>
            <a:off x="7213600" y="2757488"/>
            <a:ext cx="390525" cy="174625"/>
            <a:chOff x="4334" y="1470"/>
            <a:chExt cx="246" cy="107"/>
          </a:xfrm>
        </p:grpSpPr>
        <p:sp>
          <p:nvSpPr>
            <p:cNvPr id="3220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20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20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209" name="Group 719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212" name="Freeform 72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13" name="Freeform 72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210" name="Line 722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11" name="Line 723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6" name="Group 724"/>
          <p:cNvGrpSpPr>
            <a:grpSpLocks/>
          </p:cNvGrpSpPr>
          <p:nvPr/>
        </p:nvGrpSpPr>
        <p:grpSpPr bwMode="auto">
          <a:xfrm>
            <a:off x="7762875" y="2759075"/>
            <a:ext cx="390525" cy="174625"/>
            <a:chOff x="4334" y="1470"/>
            <a:chExt cx="246" cy="107"/>
          </a:xfrm>
        </p:grpSpPr>
        <p:sp>
          <p:nvSpPr>
            <p:cNvPr id="3219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9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20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201" name="Group 728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204" name="Freeform 72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05" name="Freeform 73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202" name="Line 731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03" name="Line 732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7" name="Group 733"/>
          <p:cNvGrpSpPr>
            <a:grpSpLocks/>
          </p:cNvGrpSpPr>
          <p:nvPr/>
        </p:nvGrpSpPr>
        <p:grpSpPr bwMode="auto">
          <a:xfrm>
            <a:off x="7689850" y="2393950"/>
            <a:ext cx="390525" cy="174625"/>
            <a:chOff x="4334" y="1470"/>
            <a:chExt cx="246" cy="107"/>
          </a:xfrm>
        </p:grpSpPr>
        <p:sp>
          <p:nvSpPr>
            <p:cNvPr id="3219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9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9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93" name="Group 737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96" name="Freeform 7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97" name="Freeform 7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94" name="Line 740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95" name="Line 741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8" name="Group 742"/>
          <p:cNvGrpSpPr>
            <a:grpSpLocks/>
          </p:cNvGrpSpPr>
          <p:nvPr/>
        </p:nvGrpSpPr>
        <p:grpSpPr bwMode="auto">
          <a:xfrm>
            <a:off x="7737475" y="3644900"/>
            <a:ext cx="492125" cy="206375"/>
            <a:chOff x="4334" y="1470"/>
            <a:chExt cx="246" cy="107"/>
          </a:xfrm>
        </p:grpSpPr>
        <p:sp>
          <p:nvSpPr>
            <p:cNvPr id="3218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8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8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85" name="Group 746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88" name="Freeform 74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89" name="Freeform 74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86" name="Line 749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87" name="Line 750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89" name="Line 751"/>
          <p:cNvSpPr>
            <a:spLocks noChangeShapeType="1"/>
          </p:cNvSpPr>
          <p:nvPr/>
        </p:nvSpPr>
        <p:spPr bwMode="auto">
          <a:xfrm>
            <a:off x="6427788" y="3743325"/>
            <a:ext cx="6794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90" name="Group 752"/>
          <p:cNvGrpSpPr>
            <a:grpSpLocks/>
          </p:cNvGrpSpPr>
          <p:nvPr/>
        </p:nvGrpSpPr>
        <p:grpSpPr bwMode="auto">
          <a:xfrm>
            <a:off x="7086600" y="3632200"/>
            <a:ext cx="492125" cy="206375"/>
            <a:chOff x="4334" y="1470"/>
            <a:chExt cx="246" cy="107"/>
          </a:xfrm>
        </p:grpSpPr>
        <p:sp>
          <p:nvSpPr>
            <p:cNvPr id="3217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7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7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77" name="Group 756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80" name="Freeform 75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81" name="Freeform 75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78" name="Line 759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9" name="Line 760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1" name="Group 761"/>
          <p:cNvGrpSpPr>
            <a:grpSpLocks/>
          </p:cNvGrpSpPr>
          <p:nvPr/>
        </p:nvGrpSpPr>
        <p:grpSpPr bwMode="auto">
          <a:xfrm>
            <a:off x="7591425" y="4806950"/>
            <a:ext cx="622300" cy="244475"/>
            <a:chOff x="4334" y="1470"/>
            <a:chExt cx="246" cy="107"/>
          </a:xfrm>
        </p:grpSpPr>
        <p:sp>
          <p:nvSpPr>
            <p:cNvPr id="3216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6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6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69" name="Group 765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72" name="Freeform 76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3" name="Freeform 76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70" name="Line 768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1" name="Line 769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2" name="Group 770"/>
          <p:cNvGrpSpPr>
            <a:grpSpLocks/>
          </p:cNvGrpSpPr>
          <p:nvPr/>
        </p:nvGrpSpPr>
        <p:grpSpPr bwMode="auto">
          <a:xfrm>
            <a:off x="6965950" y="4508500"/>
            <a:ext cx="622300" cy="244475"/>
            <a:chOff x="4334" y="1470"/>
            <a:chExt cx="246" cy="107"/>
          </a:xfrm>
        </p:grpSpPr>
        <p:sp>
          <p:nvSpPr>
            <p:cNvPr id="3215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5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6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61" name="Group 774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64" name="Freeform 77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65" name="Freeform 77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62" name="Line 777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63" name="Line 778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3" name="Group 779"/>
          <p:cNvGrpSpPr>
            <a:grpSpLocks/>
          </p:cNvGrpSpPr>
          <p:nvPr/>
        </p:nvGrpSpPr>
        <p:grpSpPr bwMode="auto">
          <a:xfrm>
            <a:off x="6242050" y="4851400"/>
            <a:ext cx="622300" cy="244475"/>
            <a:chOff x="4334" y="1470"/>
            <a:chExt cx="246" cy="107"/>
          </a:xfrm>
        </p:grpSpPr>
        <p:sp>
          <p:nvSpPr>
            <p:cNvPr id="3215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5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5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53" name="Group 783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56" name="Freeform 78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57" name="Freeform 78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54" name="Line 786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55" name="Line 787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4" name="Group 788"/>
          <p:cNvGrpSpPr>
            <a:grpSpLocks/>
          </p:cNvGrpSpPr>
          <p:nvPr/>
        </p:nvGrpSpPr>
        <p:grpSpPr bwMode="auto">
          <a:xfrm>
            <a:off x="6051550" y="3644900"/>
            <a:ext cx="390525" cy="171450"/>
            <a:chOff x="4334" y="1470"/>
            <a:chExt cx="246" cy="107"/>
          </a:xfrm>
        </p:grpSpPr>
        <p:sp>
          <p:nvSpPr>
            <p:cNvPr id="3214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4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4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45" name="Group 792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48" name="Freeform 79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49" name="Freeform 79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46" name="Line 795"/>
            <p:cNvSpPr>
              <a:spLocks noChangeShapeType="1"/>
            </p:cNvSpPr>
            <p:nvPr/>
          </p:nvSpPr>
          <p:spPr bwMode="auto">
            <a:xfrm>
              <a:off x="4335" y="1503"/>
              <a:ext cx="0" cy="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47" name="Line 796"/>
            <p:cNvSpPr>
              <a:spLocks noChangeShapeType="1"/>
            </p:cNvSpPr>
            <p:nvPr/>
          </p:nvSpPr>
          <p:spPr bwMode="auto">
            <a:xfrm>
              <a:off x="4578" y="1505"/>
              <a:ext cx="0" cy="4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5" name="Group 797"/>
          <p:cNvGrpSpPr>
            <a:grpSpLocks/>
          </p:cNvGrpSpPr>
          <p:nvPr/>
        </p:nvGrpSpPr>
        <p:grpSpPr bwMode="auto">
          <a:xfrm>
            <a:off x="7161213" y="5005388"/>
            <a:ext cx="446087" cy="422275"/>
            <a:chOff x="5072" y="3611"/>
            <a:chExt cx="459" cy="380"/>
          </a:xfrm>
        </p:grpSpPr>
        <p:grpSp>
          <p:nvGrpSpPr>
            <p:cNvPr id="32128" name="Group 798"/>
            <p:cNvGrpSpPr>
              <a:grpSpLocks/>
            </p:cNvGrpSpPr>
            <p:nvPr/>
          </p:nvGrpSpPr>
          <p:grpSpPr bwMode="auto">
            <a:xfrm>
              <a:off x="5144" y="3611"/>
              <a:ext cx="387" cy="99"/>
              <a:chOff x="5030" y="2639"/>
              <a:chExt cx="387" cy="99"/>
            </a:xfrm>
          </p:grpSpPr>
          <p:sp>
            <p:nvSpPr>
              <p:cNvPr id="32130" name="Freeform 799"/>
              <p:cNvSpPr>
                <a:spLocks/>
              </p:cNvSpPr>
              <p:nvPr/>
            </p:nvSpPr>
            <p:spPr bwMode="auto">
              <a:xfrm>
                <a:off x="5134" y="2657"/>
                <a:ext cx="69" cy="55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1" name="Freeform 800"/>
              <p:cNvSpPr>
                <a:spLocks/>
              </p:cNvSpPr>
              <p:nvPr/>
            </p:nvSpPr>
            <p:spPr bwMode="auto">
              <a:xfrm>
                <a:off x="5252" y="2656"/>
                <a:ext cx="47" cy="42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2" name="Freeform 801"/>
              <p:cNvSpPr>
                <a:spLocks/>
              </p:cNvSpPr>
              <p:nvPr/>
            </p:nvSpPr>
            <p:spPr bwMode="auto">
              <a:xfrm>
                <a:off x="5089" y="2646"/>
                <a:ext cx="114" cy="88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3" name="Freeform 802"/>
              <p:cNvSpPr>
                <a:spLocks/>
              </p:cNvSpPr>
              <p:nvPr/>
            </p:nvSpPr>
            <p:spPr bwMode="auto">
              <a:xfrm>
                <a:off x="5250" y="2643"/>
                <a:ext cx="99" cy="59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4" name="Freeform 803"/>
              <p:cNvSpPr>
                <a:spLocks/>
              </p:cNvSpPr>
              <p:nvPr/>
            </p:nvSpPr>
            <p:spPr bwMode="auto">
              <a:xfrm>
                <a:off x="5047" y="2671"/>
                <a:ext cx="40" cy="55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5" name="Freeform 804"/>
              <p:cNvSpPr>
                <a:spLocks/>
              </p:cNvSpPr>
              <p:nvPr/>
            </p:nvSpPr>
            <p:spPr bwMode="auto">
              <a:xfrm>
                <a:off x="5330" y="2639"/>
                <a:ext cx="87" cy="73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6" name="Freeform 805"/>
              <p:cNvSpPr>
                <a:spLocks/>
              </p:cNvSpPr>
              <p:nvPr/>
            </p:nvSpPr>
            <p:spPr bwMode="auto">
              <a:xfrm>
                <a:off x="5115" y="2660"/>
                <a:ext cx="69" cy="55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7" name="Freeform 806"/>
              <p:cNvSpPr>
                <a:spLocks/>
              </p:cNvSpPr>
              <p:nvPr/>
            </p:nvSpPr>
            <p:spPr bwMode="auto">
              <a:xfrm>
                <a:off x="5233" y="2660"/>
                <a:ext cx="47" cy="42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8" name="Freeform 807"/>
              <p:cNvSpPr>
                <a:spLocks/>
              </p:cNvSpPr>
              <p:nvPr/>
            </p:nvSpPr>
            <p:spPr bwMode="auto">
              <a:xfrm>
                <a:off x="5070" y="2650"/>
                <a:ext cx="112" cy="88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9" name="Freeform 808"/>
              <p:cNvSpPr>
                <a:spLocks/>
              </p:cNvSpPr>
              <p:nvPr/>
            </p:nvSpPr>
            <p:spPr bwMode="auto">
              <a:xfrm>
                <a:off x="5229" y="2647"/>
                <a:ext cx="99" cy="59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40" name="Freeform 809"/>
              <p:cNvSpPr>
                <a:spLocks/>
              </p:cNvSpPr>
              <p:nvPr/>
            </p:nvSpPr>
            <p:spPr bwMode="auto">
              <a:xfrm>
                <a:off x="5030" y="2680"/>
                <a:ext cx="40" cy="54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41" name="Freeform 810"/>
              <p:cNvSpPr>
                <a:spLocks/>
              </p:cNvSpPr>
              <p:nvPr/>
            </p:nvSpPr>
            <p:spPr bwMode="auto">
              <a:xfrm>
                <a:off x="5311" y="2643"/>
                <a:ext cx="87" cy="73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32129" name="Picture 811" descr="access_point_stylized_gray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" y="3642"/>
              <a:ext cx="43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96" name="Group 812"/>
          <p:cNvGrpSpPr>
            <a:grpSpLocks/>
          </p:cNvGrpSpPr>
          <p:nvPr/>
        </p:nvGrpSpPr>
        <p:grpSpPr bwMode="auto">
          <a:xfrm>
            <a:off x="5638800" y="3509963"/>
            <a:ext cx="398463" cy="358775"/>
            <a:chOff x="5072" y="3611"/>
            <a:chExt cx="459" cy="380"/>
          </a:xfrm>
        </p:grpSpPr>
        <p:grpSp>
          <p:nvGrpSpPr>
            <p:cNvPr id="32114" name="Group 813"/>
            <p:cNvGrpSpPr>
              <a:grpSpLocks/>
            </p:cNvGrpSpPr>
            <p:nvPr/>
          </p:nvGrpSpPr>
          <p:grpSpPr bwMode="auto">
            <a:xfrm>
              <a:off x="5144" y="3611"/>
              <a:ext cx="387" cy="99"/>
              <a:chOff x="5030" y="2639"/>
              <a:chExt cx="387" cy="99"/>
            </a:xfrm>
          </p:grpSpPr>
          <p:sp>
            <p:nvSpPr>
              <p:cNvPr id="32116" name="Freeform 814"/>
              <p:cNvSpPr>
                <a:spLocks/>
              </p:cNvSpPr>
              <p:nvPr/>
            </p:nvSpPr>
            <p:spPr bwMode="auto">
              <a:xfrm>
                <a:off x="5134" y="2657"/>
                <a:ext cx="69" cy="55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17" name="Freeform 815"/>
              <p:cNvSpPr>
                <a:spLocks/>
              </p:cNvSpPr>
              <p:nvPr/>
            </p:nvSpPr>
            <p:spPr bwMode="auto">
              <a:xfrm>
                <a:off x="5252" y="2656"/>
                <a:ext cx="47" cy="42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18" name="Freeform 816"/>
              <p:cNvSpPr>
                <a:spLocks/>
              </p:cNvSpPr>
              <p:nvPr/>
            </p:nvSpPr>
            <p:spPr bwMode="auto">
              <a:xfrm>
                <a:off x="5089" y="2646"/>
                <a:ext cx="114" cy="88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19" name="Freeform 817"/>
              <p:cNvSpPr>
                <a:spLocks/>
              </p:cNvSpPr>
              <p:nvPr/>
            </p:nvSpPr>
            <p:spPr bwMode="auto">
              <a:xfrm>
                <a:off x="5250" y="2643"/>
                <a:ext cx="99" cy="59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0" name="Freeform 818"/>
              <p:cNvSpPr>
                <a:spLocks/>
              </p:cNvSpPr>
              <p:nvPr/>
            </p:nvSpPr>
            <p:spPr bwMode="auto">
              <a:xfrm>
                <a:off x="5047" y="2671"/>
                <a:ext cx="40" cy="55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1" name="Freeform 819"/>
              <p:cNvSpPr>
                <a:spLocks/>
              </p:cNvSpPr>
              <p:nvPr/>
            </p:nvSpPr>
            <p:spPr bwMode="auto">
              <a:xfrm>
                <a:off x="5330" y="2639"/>
                <a:ext cx="87" cy="73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2" name="Freeform 820"/>
              <p:cNvSpPr>
                <a:spLocks/>
              </p:cNvSpPr>
              <p:nvPr/>
            </p:nvSpPr>
            <p:spPr bwMode="auto">
              <a:xfrm>
                <a:off x="5115" y="2660"/>
                <a:ext cx="69" cy="55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3" name="Freeform 821"/>
              <p:cNvSpPr>
                <a:spLocks/>
              </p:cNvSpPr>
              <p:nvPr/>
            </p:nvSpPr>
            <p:spPr bwMode="auto">
              <a:xfrm>
                <a:off x="5233" y="2660"/>
                <a:ext cx="47" cy="42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4" name="Freeform 822"/>
              <p:cNvSpPr>
                <a:spLocks/>
              </p:cNvSpPr>
              <p:nvPr/>
            </p:nvSpPr>
            <p:spPr bwMode="auto">
              <a:xfrm>
                <a:off x="5070" y="2650"/>
                <a:ext cx="112" cy="88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5" name="Freeform 823"/>
              <p:cNvSpPr>
                <a:spLocks/>
              </p:cNvSpPr>
              <p:nvPr/>
            </p:nvSpPr>
            <p:spPr bwMode="auto">
              <a:xfrm>
                <a:off x="5229" y="2647"/>
                <a:ext cx="99" cy="59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6" name="Freeform 824"/>
              <p:cNvSpPr>
                <a:spLocks/>
              </p:cNvSpPr>
              <p:nvPr/>
            </p:nvSpPr>
            <p:spPr bwMode="auto">
              <a:xfrm>
                <a:off x="5030" y="2680"/>
                <a:ext cx="40" cy="54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7" name="Freeform 825"/>
              <p:cNvSpPr>
                <a:spLocks/>
              </p:cNvSpPr>
              <p:nvPr/>
            </p:nvSpPr>
            <p:spPr bwMode="auto">
              <a:xfrm>
                <a:off x="5311" y="2643"/>
                <a:ext cx="87" cy="73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32115" name="Picture 826" descr="access_point_stylized_gray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" y="3642"/>
              <a:ext cx="43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97" name="Line 827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98" name="Group 828"/>
          <p:cNvGrpSpPr>
            <a:grpSpLocks/>
          </p:cNvGrpSpPr>
          <p:nvPr/>
        </p:nvGrpSpPr>
        <p:grpSpPr bwMode="auto">
          <a:xfrm>
            <a:off x="5254625" y="2038350"/>
            <a:ext cx="504825" cy="401638"/>
            <a:chOff x="2896" y="396"/>
            <a:chExt cx="1848" cy="1887"/>
          </a:xfrm>
        </p:grpSpPr>
        <p:pic>
          <p:nvPicPr>
            <p:cNvPr id="32091" name="Picture 829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92" name="Freeform 830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93" name="Picture 831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94" name="Freeform 832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5" name="Freeform 833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6" name="Freeform 834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7" name="Freeform 835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8" name="Freeform 836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9" name="Freeform 837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0" name="Freeform 838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1" name="Freeform 839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2" name="Freeform 840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3" name="Freeform 841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4" name="Freeform 842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5" name="Freeform 843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6" name="Freeform 844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7" name="Freeform 845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08" name="Freeform 846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9" name="Freeform 847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10" name="Freeform 848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11" name="Freeform 849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12" name="Freeform 850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113" name="Picture 851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99" name="Group 852"/>
          <p:cNvGrpSpPr>
            <a:grpSpLocks/>
          </p:cNvGrpSpPr>
          <p:nvPr/>
        </p:nvGrpSpPr>
        <p:grpSpPr bwMode="auto">
          <a:xfrm>
            <a:off x="5537200" y="3054350"/>
            <a:ext cx="504825" cy="401638"/>
            <a:chOff x="2896" y="396"/>
            <a:chExt cx="1848" cy="1887"/>
          </a:xfrm>
        </p:grpSpPr>
        <p:pic>
          <p:nvPicPr>
            <p:cNvPr id="32068" name="Picture 853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69" name="Freeform 854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70" name="Picture 855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71" name="Freeform 856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2" name="Freeform 857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3" name="Freeform 858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4" name="Freeform 859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5" name="Freeform 860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6" name="Freeform 861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7" name="Freeform 862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8" name="Freeform 863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9" name="Freeform 864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0" name="Freeform 865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1" name="Freeform 866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2" name="Freeform 867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3" name="Freeform 868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4" name="Freeform 869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85" name="Freeform 870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6" name="Freeform 871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7" name="Freeform 872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8" name="Freeform 873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9" name="Freeform 874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90" name="Picture 875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800" name="Group 876"/>
          <p:cNvGrpSpPr>
            <a:grpSpLocks/>
          </p:cNvGrpSpPr>
          <p:nvPr/>
        </p:nvGrpSpPr>
        <p:grpSpPr bwMode="auto">
          <a:xfrm>
            <a:off x="6959600" y="5495925"/>
            <a:ext cx="504825" cy="401638"/>
            <a:chOff x="2896" y="396"/>
            <a:chExt cx="1848" cy="1887"/>
          </a:xfrm>
        </p:grpSpPr>
        <p:pic>
          <p:nvPicPr>
            <p:cNvPr id="32045" name="Picture 877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46" name="Freeform 878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47" name="Picture 879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48" name="Freeform 880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9" name="Freeform 881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0" name="Freeform 882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1" name="Freeform 883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2" name="Freeform 884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3" name="Freeform 885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4" name="Freeform 886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5" name="Freeform 887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6" name="Freeform 888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7" name="Freeform 889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8" name="Freeform 890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9" name="Freeform 891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0" name="Freeform 892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1" name="Freeform 893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62" name="Freeform 894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3" name="Freeform 895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4" name="Freeform 896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5" name="Freeform 897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6" name="Freeform 898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67" name="Picture 899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801" name="Group 900"/>
          <p:cNvGrpSpPr>
            <a:grpSpLocks/>
          </p:cNvGrpSpPr>
          <p:nvPr/>
        </p:nvGrpSpPr>
        <p:grpSpPr bwMode="auto">
          <a:xfrm>
            <a:off x="7378700" y="5524500"/>
            <a:ext cx="504825" cy="401638"/>
            <a:chOff x="2896" y="396"/>
            <a:chExt cx="1848" cy="1887"/>
          </a:xfrm>
        </p:grpSpPr>
        <p:pic>
          <p:nvPicPr>
            <p:cNvPr id="32022" name="Picture 901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23" name="Freeform 902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24" name="Picture 903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25" name="Freeform 904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26" name="Freeform 905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27" name="Freeform 906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28" name="Freeform 907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29" name="Freeform 908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0" name="Freeform 909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1" name="Freeform 910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2" name="Freeform 911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3" name="Freeform 912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4" name="Freeform 913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5" name="Freeform 914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6" name="Freeform 915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7" name="Freeform 916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8" name="Freeform 917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39" name="Freeform 918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0" name="Freeform 919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1" name="Freeform 920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2" name="Freeform 921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3" name="Freeform 922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44" name="Picture 923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802" name="Group 924"/>
          <p:cNvGrpSpPr>
            <a:grpSpLocks/>
          </p:cNvGrpSpPr>
          <p:nvPr/>
        </p:nvGrpSpPr>
        <p:grpSpPr bwMode="auto">
          <a:xfrm>
            <a:off x="5349875" y="1590675"/>
            <a:ext cx="617538" cy="387350"/>
            <a:chOff x="2920" y="972"/>
            <a:chExt cx="389" cy="244"/>
          </a:xfrm>
        </p:grpSpPr>
        <p:grpSp>
          <p:nvGrpSpPr>
            <p:cNvPr id="32010" name="Group 925"/>
            <p:cNvGrpSpPr>
              <a:grpSpLocks/>
            </p:cNvGrpSpPr>
            <p:nvPr/>
          </p:nvGrpSpPr>
          <p:grpSpPr bwMode="auto">
            <a:xfrm>
              <a:off x="3085" y="1027"/>
              <a:ext cx="102" cy="189"/>
              <a:chOff x="3436" y="1504"/>
              <a:chExt cx="393" cy="942"/>
            </a:xfrm>
          </p:grpSpPr>
          <p:pic>
            <p:nvPicPr>
              <p:cNvPr id="32012" name="Picture 926" descr="iphone_stylized_small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6" y="1504"/>
                <a:ext cx="393" cy="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013" name="Freeform 927"/>
              <p:cNvSpPr>
                <a:spLocks/>
              </p:cNvSpPr>
              <p:nvPr/>
            </p:nvSpPr>
            <p:spPr bwMode="auto">
              <a:xfrm>
                <a:off x="3484" y="1523"/>
                <a:ext cx="339" cy="906"/>
              </a:xfrm>
              <a:custGeom>
                <a:avLst/>
                <a:gdLst>
                  <a:gd name="T0" fmla="*/ 6 w 339"/>
                  <a:gd name="T1" fmla="*/ 31 h 906"/>
                  <a:gd name="T2" fmla="*/ 38 w 339"/>
                  <a:gd name="T3" fmla="*/ 0 h 906"/>
                  <a:gd name="T4" fmla="*/ 323 w 339"/>
                  <a:gd name="T5" fmla="*/ 45 h 906"/>
                  <a:gd name="T6" fmla="*/ 338 w 339"/>
                  <a:gd name="T7" fmla="*/ 85 h 906"/>
                  <a:gd name="T8" fmla="*/ 339 w 339"/>
                  <a:gd name="T9" fmla="*/ 813 h 906"/>
                  <a:gd name="T10" fmla="*/ 312 w 339"/>
                  <a:gd name="T11" fmla="*/ 865 h 906"/>
                  <a:gd name="T12" fmla="*/ 29 w 339"/>
                  <a:gd name="T13" fmla="*/ 906 h 906"/>
                  <a:gd name="T14" fmla="*/ 0 w 339"/>
                  <a:gd name="T15" fmla="*/ 876 h 906"/>
                  <a:gd name="T16" fmla="*/ 6 w 339"/>
                  <a:gd name="T17" fmla="*/ 31 h 90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39"/>
                  <a:gd name="T28" fmla="*/ 0 h 906"/>
                  <a:gd name="T29" fmla="*/ 339 w 339"/>
                  <a:gd name="T30" fmla="*/ 906 h 90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39" h="906">
                    <a:moveTo>
                      <a:pt x="6" y="31"/>
                    </a:moveTo>
                    <a:lnTo>
                      <a:pt x="38" y="0"/>
                    </a:lnTo>
                    <a:lnTo>
                      <a:pt x="323" y="45"/>
                    </a:lnTo>
                    <a:lnTo>
                      <a:pt x="338" y="85"/>
                    </a:lnTo>
                    <a:lnTo>
                      <a:pt x="339" y="813"/>
                    </a:lnTo>
                    <a:lnTo>
                      <a:pt x="312" y="865"/>
                    </a:lnTo>
                    <a:lnTo>
                      <a:pt x="29" y="906"/>
                    </a:lnTo>
                    <a:lnTo>
                      <a:pt x="0" y="876"/>
                    </a:lnTo>
                    <a:lnTo>
                      <a:pt x="6" y="3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82001"/>
                    </a:srgbClr>
                  </a:gs>
                  <a:gs pos="100000">
                    <a:srgbClr val="666666">
                      <a:alpha val="82001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014" name="Group 928"/>
              <p:cNvGrpSpPr>
                <a:grpSpLocks/>
              </p:cNvGrpSpPr>
              <p:nvPr/>
            </p:nvGrpSpPr>
            <p:grpSpPr bwMode="auto">
              <a:xfrm>
                <a:off x="3511" y="1689"/>
                <a:ext cx="289" cy="576"/>
                <a:chOff x="3511" y="1689"/>
                <a:chExt cx="289" cy="576"/>
              </a:xfrm>
            </p:grpSpPr>
            <p:sp>
              <p:nvSpPr>
                <p:cNvPr id="32015" name="Freeform 929"/>
                <p:cNvSpPr>
                  <a:spLocks/>
                </p:cNvSpPr>
                <p:nvPr/>
              </p:nvSpPr>
              <p:spPr bwMode="auto">
                <a:xfrm>
                  <a:off x="3519" y="2175"/>
                  <a:ext cx="66" cy="90"/>
                </a:xfrm>
                <a:custGeom>
                  <a:avLst/>
                  <a:gdLst>
                    <a:gd name="T0" fmla="*/ 0 w 66"/>
                    <a:gd name="T1" fmla="*/ 5 h 90"/>
                    <a:gd name="T2" fmla="*/ 66 w 66"/>
                    <a:gd name="T3" fmla="*/ 0 h 90"/>
                    <a:gd name="T4" fmla="*/ 65 w 66"/>
                    <a:gd name="T5" fmla="*/ 80 h 90"/>
                    <a:gd name="T6" fmla="*/ 2 w 66"/>
                    <a:gd name="T7" fmla="*/ 90 h 90"/>
                    <a:gd name="T8" fmla="*/ 0 w 66"/>
                    <a:gd name="T9" fmla="*/ 5 h 9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90"/>
                    <a:gd name="T17" fmla="*/ 66 w 66"/>
                    <a:gd name="T18" fmla="*/ 90 h 9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90">
                      <a:moveTo>
                        <a:pt x="0" y="5"/>
                      </a:moveTo>
                      <a:lnTo>
                        <a:pt x="66" y="0"/>
                      </a:lnTo>
                      <a:lnTo>
                        <a:pt x="65" y="80"/>
                      </a:lnTo>
                      <a:lnTo>
                        <a:pt x="2" y="9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6" name="Freeform 930"/>
                <p:cNvSpPr>
                  <a:spLocks/>
                </p:cNvSpPr>
                <p:nvPr/>
              </p:nvSpPr>
              <p:spPr bwMode="auto">
                <a:xfrm>
                  <a:off x="3593" y="2166"/>
                  <a:ext cx="69" cy="89"/>
                </a:xfrm>
                <a:custGeom>
                  <a:avLst/>
                  <a:gdLst>
                    <a:gd name="T0" fmla="*/ 3 w 69"/>
                    <a:gd name="T1" fmla="*/ 8 h 89"/>
                    <a:gd name="T2" fmla="*/ 66 w 69"/>
                    <a:gd name="T3" fmla="*/ 0 h 89"/>
                    <a:gd name="T4" fmla="*/ 69 w 69"/>
                    <a:gd name="T5" fmla="*/ 80 h 89"/>
                    <a:gd name="T6" fmla="*/ 0 w 69"/>
                    <a:gd name="T7" fmla="*/ 89 h 89"/>
                    <a:gd name="T8" fmla="*/ 3 w 69"/>
                    <a:gd name="T9" fmla="*/ 8 h 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89"/>
                    <a:gd name="T17" fmla="*/ 69 w 69"/>
                    <a:gd name="T18" fmla="*/ 89 h 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89">
                      <a:moveTo>
                        <a:pt x="3" y="8"/>
                      </a:moveTo>
                      <a:lnTo>
                        <a:pt x="66" y="0"/>
                      </a:lnTo>
                      <a:lnTo>
                        <a:pt x="69" y="80"/>
                      </a:lnTo>
                      <a:lnTo>
                        <a:pt x="0" y="89"/>
                      </a:lnTo>
                      <a:lnTo>
                        <a:pt x="3" y="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7" name="Freeform 931"/>
                <p:cNvSpPr>
                  <a:spLocks/>
                </p:cNvSpPr>
                <p:nvPr/>
              </p:nvSpPr>
              <p:spPr bwMode="auto">
                <a:xfrm>
                  <a:off x="3665" y="2162"/>
                  <a:ext cx="62" cy="82"/>
                </a:xfrm>
                <a:custGeom>
                  <a:avLst/>
                  <a:gdLst>
                    <a:gd name="T0" fmla="*/ 0 w 62"/>
                    <a:gd name="T1" fmla="*/ 6 h 82"/>
                    <a:gd name="T2" fmla="*/ 61 w 62"/>
                    <a:gd name="T3" fmla="*/ 0 h 82"/>
                    <a:gd name="T4" fmla="*/ 62 w 62"/>
                    <a:gd name="T5" fmla="*/ 75 h 82"/>
                    <a:gd name="T6" fmla="*/ 3 w 62"/>
                    <a:gd name="T7" fmla="*/ 82 h 82"/>
                    <a:gd name="T8" fmla="*/ 0 w 62"/>
                    <a:gd name="T9" fmla="*/ 6 h 8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"/>
                    <a:gd name="T16" fmla="*/ 0 h 82"/>
                    <a:gd name="T17" fmla="*/ 62 w 62"/>
                    <a:gd name="T18" fmla="*/ 82 h 8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" h="82">
                      <a:moveTo>
                        <a:pt x="0" y="6"/>
                      </a:moveTo>
                      <a:lnTo>
                        <a:pt x="61" y="0"/>
                      </a:lnTo>
                      <a:lnTo>
                        <a:pt x="62" y="75"/>
                      </a:lnTo>
                      <a:lnTo>
                        <a:pt x="3" y="82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8" name="Freeform 932"/>
                <p:cNvSpPr>
                  <a:spLocks/>
                </p:cNvSpPr>
                <p:nvPr/>
              </p:nvSpPr>
              <p:spPr bwMode="auto">
                <a:xfrm>
                  <a:off x="3734" y="2154"/>
                  <a:ext cx="66" cy="84"/>
                </a:xfrm>
                <a:custGeom>
                  <a:avLst/>
                  <a:gdLst>
                    <a:gd name="T0" fmla="*/ 1 w 66"/>
                    <a:gd name="T1" fmla="*/ 6 h 84"/>
                    <a:gd name="T2" fmla="*/ 66 w 66"/>
                    <a:gd name="T3" fmla="*/ 0 h 84"/>
                    <a:gd name="T4" fmla="*/ 63 w 66"/>
                    <a:gd name="T5" fmla="*/ 77 h 84"/>
                    <a:gd name="T6" fmla="*/ 0 w 66"/>
                    <a:gd name="T7" fmla="*/ 84 h 84"/>
                    <a:gd name="T8" fmla="*/ 1 w 66"/>
                    <a:gd name="T9" fmla="*/ 6 h 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84"/>
                    <a:gd name="T17" fmla="*/ 66 w 66"/>
                    <a:gd name="T18" fmla="*/ 84 h 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84">
                      <a:moveTo>
                        <a:pt x="1" y="6"/>
                      </a:moveTo>
                      <a:lnTo>
                        <a:pt x="66" y="0"/>
                      </a:lnTo>
                      <a:lnTo>
                        <a:pt x="63" y="77"/>
                      </a:lnTo>
                      <a:lnTo>
                        <a:pt x="0" y="84"/>
                      </a:ln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9" name="Rectangle 933"/>
                <p:cNvSpPr>
                  <a:spLocks noChangeArrowheads="1"/>
                </p:cNvSpPr>
                <p:nvPr/>
              </p:nvSpPr>
              <p:spPr bwMode="auto">
                <a:xfrm>
                  <a:off x="3513" y="1688"/>
                  <a:ext cx="54" cy="4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020" name="Rectangle 934"/>
                <p:cNvSpPr>
                  <a:spLocks noChangeArrowheads="1"/>
                </p:cNvSpPr>
                <p:nvPr/>
              </p:nvSpPr>
              <p:spPr bwMode="auto">
                <a:xfrm>
                  <a:off x="3501" y="1738"/>
                  <a:ext cx="92" cy="5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021" name="Freeform 935"/>
                <p:cNvSpPr>
                  <a:spLocks/>
                </p:cNvSpPr>
                <p:nvPr/>
              </p:nvSpPr>
              <p:spPr bwMode="auto">
                <a:xfrm>
                  <a:off x="3515" y="1794"/>
                  <a:ext cx="261" cy="204"/>
                </a:xfrm>
                <a:custGeom>
                  <a:avLst/>
                  <a:gdLst>
                    <a:gd name="T0" fmla="*/ 0 w 261"/>
                    <a:gd name="T1" fmla="*/ 0 h 204"/>
                    <a:gd name="T2" fmla="*/ 0 w 261"/>
                    <a:gd name="T3" fmla="*/ 204 h 204"/>
                    <a:gd name="T4" fmla="*/ 259 w 261"/>
                    <a:gd name="T5" fmla="*/ 201 h 204"/>
                    <a:gd name="T6" fmla="*/ 261 w 261"/>
                    <a:gd name="T7" fmla="*/ 12 h 204"/>
                    <a:gd name="T8" fmla="*/ 0 w 261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1"/>
                    <a:gd name="T16" fmla="*/ 0 h 204"/>
                    <a:gd name="T17" fmla="*/ 261 w 261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1" h="204">
                      <a:moveTo>
                        <a:pt x="0" y="0"/>
                      </a:moveTo>
                      <a:lnTo>
                        <a:pt x="0" y="204"/>
                      </a:lnTo>
                      <a:lnTo>
                        <a:pt x="259" y="201"/>
                      </a:lnTo>
                      <a:lnTo>
                        <a:pt x="261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pic>
          <p:nvPicPr>
            <p:cNvPr id="32011" name="Picture 936" descr="grayed_radiation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" y="972"/>
              <a:ext cx="389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1803" name="Picture 937" descr="car_grayed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838" y="1670050"/>
            <a:ext cx="7540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804" name="Group 938"/>
          <p:cNvGrpSpPr>
            <a:grpSpLocks/>
          </p:cNvGrpSpPr>
          <p:nvPr/>
        </p:nvGrpSpPr>
        <p:grpSpPr bwMode="auto">
          <a:xfrm>
            <a:off x="5662613" y="4538663"/>
            <a:ext cx="463550" cy="398462"/>
            <a:chOff x="3987" y="-51"/>
            <a:chExt cx="1252" cy="983"/>
          </a:xfrm>
        </p:grpSpPr>
        <p:pic>
          <p:nvPicPr>
            <p:cNvPr id="32008" name="Picture 939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09" name="Freeform 940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5 w 714"/>
                <a:gd name="T1" fmla="*/ 1 h 714"/>
                <a:gd name="T2" fmla="*/ 192 w 714"/>
                <a:gd name="T3" fmla="*/ 0 h 714"/>
                <a:gd name="T4" fmla="*/ 152 w 714"/>
                <a:gd name="T5" fmla="*/ 4 h 714"/>
                <a:gd name="T6" fmla="*/ 0 w 714"/>
                <a:gd name="T7" fmla="*/ 3 h 714"/>
                <a:gd name="T8" fmla="*/ 35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05" name="Group 941"/>
          <p:cNvGrpSpPr>
            <a:grpSpLocks/>
          </p:cNvGrpSpPr>
          <p:nvPr/>
        </p:nvGrpSpPr>
        <p:grpSpPr bwMode="auto">
          <a:xfrm>
            <a:off x="5500688" y="4938713"/>
            <a:ext cx="463550" cy="398462"/>
            <a:chOff x="3987" y="-51"/>
            <a:chExt cx="1252" cy="983"/>
          </a:xfrm>
        </p:grpSpPr>
        <p:pic>
          <p:nvPicPr>
            <p:cNvPr id="32006" name="Picture 942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07" name="Freeform 943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5 w 714"/>
                <a:gd name="T1" fmla="*/ 1 h 714"/>
                <a:gd name="T2" fmla="*/ 192 w 714"/>
                <a:gd name="T3" fmla="*/ 0 h 714"/>
                <a:gd name="T4" fmla="*/ 152 w 714"/>
                <a:gd name="T5" fmla="*/ 4 h 714"/>
                <a:gd name="T6" fmla="*/ 0 w 714"/>
                <a:gd name="T7" fmla="*/ 3 h 714"/>
                <a:gd name="T8" fmla="*/ 35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06" name="Group 944"/>
          <p:cNvGrpSpPr>
            <a:grpSpLocks/>
          </p:cNvGrpSpPr>
          <p:nvPr/>
        </p:nvGrpSpPr>
        <p:grpSpPr bwMode="auto">
          <a:xfrm>
            <a:off x="5957888" y="5186363"/>
            <a:ext cx="463550" cy="398462"/>
            <a:chOff x="3987" y="-51"/>
            <a:chExt cx="1252" cy="983"/>
          </a:xfrm>
        </p:grpSpPr>
        <p:pic>
          <p:nvPicPr>
            <p:cNvPr id="32004" name="Picture 945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05" name="Freeform 946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5 w 714"/>
                <a:gd name="T1" fmla="*/ 1 h 714"/>
                <a:gd name="T2" fmla="*/ 192 w 714"/>
                <a:gd name="T3" fmla="*/ 0 h 714"/>
                <a:gd name="T4" fmla="*/ 152 w 714"/>
                <a:gd name="T5" fmla="*/ 4 h 714"/>
                <a:gd name="T6" fmla="*/ 0 w 714"/>
                <a:gd name="T7" fmla="*/ 3 h 714"/>
                <a:gd name="T8" fmla="*/ 35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07" name="Group 947"/>
          <p:cNvGrpSpPr>
            <a:grpSpLocks/>
          </p:cNvGrpSpPr>
          <p:nvPr/>
        </p:nvGrpSpPr>
        <p:grpSpPr bwMode="auto">
          <a:xfrm>
            <a:off x="6396038" y="5224463"/>
            <a:ext cx="463550" cy="398462"/>
            <a:chOff x="3987" y="-51"/>
            <a:chExt cx="1252" cy="983"/>
          </a:xfrm>
        </p:grpSpPr>
        <p:pic>
          <p:nvPicPr>
            <p:cNvPr id="32002" name="Picture 948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03" name="Freeform 949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5 w 714"/>
                <a:gd name="T1" fmla="*/ 1 h 714"/>
                <a:gd name="T2" fmla="*/ 192 w 714"/>
                <a:gd name="T3" fmla="*/ 0 h 714"/>
                <a:gd name="T4" fmla="*/ 152 w 714"/>
                <a:gd name="T5" fmla="*/ 4 h 714"/>
                <a:gd name="T6" fmla="*/ 0 w 714"/>
                <a:gd name="T7" fmla="*/ 3 h 714"/>
                <a:gd name="T8" fmla="*/ 35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08" name="Group 950"/>
          <p:cNvGrpSpPr>
            <a:grpSpLocks/>
          </p:cNvGrpSpPr>
          <p:nvPr/>
        </p:nvGrpSpPr>
        <p:grpSpPr bwMode="auto">
          <a:xfrm>
            <a:off x="8186738" y="5014913"/>
            <a:ext cx="249237" cy="555625"/>
            <a:chOff x="1115" y="2770"/>
            <a:chExt cx="589" cy="1034"/>
          </a:xfrm>
        </p:grpSpPr>
        <p:sp>
          <p:nvSpPr>
            <p:cNvPr id="31970" name="Freeform 951"/>
            <p:cNvSpPr>
              <a:spLocks/>
            </p:cNvSpPr>
            <p:nvPr/>
          </p:nvSpPr>
          <p:spPr bwMode="auto">
            <a:xfrm>
              <a:off x="1581" y="2772"/>
              <a:ext cx="117" cy="986"/>
            </a:xfrm>
            <a:custGeom>
              <a:avLst/>
              <a:gdLst>
                <a:gd name="T0" fmla="*/ 0 w 354"/>
                <a:gd name="T1" fmla="*/ 0 h 2742"/>
                <a:gd name="T2" fmla="*/ 0 w 354"/>
                <a:gd name="T3" fmla="*/ 0 h 2742"/>
                <a:gd name="T4" fmla="*/ 0 w 354"/>
                <a:gd name="T5" fmla="*/ 0 h 2742"/>
                <a:gd name="T6" fmla="*/ 0 w 354"/>
                <a:gd name="T7" fmla="*/ 0 h 2742"/>
                <a:gd name="T8" fmla="*/ 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71" name="Rectangle 952"/>
            <p:cNvSpPr>
              <a:spLocks noChangeArrowheads="1"/>
            </p:cNvSpPr>
            <p:nvPr/>
          </p:nvSpPr>
          <p:spPr bwMode="auto">
            <a:xfrm>
              <a:off x="1141" y="2770"/>
              <a:ext cx="435" cy="98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C0C0C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72" name="Freeform 953"/>
            <p:cNvSpPr>
              <a:spLocks/>
            </p:cNvSpPr>
            <p:nvPr/>
          </p:nvSpPr>
          <p:spPr bwMode="auto">
            <a:xfrm>
              <a:off x="1603" y="2831"/>
              <a:ext cx="70" cy="913"/>
            </a:xfrm>
            <a:custGeom>
              <a:avLst/>
              <a:gdLst>
                <a:gd name="T0" fmla="*/ 0 w 211"/>
                <a:gd name="T1" fmla="*/ 0 h 2537"/>
                <a:gd name="T2" fmla="*/ 0 w 211"/>
                <a:gd name="T3" fmla="*/ 0 h 2537"/>
                <a:gd name="T4" fmla="*/ 0 w 211"/>
                <a:gd name="T5" fmla="*/ 0 h 2537"/>
                <a:gd name="T6" fmla="*/ 0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73" name="Freeform 954"/>
            <p:cNvSpPr>
              <a:spLocks/>
            </p:cNvSpPr>
            <p:nvPr/>
          </p:nvSpPr>
          <p:spPr bwMode="auto">
            <a:xfrm>
              <a:off x="1588" y="3293"/>
              <a:ext cx="109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74" name="Rectangle 955"/>
            <p:cNvSpPr>
              <a:spLocks noChangeArrowheads="1"/>
            </p:cNvSpPr>
            <p:nvPr/>
          </p:nvSpPr>
          <p:spPr bwMode="auto">
            <a:xfrm>
              <a:off x="1145" y="2885"/>
              <a:ext cx="248" cy="1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75" name="Group 956"/>
            <p:cNvGrpSpPr>
              <a:grpSpLocks/>
            </p:cNvGrpSpPr>
            <p:nvPr/>
          </p:nvGrpSpPr>
          <p:grpSpPr bwMode="auto">
            <a:xfrm>
              <a:off x="1367" y="2873"/>
              <a:ext cx="240" cy="63"/>
              <a:chOff x="614" y="2568"/>
              <a:chExt cx="725" cy="139"/>
            </a:xfrm>
          </p:grpSpPr>
          <p:sp>
            <p:nvSpPr>
              <p:cNvPr id="32000" name="AutoShape 957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001" name="AutoShape 958"/>
              <p:cNvSpPr>
                <a:spLocks noChangeArrowheads="1"/>
              </p:cNvSpPr>
              <p:nvPr/>
            </p:nvSpPr>
            <p:spPr bwMode="auto">
              <a:xfrm>
                <a:off x="623" y="2582"/>
                <a:ext cx="691" cy="10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76" name="Rectangle 959"/>
            <p:cNvSpPr>
              <a:spLocks noChangeArrowheads="1"/>
            </p:cNvSpPr>
            <p:nvPr/>
          </p:nvSpPr>
          <p:spPr bwMode="auto">
            <a:xfrm>
              <a:off x="1149" y="3024"/>
              <a:ext cx="248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77" name="Group 960"/>
            <p:cNvGrpSpPr>
              <a:grpSpLocks/>
            </p:cNvGrpSpPr>
            <p:nvPr/>
          </p:nvGrpSpPr>
          <p:grpSpPr bwMode="auto">
            <a:xfrm>
              <a:off x="1366" y="3014"/>
              <a:ext cx="240" cy="58"/>
              <a:chOff x="614" y="2568"/>
              <a:chExt cx="725" cy="139"/>
            </a:xfrm>
          </p:grpSpPr>
          <p:sp>
            <p:nvSpPr>
              <p:cNvPr id="31998" name="AutoShape 961"/>
              <p:cNvSpPr>
                <a:spLocks noChangeArrowheads="1"/>
              </p:cNvSpPr>
              <p:nvPr/>
            </p:nvSpPr>
            <p:spPr bwMode="auto">
              <a:xfrm>
                <a:off x="615" y="2571"/>
                <a:ext cx="725" cy="13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99" name="AutoShape 962"/>
              <p:cNvSpPr>
                <a:spLocks noChangeArrowheads="1"/>
              </p:cNvSpPr>
              <p:nvPr/>
            </p:nvSpPr>
            <p:spPr bwMode="auto">
              <a:xfrm>
                <a:off x="626" y="2585"/>
                <a:ext cx="691" cy="10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78" name="Rectangle 963"/>
            <p:cNvSpPr>
              <a:spLocks noChangeArrowheads="1"/>
            </p:cNvSpPr>
            <p:nvPr/>
          </p:nvSpPr>
          <p:spPr bwMode="auto">
            <a:xfrm>
              <a:off x="1149" y="3172"/>
              <a:ext cx="244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79" name="Rectangle 964"/>
            <p:cNvSpPr>
              <a:spLocks noChangeArrowheads="1"/>
            </p:cNvSpPr>
            <p:nvPr/>
          </p:nvSpPr>
          <p:spPr bwMode="auto">
            <a:xfrm>
              <a:off x="1153" y="3299"/>
              <a:ext cx="244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80" name="Group 965"/>
            <p:cNvGrpSpPr>
              <a:grpSpLocks/>
            </p:cNvGrpSpPr>
            <p:nvPr/>
          </p:nvGrpSpPr>
          <p:grpSpPr bwMode="auto">
            <a:xfrm>
              <a:off x="1361" y="3287"/>
              <a:ext cx="240" cy="65"/>
              <a:chOff x="614" y="2568"/>
              <a:chExt cx="725" cy="139"/>
            </a:xfrm>
          </p:grpSpPr>
          <p:sp>
            <p:nvSpPr>
              <p:cNvPr id="31996" name="AutoShape 966"/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97" name="AutoShape 967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1" cy="10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81" name="Freeform 968"/>
            <p:cNvSpPr>
              <a:spLocks/>
            </p:cNvSpPr>
            <p:nvPr/>
          </p:nvSpPr>
          <p:spPr bwMode="auto">
            <a:xfrm>
              <a:off x="1590" y="3169"/>
              <a:ext cx="108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982" name="Group 969"/>
            <p:cNvGrpSpPr>
              <a:grpSpLocks/>
            </p:cNvGrpSpPr>
            <p:nvPr/>
          </p:nvGrpSpPr>
          <p:grpSpPr bwMode="auto">
            <a:xfrm>
              <a:off x="1363" y="3158"/>
              <a:ext cx="240" cy="60"/>
              <a:chOff x="614" y="2568"/>
              <a:chExt cx="725" cy="139"/>
            </a:xfrm>
          </p:grpSpPr>
          <p:sp>
            <p:nvSpPr>
              <p:cNvPr id="31994" name="AutoShape 970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5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95" name="AutoShape 971"/>
              <p:cNvSpPr>
                <a:spLocks noChangeArrowheads="1"/>
              </p:cNvSpPr>
              <p:nvPr/>
            </p:nvSpPr>
            <p:spPr bwMode="auto">
              <a:xfrm>
                <a:off x="624" y="2579"/>
                <a:ext cx="691" cy="11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83" name="Rectangle 972"/>
            <p:cNvSpPr>
              <a:spLocks noChangeArrowheads="1"/>
            </p:cNvSpPr>
            <p:nvPr/>
          </p:nvSpPr>
          <p:spPr bwMode="auto">
            <a:xfrm>
              <a:off x="1573" y="2770"/>
              <a:ext cx="30" cy="9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84" name="Freeform 973"/>
            <p:cNvSpPr>
              <a:spLocks/>
            </p:cNvSpPr>
            <p:nvPr/>
          </p:nvSpPr>
          <p:spPr bwMode="auto">
            <a:xfrm>
              <a:off x="1599" y="3019"/>
              <a:ext cx="98" cy="92"/>
            </a:xfrm>
            <a:custGeom>
              <a:avLst/>
              <a:gdLst>
                <a:gd name="T0" fmla="*/ 0 w 296"/>
                <a:gd name="T1" fmla="*/ 0 h 256"/>
                <a:gd name="T2" fmla="*/ 0 w 296"/>
                <a:gd name="T3" fmla="*/ 0 h 256"/>
                <a:gd name="T4" fmla="*/ 0 w 296"/>
                <a:gd name="T5" fmla="*/ 0 h 256"/>
                <a:gd name="T6" fmla="*/ 0 w 296"/>
                <a:gd name="T7" fmla="*/ 0 h 256"/>
                <a:gd name="T8" fmla="*/ 0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5" name="Freeform 974"/>
            <p:cNvSpPr>
              <a:spLocks/>
            </p:cNvSpPr>
            <p:nvPr/>
          </p:nvSpPr>
          <p:spPr bwMode="auto">
            <a:xfrm>
              <a:off x="1601" y="2878"/>
              <a:ext cx="101" cy="104"/>
            </a:xfrm>
            <a:custGeom>
              <a:avLst/>
              <a:gdLst>
                <a:gd name="T0" fmla="*/ 0 w 304"/>
                <a:gd name="T1" fmla="*/ 0 h 288"/>
                <a:gd name="T2" fmla="*/ 0 w 304"/>
                <a:gd name="T3" fmla="*/ 0 h 288"/>
                <a:gd name="T4" fmla="*/ 0 w 304"/>
                <a:gd name="T5" fmla="*/ 0 h 288"/>
                <a:gd name="T6" fmla="*/ 0 w 304"/>
                <a:gd name="T7" fmla="*/ 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6" name="Oval 975"/>
            <p:cNvSpPr>
              <a:spLocks noChangeArrowheads="1"/>
            </p:cNvSpPr>
            <p:nvPr/>
          </p:nvSpPr>
          <p:spPr bwMode="auto">
            <a:xfrm>
              <a:off x="1685" y="3712"/>
              <a:ext cx="19" cy="4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87" name="Freeform 976"/>
            <p:cNvSpPr>
              <a:spLocks/>
            </p:cNvSpPr>
            <p:nvPr/>
          </p:nvSpPr>
          <p:spPr bwMode="auto">
            <a:xfrm>
              <a:off x="1595" y="3713"/>
              <a:ext cx="102" cy="86"/>
            </a:xfrm>
            <a:custGeom>
              <a:avLst/>
              <a:gdLst>
                <a:gd name="T0" fmla="*/ 0 w 306"/>
                <a:gd name="T1" fmla="*/ 0 h 240"/>
                <a:gd name="T2" fmla="*/ 0 w 306"/>
                <a:gd name="T3" fmla="*/ 0 h 240"/>
                <a:gd name="T4" fmla="*/ 0 w 306"/>
                <a:gd name="T5" fmla="*/ 0 h 240"/>
                <a:gd name="T6" fmla="*/ 0 w 306"/>
                <a:gd name="T7" fmla="*/ 0 h 240"/>
                <a:gd name="T8" fmla="*/ 0 w 30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88" name="AutoShape 977"/>
            <p:cNvSpPr>
              <a:spLocks noChangeArrowheads="1"/>
            </p:cNvSpPr>
            <p:nvPr/>
          </p:nvSpPr>
          <p:spPr bwMode="auto">
            <a:xfrm>
              <a:off x="1115" y="3742"/>
              <a:ext cx="495" cy="6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89" name="AutoShape 978"/>
            <p:cNvSpPr>
              <a:spLocks noChangeArrowheads="1"/>
            </p:cNvSpPr>
            <p:nvPr/>
          </p:nvSpPr>
          <p:spPr bwMode="auto">
            <a:xfrm>
              <a:off x="1141" y="3754"/>
              <a:ext cx="443" cy="3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90" name="Oval 979"/>
            <p:cNvSpPr>
              <a:spLocks noChangeArrowheads="1"/>
            </p:cNvSpPr>
            <p:nvPr/>
          </p:nvSpPr>
          <p:spPr bwMode="auto">
            <a:xfrm>
              <a:off x="1183" y="3612"/>
              <a:ext cx="68" cy="6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91" name="Oval 980"/>
            <p:cNvSpPr>
              <a:spLocks noChangeArrowheads="1"/>
            </p:cNvSpPr>
            <p:nvPr/>
          </p:nvSpPr>
          <p:spPr bwMode="auto">
            <a:xfrm>
              <a:off x="1258" y="3615"/>
              <a:ext cx="68" cy="59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31992" name="Oval 981"/>
            <p:cNvSpPr>
              <a:spLocks noChangeArrowheads="1"/>
            </p:cNvSpPr>
            <p:nvPr/>
          </p:nvSpPr>
          <p:spPr bwMode="auto">
            <a:xfrm>
              <a:off x="1333" y="3612"/>
              <a:ext cx="64" cy="6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93" name="Rectangle 982"/>
            <p:cNvSpPr>
              <a:spLocks noChangeArrowheads="1"/>
            </p:cNvSpPr>
            <p:nvPr/>
          </p:nvSpPr>
          <p:spPr bwMode="auto">
            <a:xfrm>
              <a:off x="1498" y="3376"/>
              <a:ext cx="34" cy="32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809" name="Group 983"/>
          <p:cNvGrpSpPr>
            <a:grpSpLocks/>
          </p:cNvGrpSpPr>
          <p:nvPr/>
        </p:nvGrpSpPr>
        <p:grpSpPr bwMode="auto">
          <a:xfrm>
            <a:off x="7900988" y="5224463"/>
            <a:ext cx="230187" cy="498475"/>
            <a:chOff x="1115" y="2770"/>
            <a:chExt cx="589" cy="1034"/>
          </a:xfrm>
        </p:grpSpPr>
        <p:sp>
          <p:nvSpPr>
            <p:cNvPr id="31938" name="Freeform 984"/>
            <p:cNvSpPr>
              <a:spLocks/>
            </p:cNvSpPr>
            <p:nvPr/>
          </p:nvSpPr>
          <p:spPr bwMode="auto">
            <a:xfrm>
              <a:off x="1581" y="2772"/>
              <a:ext cx="117" cy="986"/>
            </a:xfrm>
            <a:custGeom>
              <a:avLst/>
              <a:gdLst>
                <a:gd name="T0" fmla="*/ 0 w 354"/>
                <a:gd name="T1" fmla="*/ 0 h 2742"/>
                <a:gd name="T2" fmla="*/ 0 w 354"/>
                <a:gd name="T3" fmla="*/ 0 h 2742"/>
                <a:gd name="T4" fmla="*/ 0 w 354"/>
                <a:gd name="T5" fmla="*/ 0 h 2742"/>
                <a:gd name="T6" fmla="*/ 0 w 354"/>
                <a:gd name="T7" fmla="*/ 0 h 2742"/>
                <a:gd name="T8" fmla="*/ 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9" name="Rectangle 985"/>
            <p:cNvSpPr>
              <a:spLocks noChangeArrowheads="1"/>
            </p:cNvSpPr>
            <p:nvPr/>
          </p:nvSpPr>
          <p:spPr bwMode="auto">
            <a:xfrm>
              <a:off x="1143" y="2770"/>
              <a:ext cx="431" cy="985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C0C0C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40" name="Freeform 986"/>
            <p:cNvSpPr>
              <a:spLocks/>
            </p:cNvSpPr>
            <p:nvPr/>
          </p:nvSpPr>
          <p:spPr bwMode="auto">
            <a:xfrm>
              <a:off x="1603" y="2831"/>
              <a:ext cx="70" cy="913"/>
            </a:xfrm>
            <a:custGeom>
              <a:avLst/>
              <a:gdLst>
                <a:gd name="T0" fmla="*/ 0 w 211"/>
                <a:gd name="T1" fmla="*/ 0 h 2537"/>
                <a:gd name="T2" fmla="*/ 0 w 211"/>
                <a:gd name="T3" fmla="*/ 0 h 2537"/>
                <a:gd name="T4" fmla="*/ 0 w 211"/>
                <a:gd name="T5" fmla="*/ 0 h 2537"/>
                <a:gd name="T6" fmla="*/ 0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41" name="Freeform 987"/>
            <p:cNvSpPr>
              <a:spLocks/>
            </p:cNvSpPr>
            <p:nvPr/>
          </p:nvSpPr>
          <p:spPr bwMode="auto">
            <a:xfrm>
              <a:off x="1588" y="3293"/>
              <a:ext cx="109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42" name="Rectangle 988"/>
            <p:cNvSpPr>
              <a:spLocks noChangeArrowheads="1"/>
            </p:cNvSpPr>
            <p:nvPr/>
          </p:nvSpPr>
          <p:spPr bwMode="auto">
            <a:xfrm>
              <a:off x="1143" y="2885"/>
              <a:ext cx="248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43" name="Group 989"/>
            <p:cNvGrpSpPr>
              <a:grpSpLocks/>
            </p:cNvGrpSpPr>
            <p:nvPr/>
          </p:nvGrpSpPr>
          <p:grpSpPr bwMode="auto">
            <a:xfrm>
              <a:off x="1367" y="2873"/>
              <a:ext cx="240" cy="63"/>
              <a:chOff x="614" y="2568"/>
              <a:chExt cx="725" cy="139"/>
            </a:xfrm>
          </p:grpSpPr>
          <p:sp>
            <p:nvSpPr>
              <p:cNvPr id="31968" name="AutoShape 990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4" cy="13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69" name="AutoShape 991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699" cy="10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44" name="Rectangle 992"/>
            <p:cNvSpPr>
              <a:spLocks noChangeArrowheads="1"/>
            </p:cNvSpPr>
            <p:nvPr/>
          </p:nvSpPr>
          <p:spPr bwMode="auto">
            <a:xfrm>
              <a:off x="1152" y="3024"/>
              <a:ext cx="244" cy="23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45" name="Group 993"/>
            <p:cNvGrpSpPr>
              <a:grpSpLocks/>
            </p:cNvGrpSpPr>
            <p:nvPr/>
          </p:nvGrpSpPr>
          <p:grpSpPr bwMode="auto">
            <a:xfrm>
              <a:off x="1366" y="3014"/>
              <a:ext cx="240" cy="58"/>
              <a:chOff x="614" y="2568"/>
              <a:chExt cx="725" cy="139"/>
            </a:xfrm>
          </p:grpSpPr>
          <p:sp>
            <p:nvSpPr>
              <p:cNvPr id="31966" name="AutoShape 99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67" name="AutoShape 995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9" cy="11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46" name="Rectangle 996"/>
            <p:cNvSpPr>
              <a:spLocks noChangeArrowheads="1"/>
            </p:cNvSpPr>
            <p:nvPr/>
          </p:nvSpPr>
          <p:spPr bwMode="auto">
            <a:xfrm>
              <a:off x="1147" y="3172"/>
              <a:ext cx="244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47" name="Rectangle 997"/>
            <p:cNvSpPr>
              <a:spLocks noChangeArrowheads="1"/>
            </p:cNvSpPr>
            <p:nvPr/>
          </p:nvSpPr>
          <p:spPr bwMode="auto">
            <a:xfrm>
              <a:off x="1152" y="3300"/>
              <a:ext cx="248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48" name="Group 998"/>
            <p:cNvGrpSpPr>
              <a:grpSpLocks/>
            </p:cNvGrpSpPr>
            <p:nvPr/>
          </p:nvGrpSpPr>
          <p:grpSpPr bwMode="auto">
            <a:xfrm>
              <a:off x="1361" y="3287"/>
              <a:ext cx="240" cy="65"/>
              <a:chOff x="614" y="2568"/>
              <a:chExt cx="725" cy="139"/>
            </a:xfrm>
          </p:grpSpPr>
          <p:sp>
            <p:nvSpPr>
              <p:cNvPr id="31964" name="AutoShape 999"/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65" name="AutoShape 1000"/>
              <p:cNvSpPr>
                <a:spLocks noChangeArrowheads="1"/>
              </p:cNvSpPr>
              <p:nvPr/>
            </p:nvSpPr>
            <p:spPr bwMode="auto">
              <a:xfrm>
                <a:off x="632" y="2582"/>
                <a:ext cx="699" cy="11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49" name="Freeform 1001"/>
            <p:cNvSpPr>
              <a:spLocks/>
            </p:cNvSpPr>
            <p:nvPr/>
          </p:nvSpPr>
          <p:spPr bwMode="auto">
            <a:xfrm>
              <a:off x="1590" y="3169"/>
              <a:ext cx="108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950" name="Group 1002"/>
            <p:cNvGrpSpPr>
              <a:grpSpLocks/>
            </p:cNvGrpSpPr>
            <p:nvPr/>
          </p:nvGrpSpPr>
          <p:grpSpPr bwMode="auto">
            <a:xfrm>
              <a:off x="1363" y="3158"/>
              <a:ext cx="240" cy="60"/>
              <a:chOff x="614" y="2568"/>
              <a:chExt cx="725" cy="139"/>
            </a:xfrm>
          </p:grpSpPr>
          <p:sp>
            <p:nvSpPr>
              <p:cNvPr id="31962" name="AutoShape 1003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63" name="AutoShape 1004"/>
              <p:cNvSpPr>
                <a:spLocks noChangeArrowheads="1"/>
              </p:cNvSpPr>
              <p:nvPr/>
            </p:nvSpPr>
            <p:spPr bwMode="auto">
              <a:xfrm>
                <a:off x="626" y="2585"/>
                <a:ext cx="699" cy="10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51" name="Rectangle 1005"/>
            <p:cNvSpPr>
              <a:spLocks noChangeArrowheads="1"/>
            </p:cNvSpPr>
            <p:nvPr/>
          </p:nvSpPr>
          <p:spPr bwMode="auto">
            <a:xfrm>
              <a:off x="1574" y="2770"/>
              <a:ext cx="28" cy="9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2" name="Freeform 1006"/>
            <p:cNvSpPr>
              <a:spLocks/>
            </p:cNvSpPr>
            <p:nvPr/>
          </p:nvSpPr>
          <p:spPr bwMode="auto">
            <a:xfrm>
              <a:off x="1599" y="3019"/>
              <a:ext cx="98" cy="92"/>
            </a:xfrm>
            <a:custGeom>
              <a:avLst/>
              <a:gdLst>
                <a:gd name="T0" fmla="*/ 0 w 296"/>
                <a:gd name="T1" fmla="*/ 0 h 256"/>
                <a:gd name="T2" fmla="*/ 0 w 296"/>
                <a:gd name="T3" fmla="*/ 0 h 256"/>
                <a:gd name="T4" fmla="*/ 0 w 296"/>
                <a:gd name="T5" fmla="*/ 0 h 256"/>
                <a:gd name="T6" fmla="*/ 0 w 296"/>
                <a:gd name="T7" fmla="*/ 0 h 256"/>
                <a:gd name="T8" fmla="*/ 0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53" name="Freeform 1007"/>
            <p:cNvSpPr>
              <a:spLocks/>
            </p:cNvSpPr>
            <p:nvPr/>
          </p:nvSpPr>
          <p:spPr bwMode="auto">
            <a:xfrm>
              <a:off x="1601" y="2878"/>
              <a:ext cx="101" cy="104"/>
            </a:xfrm>
            <a:custGeom>
              <a:avLst/>
              <a:gdLst>
                <a:gd name="T0" fmla="*/ 0 w 304"/>
                <a:gd name="T1" fmla="*/ 0 h 288"/>
                <a:gd name="T2" fmla="*/ 0 w 304"/>
                <a:gd name="T3" fmla="*/ 0 h 288"/>
                <a:gd name="T4" fmla="*/ 0 w 304"/>
                <a:gd name="T5" fmla="*/ 0 h 288"/>
                <a:gd name="T6" fmla="*/ 0 w 304"/>
                <a:gd name="T7" fmla="*/ 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54" name="Oval 1008"/>
            <p:cNvSpPr>
              <a:spLocks noChangeArrowheads="1"/>
            </p:cNvSpPr>
            <p:nvPr/>
          </p:nvSpPr>
          <p:spPr bwMode="auto">
            <a:xfrm>
              <a:off x="1684" y="3712"/>
              <a:ext cx="20" cy="4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5" name="Freeform 1009"/>
            <p:cNvSpPr>
              <a:spLocks/>
            </p:cNvSpPr>
            <p:nvPr/>
          </p:nvSpPr>
          <p:spPr bwMode="auto">
            <a:xfrm>
              <a:off x="1595" y="3713"/>
              <a:ext cx="102" cy="86"/>
            </a:xfrm>
            <a:custGeom>
              <a:avLst/>
              <a:gdLst>
                <a:gd name="T0" fmla="*/ 0 w 306"/>
                <a:gd name="T1" fmla="*/ 0 h 240"/>
                <a:gd name="T2" fmla="*/ 0 w 306"/>
                <a:gd name="T3" fmla="*/ 0 h 240"/>
                <a:gd name="T4" fmla="*/ 0 w 306"/>
                <a:gd name="T5" fmla="*/ 0 h 240"/>
                <a:gd name="T6" fmla="*/ 0 w 306"/>
                <a:gd name="T7" fmla="*/ 0 h 240"/>
                <a:gd name="T8" fmla="*/ 0 w 30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56" name="AutoShape 1010"/>
            <p:cNvSpPr>
              <a:spLocks noChangeArrowheads="1"/>
            </p:cNvSpPr>
            <p:nvPr/>
          </p:nvSpPr>
          <p:spPr bwMode="auto">
            <a:xfrm>
              <a:off x="1115" y="3741"/>
              <a:ext cx="496" cy="6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7" name="AutoShape 1011"/>
            <p:cNvSpPr>
              <a:spLocks noChangeArrowheads="1"/>
            </p:cNvSpPr>
            <p:nvPr/>
          </p:nvSpPr>
          <p:spPr bwMode="auto">
            <a:xfrm>
              <a:off x="1143" y="3755"/>
              <a:ext cx="443" cy="3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8" name="Oval 1012"/>
            <p:cNvSpPr>
              <a:spLocks noChangeArrowheads="1"/>
            </p:cNvSpPr>
            <p:nvPr/>
          </p:nvSpPr>
          <p:spPr bwMode="auto">
            <a:xfrm>
              <a:off x="1184" y="3613"/>
              <a:ext cx="65" cy="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9" name="Oval 1013"/>
            <p:cNvSpPr>
              <a:spLocks noChangeArrowheads="1"/>
            </p:cNvSpPr>
            <p:nvPr/>
          </p:nvSpPr>
          <p:spPr bwMode="auto">
            <a:xfrm>
              <a:off x="1257" y="3613"/>
              <a:ext cx="65" cy="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31960" name="Oval 1014"/>
            <p:cNvSpPr>
              <a:spLocks noChangeArrowheads="1"/>
            </p:cNvSpPr>
            <p:nvPr/>
          </p:nvSpPr>
          <p:spPr bwMode="auto">
            <a:xfrm>
              <a:off x="1330" y="3613"/>
              <a:ext cx="65" cy="59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61" name="Rectangle 1015"/>
            <p:cNvSpPr>
              <a:spLocks noChangeArrowheads="1"/>
            </p:cNvSpPr>
            <p:nvPr/>
          </p:nvSpPr>
          <p:spPr bwMode="auto">
            <a:xfrm>
              <a:off x="1497" y="3376"/>
              <a:ext cx="32" cy="3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810" name="Group 1016"/>
          <p:cNvGrpSpPr>
            <a:grpSpLocks/>
          </p:cNvGrpSpPr>
          <p:nvPr/>
        </p:nvGrpSpPr>
        <p:grpSpPr bwMode="auto">
          <a:xfrm>
            <a:off x="7389813" y="3911600"/>
            <a:ext cx="506412" cy="209550"/>
            <a:chOff x="4655" y="2464"/>
            <a:chExt cx="319" cy="132"/>
          </a:xfrm>
        </p:grpSpPr>
        <p:grpSp>
          <p:nvGrpSpPr>
            <p:cNvPr id="31921" name="Group 1017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93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93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93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933" name="Group 102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936" name="Freeform 102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37" name="Freeform 102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934" name="Line 102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35" name="Line 102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922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923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924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925" name="Group 1029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928" name="Freeform 103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29" name="Freeform 103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926" name="Line 1032"/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27" name="Line 1033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1" name="Group 1034"/>
          <p:cNvGrpSpPr>
            <a:grpSpLocks/>
          </p:cNvGrpSpPr>
          <p:nvPr/>
        </p:nvGrpSpPr>
        <p:grpSpPr bwMode="auto">
          <a:xfrm>
            <a:off x="7081838" y="3629025"/>
            <a:ext cx="506412" cy="209550"/>
            <a:chOff x="4655" y="2464"/>
            <a:chExt cx="319" cy="132"/>
          </a:xfrm>
        </p:grpSpPr>
        <p:grpSp>
          <p:nvGrpSpPr>
            <p:cNvPr id="31904" name="Group 1035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91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91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91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916" name="Group 103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919" name="Freeform 104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20" name="Freeform 104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917" name="Line 104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8" name="Line 104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905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906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907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908" name="Group 1047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911" name="Freeform 104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2" name="Freeform 104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909" name="Line 1050"/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0" name="Line 1051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2" name="Group 1052"/>
          <p:cNvGrpSpPr>
            <a:grpSpLocks/>
          </p:cNvGrpSpPr>
          <p:nvPr/>
        </p:nvGrpSpPr>
        <p:grpSpPr bwMode="auto">
          <a:xfrm>
            <a:off x="7732713" y="3641725"/>
            <a:ext cx="506412" cy="209550"/>
            <a:chOff x="4655" y="2464"/>
            <a:chExt cx="319" cy="132"/>
          </a:xfrm>
        </p:grpSpPr>
        <p:grpSp>
          <p:nvGrpSpPr>
            <p:cNvPr id="31887" name="Group 1053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9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9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9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99" name="Group 105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902" name="Freeform 105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03" name="Freeform 105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900" name="Line 106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1" name="Line 106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88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89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90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91" name="Group 1065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94" name="Freeform 106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5" name="Freeform 106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92" name="Line 1068"/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3" name="Line 1069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3" name="Group 1070"/>
          <p:cNvGrpSpPr>
            <a:grpSpLocks/>
          </p:cNvGrpSpPr>
          <p:nvPr/>
        </p:nvGrpSpPr>
        <p:grpSpPr bwMode="auto">
          <a:xfrm>
            <a:off x="7202488" y="2486025"/>
            <a:ext cx="392112" cy="180975"/>
            <a:chOff x="4655" y="2464"/>
            <a:chExt cx="319" cy="132"/>
          </a:xfrm>
        </p:grpSpPr>
        <p:grpSp>
          <p:nvGrpSpPr>
            <p:cNvPr id="31870" name="Group 1071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7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8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8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82" name="Group 107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885" name="Freeform 107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6" name="Freeform 107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83" name="Line 107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4" name="Line 107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71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72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73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74" name="Group 1083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77" name="Freeform 108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8" name="Freeform 108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75" name="Line 1086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6" name="Line 1087"/>
            <p:cNvSpPr>
              <a:spLocks noChangeShapeType="1"/>
            </p:cNvSpPr>
            <p:nvPr/>
          </p:nvSpPr>
          <p:spPr bwMode="auto">
            <a:xfrm>
              <a:off x="4971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4" name="Group 1088"/>
          <p:cNvGrpSpPr>
            <a:grpSpLocks/>
          </p:cNvGrpSpPr>
          <p:nvPr/>
        </p:nvGrpSpPr>
        <p:grpSpPr bwMode="auto">
          <a:xfrm>
            <a:off x="7205663" y="2752725"/>
            <a:ext cx="407987" cy="180975"/>
            <a:chOff x="4655" y="2464"/>
            <a:chExt cx="319" cy="132"/>
          </a:xfrm>
        </p:grpSpPr>
        <p:grpSp>
          <p:nvGrpSpPr>
            <p:cNvPr id="31853" name="Group 1089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6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6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6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65" name="Group 109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868" name="Freeform 109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9" name="Freeform 109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66" name="Line 109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7" name="Line 109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54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55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56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57" name="Group 1101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60" name="Freeform 110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1" name="Freeform 110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58" name="Line 1104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9" name="Line 1105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5" name="Group 1106"/>
          <p:cNvGrpSpPr>
            <a:grpSpLocks/>
          </p:cNvGrpSpPr>
          <p:nvPr/>
        </p:nvGrpSpPr>
        <p:grpSpPr bwMode="auto">
          <a:xfrm>
            <a:off x="7758113" y="2749550"/>
            <a:ext cx="407987" cy="180975"/>
            <a:chOff x="4655" y="2464"/>
            <a:chExt cx="319" cy="132"/>
          </a:xfrm>
        </p:grpSpPr>
        <p:grpSp>
          <p:nvGrpSpPr>
            <p:cNvPr id="31836" name="Group 1107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4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4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4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48" name="Group 111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851" name="Freeform 111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52" name="Freeform 111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49" name="Line 111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0" name="Line 111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37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38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39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40" name="Group 1119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43" name="Freeform 112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4" name="Freeform 112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41" name="Line 1122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2" name="Line 1123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6" name="Group 1124"/>
          <p:cNvGrpSpPr>
            <a:grpSpLocks/>
          </p:cNvGrpSpPr>
          <p:nvPr/>
        </p:nvGrpSpPr>
        <p:grpSpPr bwMode="auto">
          <a:xfrm>
            <a:off x="7688263" y="2390775"/>
            <a:ext cx="392112" cy="180975"/>
            <a:chOff x="4655" y="2464"/>
            <a:chExt cx="319" cy="132"/>
          </a:xfrm>
        </p:grpSpPr>
        <p:grpSp>
          <p:nvGrpSpPr>
            <p:cNvPr id="31819" name="Group 1125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2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2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3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31" name="Group 112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834" name="Freeform 113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5" name="Freeform 113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32" name="Line 113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3" name="Line 113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20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21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22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23" name="Group 1137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26" name="Freeform 1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7" name="Freeform 1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24" name="Line 1140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5" name="Line 1141"/>
            <p:cNvSpPr>
              <a:spLocks noChangeShapeType="1"/>
            </p:cNvSpPr>
            <p:nvPr/>
          </p:nvSpPr>
          <p:spPr bwMode="auto">
            <a:xfrm>
              <a:off x="4971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1817" name="Picture 1142" descr="underline_base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0398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1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7AF7188D-90D0-4C39-86AF-C067DC9FC5B2}" type="slidenum">
              <a:rPr lang="en-US" sz="1200" smtClean="0">
                <a:latin typeface="Tahoma" pitchFamily="34" charset="0"/>
              </a:rPr>
              <a:pPr/>
              <a:t>24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pic>
        <p:nvPicPr>
          <p:cNvPr id="32771" name="Picture 4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9128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1300" y="280988"/>
            <a:ext cx="8193088" cy="833437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Packet-switching: store-and-forward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438" y="3486150"/>
            <a:ext cx="4143375" cy="3262313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takes </a:t>
            </a:r>
            <a:r>
              <a:rPr lang="en-US" sz="2400" i="1" smtClean="0">
                <a:ea typeface="ＭＳ Ｐゴシック" pitchFamily="34" charset="-128"/>
              </a:rPr>
              <a:t>L</a:t>
            </a:r>
            <a:r>
              <a:rPr lang="en-US" sz="2400" smtClean="0">
                <a:ea typeface="ＭＳ Ｐゴシック" pitchFamily="34" charset="-128"/>
              </a:rPr>
              <a:t>/</a:t>
            </a:r>
            <a:r>
              <a:rPr lang="en-US" sz="2400" i="1" smtClean="0">
                <a:ea typeface="ＭＳ Ｐゴシック" pitchFamily="34" charset="-128"/>
              </a:rPr>
              <a:t>R</a:t>
            </a:r>
            <a:r>
              <a:rPr lang="en-US" sz="2400" smtClean="0">
                <a:ea typeface="ＭＳ Ｐゴシック" pitchFamily="34" charset="-128"/>
              </a:rPr>
              <a:t> seconds to transmit (push out) </a:t>
            </a:r>
            <a:r>
              <a:rPr lang="en-US" sz="2400" i="1" smtClean="0">
                <a:ea typeface="ＭＳ Ｐゴシック" pitchFamily="34" charset="-128"/>
              </a:rPr>
              <a:t>L</a:t>
            </a:r>
            <a:r>
              <a:rPr lang="en-US" sz="2400" smtClean="0">
                <a:ea typeface="ＭＳ Ｐゴシック" pitchFamily="34" charset="-128"/>
              </a:rPr>
              <a:t>-bit packet into link at </a:t>
            </a:r>
            <a:r>
              <a:rPr lang="en-US" sz="2400" i="1" smtClean="0">
                <a:ea typeface="ＭＳ Ｐゴシック" pitchFamily="34" charset="-128"/>
              </a:rPr>
              <a:t>R</a:t>
            </a:r>
            <a:r>
              <a:rPr lang="en-US" sz="2400" smtClean="0">
                <a:ea typeface="ＭＳ Ｐゴシック" pitchFamily="34" charset="-128"/>
              </a:rPr>
              <a:t> bps</a:t>
            </a:r>
          </a:p>
          <a:p>
            <a:pPr eaLnBrk="1" hangingPunct="1"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store and forward:</a:t>
            </a:r>
            <a:r>
              <a:rPr lang="en-US" sz="2400" i="1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z="2400" smtClean="0">
                <a:ea typeface="ＭＳ Ｐゴシック" pitchFamily="34" charset="-128"/>
              </a:rPr>
              <a:t>entire packet must  arrive at router before it can be transmitted on next link</a:t>
            </a:r>
          </a:p>
        </p:txBody>
      </p:sp>
      <p:sp>
        <p:nvSpPr>
          <p:cNvPr id="3277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56238" y="3602038"/>
            <a:ext cx="3514725" cy="2232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smtClean="0">
                <a:solidFill>
                  <a:srgbClr val="000099"/>
                </a:solidFill>
                <a:ea typeface="ＭＳ Ｐゴシック" pitchFamily="34" charset="-128"/>
              </a:rPr>
              <a:t>one-hop numerical example:</a:t>
            </a:r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§"/>
            </a:pPr>
            <a:r>
              <a:rPr lang="en-US" sz="2400" i="1" smtClean="0">
                <a:ea typeface="ＭＳ Ｐゴシック" pitchFamily="34" charset="-128"/>
              </a:rPr>
              <a:t>L</a:t>
            </a:r>
            <a:r>
              <a:rPr lang="en-US" sz="2400" smtClean="0">
                <a:ea typeface="ＭＳ Ｐゴシック" pitchFamily="34" charset="-128"/>
              </a:rPr>
              <a:t> = 7.5 Mbits</a:t>
            </a:r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§"/>
            </a:pPr>
            <a:r>
              <a:rPr lang="en-US" sz="2400" i="1" smtClean="0">
                <a:ea typeface="ＭＳ Ｐゴシック" pitchFamily="34" charset="-128"/>
              </a:rPr>
              <a:t>R</a:t>
            </a:r>
            <a:r>
              <a:rPr lang="en-US" sz="2400" smtClean="0">
                <a:ea typeface="ＭＳ Ｐゴシック" pitchFamily="34" charset="-128"/>
              </a:rPr>
              <a:t> = 1.5 Mbps</a:t>
            </a:r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one-hop transmission delay = 5 sec</a:t>
            </a:r>
          </a:p>
        </p:txBody>
      </p:sp>
      <p:sp>
        <p:nvSpPr>
          <p:cNvPr id="32775" name="AutoShape 42"/>
          <p:cNvSpPr>
            <a:spLocks/>
          </p:cNvSpPr>
          <p:nvPr/>
        </p:nvSpPr>
        <p:spPr bwMode="auto">
          <a:xfrm>
            <a:off x="4975225" y="5695950"/>
            <a:ext cx="152400" cy="728663"/>
          </a:xfrm>
          <a:prstGeom prst="rightBrace">
            <a:avLst>
              <a:gd name="adj1" fmla="val 5011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776" name="Text Box 43"/>
          <p:cNvSpPr txBox="1">
            <a:spLocks noChangeArrowheads="1"/>
          </p:cNvSpPr>
          <p:nvPr/>
        </p:nvSpPr>
        <p:spPr bwMode="auto">
          <a:xfrm>
            <a:off x="5121275" y="5999163"/>
            <a:ext cx="2797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more on delay shortly …</a:t>
            </a:r>
          </a:p>
        </p:txBody>
      </p:sp>
      <p:sp>
        <p:nvSpPr>
          <p:cNvPr id="3277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1-</a:t>
            </a:r>
            <a:fld id="{D85D8B97-5AF8-4E8F-A34E-241D7D385A67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25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2650" y="2679700"/>
            <a:ext cx="658813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source</a:t>
            </a:r>
          </a:p>
        </p:txBody>
      </p:sp>
      <p:grpSp>
        <p:nvGrpSpPr>
          <p:cNvPr id="32779" name="Group 41"/>
          <p:cNvGrpSpPr>
            <a:grpSpLocks/>
          </p:cNvGrpSpPr>
          <p:nvPr/>
        </p:nvGrpSpPr>
        <p:grpSpPr bwMode="auto">
          <a:xfrm>
            <a:off x="1630363" y="2768600"/>
            <a:ext cx="1057275" cy="420688"/>
            <a:chOff x="1816230" y="6118900"/>
            <a:chExt cx="1843339" cy="739100"/>
          </a:xfrm>
        </p:grpSpPr>
        <p:pic>
          <p:nvPicPr>
            <p:cNvPr id="32840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" name="Rectangle 100"/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800" smtClean="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cxnSp>
        <p:nvCxnSpPr>
          <p:cNvPr id="32780" name="Straight Connector 42"/>
          <p:cNvCxnSpPr>
            <a:cxnSpLocks noChangeShapeType="1"/>
          </p:cNvCxnSpPr>
          <p:nvPr/>
        </p:nvCxnSpPr>
        <p:spPr bwMode="auto">
          <a:xfrm flipV="1">
            <a:off x="2576513" y="2874963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781" name="Group 43"/>
          <p:cNvGrpSpPr>
            <a:grpSpLocks/>
          </p:cNvGrpSpPr>
          <p:nvPr/>
        </p:nvGrpSpPr>
        <p:grpSpPr bwMode="auto">
          <a:xfrm>
            <a:off x="3922713" y="2687638"/>
            <a:ext cx="1058862" cy="384175"/>
            <a:chOff x="5142253" y="5649029"/>
            <a:chExt cx="1304545" cy="695633"/>
          </a:xfrm>
        </p:grpSpPr>
        <p:grpSp>
          <p:nvGrpSpPr>
            <p:cNvPr id="32833" name="Group 92"/>
            <p:cNvGrpSpPr>
              <a:grpSpLocks/>
            </p:cNvGrpSpPr>
            <p:nvPr/>
          </p:nvGrpSpPr>
          <p:grpSpPr bwMode="auto"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32836" name="Picture 95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837" name="Rectangle 96"/>
              <p:cNvSpPr>
                <a:spLocks noChangeArrowheads="1"/>
              </p:cNvSpPr>
              <p:nvPr/>
            </p:nvSpPr>
            <p:spPr bwMode="auto"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32838" name="Rectangle 97"/>
              <p:cNvSpPr>
                <a:spLocks noChangeArrowheads="1"/>
              </p:cNvSpPr>
              <p:nvPr/>
            </p:nvSpPr>
            <p:spPr bwMode="auto"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32839" name="Oval 98"/>
              <p:cNvSpPr>
                <a:spLocks noChangeArrowheads="1"/>
              </p:cNvSpPr>
              <p:nvPr/>
            </p:nvSpPr>
            <p:spPr bwMode="auto"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32834" name="Rectangle 93"/>
            <p:cNvSpPr>
              <a:spLocks noChangeArrowheads="1"/>
            </p:cNvSpPr>
            <p:nvPr/>
          </p:nvSpPr>
          <p:spPr bwMode="auto"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  <p:sp>
          <p:nvSpPr>
            <p:cNvPr id="32835" name="Rectangle 94"/>
            <p:cNvSpPr>
              <a:spLocks noChangeArrowheads="1"/>
            </p:cNvSpPr>
            <p:nvPr/>
          </p:nvSpPr>
          <p:spPr bwMode="auto"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grpSp>
        <p:nvGrpSpPr>
          <p:cNvPr id="32782" name="Group 44"/>
          <p:cNvGrpSpPr>
            <a:grpSpLocks/>
          </p:cNvGrpSpPr>
          <p:nvPr/>
        </p:nvGrpSpPr>
        <p:grpSpPr bwMode="auto">
          <a:xfrm>
            <a:off x="3876675" y="1608138"/>
            <a:ext cx="1092200" cy="303212"/>
            <a:chOff x="5128542" y="4838701"/>
            <a:chExt cx="1300833" cy="530211"/>
          </a:xfrm>
        </p:grpSpPr>
        <p:pic>
          <p:nvPicPr>
            <p:cNvPr id="32830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831" name="Rectangle 90"/>
            <p:cNvSpPr>
              <a:spLocks noChangeArrowheads="1"/>
            </p:cNvSpPr>
            <p:nvPr/>
          </p:nvSpPr>
          <p:spPr bwMode="auto"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  <p:sp>
          <p:nvSpPr>
            <p:cNvPr id="32832" name="Rectangle 91"/>
            <p:cNvSpPr>
              <a:spLocks noChangeArrowheads="1"/>
            </p:cNvSpPr>
            <p:nvPr/>
          </p:nvSpPr>
          <p:spPr bwMode="auto"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grpSp>
        <p:nvGrpSpPr>
          <p:cNvPr id="32783" name="Group 45"/>
          <p:cNvGrpSpPr>
            <a:grpSpLocks/>
          </p:cNvGrpSpPr>
          <p:nvPr/>
        </p:nvGrpSpPr>
        <p:grpSpPr bwMode="auto">
          <a:xfrm>
            <a:off x="1735138" y="1196975"/>
            <a:ext cx="1150937" cy="730250"/>
            <a:chOff x="2387973" y="4309243"/>
            <a:chExt cx="1771787" cy="1282262"/>
          </a:xfrm>
        </p:grpSpPr>
        <p:pic>
          <p:nvPicPr>
            <p:cNvPr id="32826" name="Picture 9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Rectangle 88"/>
            <p:cNvSpPr/>
            <p:nvPr/>
          </p:nvSpPr>
          <p:spPr>
            <a:xfrm rot="11601822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800" smtClean="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935288" y="2908300"/>
            <a:ext cx="566737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  <p:cxnSp>
        <p:nvCxnSpPr>
          <p:cNvPr id="32785" name="Straight Connector 47"/>
          <p:cNvCxnSpPr>
            <a:cxnSpLocks noChangeShapeType="1"/>
          </p:cNvCxnSpPr>
          <p:nvPr/>
        </p:nvCxnSpPr>
        <p:spPr bwMode="auto">
          <a:xfrm flipV="1">
            <a:off x="4967288" y="2879725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786" name="Group 100"/>
          <p:cNvGrpSpPr>
            <a:grpSpLocks/>
          </p:cNvGrpSpPr>
          <p:nvPr/>
        </p:nvGrpSpPr>
        <p:grpSpPr bwMode="auto">
          <a:xfrm>
            <a:off x="5945188" y="2071688"/>
            <a:ext cx="1477962" cy="1284287"/>
            <a:chOff x="-44" y="1473"/>
            <a:chExt cx="981" cy="1105"/>
          </a:xfrm>
        </p:grpSpPr>
        <p:pic>
          <p:nvPicPr>
            <p:cNvPr id="32824" name="Picture 101" descr="desktop_computer_stylized_medium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Freeform 102"/>
            <p:cNvSpPr>
              <a:spLocks/>
            </p:cNvSpPr>
            <p:nvPr/>
          </p:nvSpPr>
          <p:spPr bwMode="auto">
            <a:xfrm flipH="1">
              <a:off x="374" y="1580"/>
              <a:ext cx="474" cy="505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kern="0">
                <a:solidFill>
                  <a:prstClr val="black"/>
                </a:solidFill>
                <a:latin typeface="Calibri"/>
                <a:ea typeface="+mn-ea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7427913" y="2778125"/>
            <a:ext cx="1012825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destination</a:t>
            </a:r>
          </a:p>
        </p:txBody>
      </p:sp>
      <p:sp>
        <p:nvSpPr>
          <p:cNvPr id="32788" name="TextBox 52"/>
          <p:cNvSpPr txBox="1">
            <a:spLocks noChangeArrowheads="1"/>
          </p:cNvSpPr>
          <p:nvPr/>
        </p:nvSpPr>
        <p:spPr bwMode="auto">
          <a:xfrm>
            <a:off x="2395538" y="2574925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2789" name="TextBox 53"/>
          <p:cNvSpPr txBox="1">
            <a:spLocks noChangeArrowheads="1"/>
          </p:cNvSpPr>
          <p:nvPr/>
        </p:nvSpPr>
        <p:spPr bwMode="auto">
          <a:xfrm>
            <a:off x="2198688" y="2581275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2790" name="TextBox 54"/>
          <p:cNvSpPr txBox="1">
            <a:spLocks noChangeArrowheads="1"/>
          </p:cNvSpPr>
          <p:nvPr/>
        </p:nvSpPr>
        <p:spPr bwMode="auto">
          <a:xfrm>
            <a:off x="2011363" y="2578100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Calibri" pitchFamily="34" charset="0"/>
              </a:rPr>
              <a:t>3</a:t>
            </a:r>
          </a:p>
        </p:txBody>
      </p:sp>
      <p:grpSp>
        <p:nvGrpSpPr>
          <p:cNvPr id="32791" name="Group 55"/>
          <p:cNvGrpSpPr>
            <a:grpSpLocks/>
          </p:cNvGrpSpPr>
          <p:nvPr/>
        </p:nvGrpSpPr>
        <p:grpSpPr bwMode="auto">
          <a:xfrm>
            <a:off x="1744663" y="1873250"/>
            <a:ext cx="2935287" cy="841375"/>
            <a:chOff x="593766" y="5264055"/>
            <a:chExt cx="3597129" cy="1011695"/>
          </a:xfrm>
        </p:grpSpPr>
        <p:grpSp>
          <p:nvGrpSpPr>
            <p:cNvPr id="32795" name="Group 56"/>
            <p:cNvGrpSpPr>
              <a:grpSpLocks/>
            </p:cNvGrpSpPr>
            <p:nvPr/>
          </p:nvGrpSpPr>
          <p:grpSpPr bwMode="auto">
            <a:xfrm>
              <a:off x="3527077" y="5264055"/>
              <a:ext cx="617671" cy="927313"/>
              <a:chOff x="2105936" y="5387204"/>
              <a:chExt cx="617671" cy="927313"/>
            </a:xfrm>
          </p:grpSpPr>
          <p:sp>
            <p:nvSpPr>
              <p:cNvPr id="32816" name="Rectangle 77"/>
              <p:cNvSpPr>
                <a:spLocks noChangeArrowheads="1"/>
              </p:cNvSpPr>
              <p:nvPr/>
            </p:nvSpPr>
            <p:spPr bwMode="auto"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32820" name="Straight Connector 81"/>
              <p:cNvCxnSpPr>
                <a:cxnSpLocks noChangeShapeType="1"/>
                <a:stCxn id="81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21" name="Straight Connector 82"/>
              <p:cNvCxnSpPr>
                <a:cxnSpLocks noChangeShapeType="1"/>
                <a:endCxn id="81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22" name="Straight Connector 83"/>
              <p:cNvCxnSpPr>
                <a:cxnSpLocks noChangeShapeType="1"/>
                <a:endCxn id="81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23" name="Straight Connector 84"/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2796" name="Group 57"/>
            <p:cNvGrpSpPr>
              <a:grpSpLocks/>
            </p:cNvGrpSpPr>
            <p:nvPr/>
          </p:nvGrpSpPr>
          <p:grpSpPr bwMode="auto">
            <a:xfrm>
              <a:off x="1326802" y="5273580"/>
              <a:ext cx="617671" cy="927313"/>
              <a:chOff x="2105936" y="5387204"/>
              <a:chExt cx="617671" cy="927313"/>
            </a:xfrm>
          </p:grpSpPr>
          <p:sp>
            <p:nvSpPr>
              <p:cNvPr id="70" name="Freeform 69"/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71" name="Freeform 70"/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32810" name="Rectangle 71"/>
              <p:cNvSpPr>
                <a:spLocks noChangeArrowheads="1"/>
              </p:cNvSpPr>
              <p:nvPr/>
            </p:nvSpPr>
            <p:spPr bwMode="auto"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32812" name="Straight Connector 73"/>
              <p:cNvCxnSpPr>
                <a:cxnSpLocks noChangeShapeType="1"/>
                <a:stCxn id="73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3" name="Straight Connector 74"/>
              <p:cNvCxnSpPr>
                <a:cxnSpLocks noChangeShapeType="1"/>
                <a:endCxn id="73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4" name="Straight Connector 75"/>
              <p:cNvCxnSpPr>
                <a:cxnSpLocks noChangeShapeType="1"/>
                <a:endCxn id="73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5" name="Straight Connector 76"/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2797" name="Group 58"/>
            <p:cNvGrpSpPr>
              <a:grpSpLocks/>
            </p:cNvGrpSpPr>
            <p:nvPr/>
          </p:nvGrpSpPr>
          <p:grpSpPr bwMode="auto">
            <a:xfrm>
              <a:off x="971797" y="5294415"/>
              <a:ext cx="605641" cy="915203"/>
              <a:chOff x="335231" y="4405745"/>
              <a:chExt cx="1252537" cy="2138362"/>
            </a:xfrm>
          </p:grpSpPr>
          <p:sp>
            <p:nvSpPr>
              <p:cNvPr id="67" name="Freeform 66"/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32807" name="Rectangle 68"/>
              <p:cNvSpPr>
                <a:spLocks noChangeArrowheads="1"/>
              </p:cNvSpPr>
              <p:nvPr/>
            </p:nvSpPr>
            <p:spPr bwMode="auto"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32798" name="Rectangle 59"/>
            <p:cNvSpPr>
              <a:spLocks noChangeArrowheads="1"/>
            </p:cNvSpPr>
            <p:nvPr/>
          </p:nvSpPr>
          <p:spPr bwMode="auto"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  <p:sp>
          <p:nvSpPr>
            <p:cNvPr id="32799" name="Right Arrow 60"/>
            <p:cNvSpPr>
              <a:spLocks noChangeArrowheads="1"/>
            </p:cNvSpPr>
            <p:nvPr/>
          </p:nvSpPr>
          <p:spPr bwMode="auto">
            <a:xfrm>
              <a:off x="2556720" y="6056232"/>
              <a:ext cx="266527" cy="219518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  <p:grpSp>
          <p:nvGrpSpPr>
            <p:cNvPr id="32800" name="Group 61"/>
            <p:cNvGrpSpPr>
              <a:grpSpLocks/>
            </p:cNvGrpSpPr>
            <p:nvPr/>
          </p:nvGrpSpPr>
          <p:grpSpPr bwMode="auto">
            <a:xfrm>
              <a:off x="593766" y="5284519"/>
              <a:ext cx="605641" cy="915203"/>
              <a:chOff x="335231" y="4405745"/>
              <a:chExt cx="1252537" cy="2138362"/>
            </a:xfrm>
          </p:grpSpPr>
          <p:sp>
            <p:nvSpPr>
              <p:cNvPr id="64" name="Freeform 63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32804" name="Rectangle 65"/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32801" name="Right Arrow 62"/>
            <p:cNvSpPr>
              <a:spLocks noChangeArrowheads="1"/>
            </p:cNvSpPr>
            <p:nvPr/>
          </p:nvSpPr>
          <p:spPr bwMode="auto">
            <a:xfrm rot="-5245926">
              <a:off x="3947358" y="5684800"/>
              <a:ext cx="267240" cy="219835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541338" y="1903413"/>
            <a:ext cx="11811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L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bits</a:t>
            </a:r>
          </a:p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per packet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34000" y="2898775"/>
            <a:ext cx="566738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  <p:sp>
        <p:nvSpPr>
          <p:cNvPr id="32794" name="Rectangle 3"/>
          <p:cNvSpPr txBox="1">
            <a:spLocks noChangeArrowheads="1"/>
          </p:cNvSpPr>
          <p:nvPr/>
        </p:nvSpPr>
        <p:spPr bwMode="auto">
          <a:xfrm>
            <a:off x="582613" y="5711825"/>
            <a:ext cx="460216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end-end delay = 2</a:t>
            </a:r>
            <a:r>
              <a:rPr lang="en-US" i="1">
                <a:latin typeface="Gill Sans MT" pitchFamily="34" charset="0"/>
              </a:rPr>
              <a:t>L</a:t>
            </a:r>
            <a:r>
              <a:rPr lang="en-US">
                <a:latin typeface="Gill Sans MT" pitchFamily="34" charset="0"/>
              </a:rPr>
              <a:t>/</a:t>
            </a:r>
            <a:r>
              <a:rPr lang="en-US" i="1">
                <a:latin typeface="Gill Sans MT" pitchFamily="34" charset="0"/>
              </a:rPr>
              <a:t>R</a:t>
            </a:r>
            <a:r>
              <a:rPr lang="en-US">
                <a:latin typeface="Gill Sans MT" pitchFamily="34" charset="0"/>
              </a:rPr>
              <a:t> (assuming zero propagation delay)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28"/>
          <p:cNvGrpSpPr>
            <a:grpSpLocks/>
          </p:cNvGrpSpPr>
          <p:nvPr/>
        </p:nvGrpSpPr>
        <p:grpSpPr bwMode="auto">
          <a:xfrm>
            <a:off x="2303463" y="2090738"/>
            <a:ext cx="1187450" cy="554037"/>
            <a:chOff x="4650" y="1129"/>
            <a:chExt cx="246" cy="95"/>
          </a:xfrm>
        </p:grpSpPr>
        <p:sp>
          <p:nvSpPr>
            <p:cNvPr id="3386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6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387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3871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33874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5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72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3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95" name="Group 105"/>
          <p:cNvGrpSpPr>
            <a:grpSpLocks/>
          </p:cNvGrpSpPr>
          <p:nvPr/>
        </p:nvGrpSpPr>
        <p:grpSpPr bwMode="auto">
          <a:xfrm>
            <a:off x="6764338" y="2314575"/>
            <a:ext cx="779462" cy="679450"/>
            <a:chOff x="-44" y="1473"/>
            <a:chExt cx="981" cy="1105"/>
          </a:xfrm>
        </p:grpSpPr>
        <p:pic>
          <p:nvPicPr>
            <p:cNvPr id="33866" name="Picture 106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67" name="Freeform 10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379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413" y="130175"/>
            <a:ext cx="8447087" cy="1143000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Packet Switching: queueing delay, loss</a:t>
            </a:r>
            <a:endParaRPr lang="en-US" sz="4000" smtClean="0">
              <a:ea typeface="ＭＳ Ｐゴシック" pitchFamily="34" charset="-128"/>
            </a:endParaRPr>
          </a:p>
        </p:txBody>
      </p:sp>
      <p:sp>
        <p:nvSpPr>
          <p:cNvPr id="33798" name="Line 230"/>
          <p:cNvSpPr>
            <a:spLocks noChangeShapeType="1"/>
          </p:cNvSpPr>
          <p:nvPr/>
        </p:nvSpPr>
        <p:spPr bwMode="auto">
          <a:xfrm>
            <a:off x="3467100" y="2303463"/>
            <a:ext cx="0" cy="228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276"/>
          <p:cNvSpPr>
            <a:spLocks noChangeShapeType="1"/>
          </p:cNvSpPr>
          <p:nvPr/>
        </p:nvSpPr>
        <p:spPr bwMode="auto">
          <a:xfrm>
            <a:off x="1590675" y="1971675"/>
            <a:ext cx="744538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277"/>
          <p:cNvSpPr>
            <a:spLocks noChangeShapeType="1"/>
          </p:cNvSpPr>
          <p:nvPr/>
        </p:nvSpPr>
        <p:spPr bwMode="auto">
          <a:xfrm flipV="1">
            <a:off x="1735138" y="2457450"/>
            <a:ext cx="57785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Line 278"/>
          <p:cNvSpPr>
            <a:spLocks noChangeShapeType="1"/>
          </p:cNvSpPr>
          <p:nvPr/>
        </p:nvSpPr>
        <p:spPr bwMode="auto">
          <a:xfrm>
            <a:off x="3432175" y="2398713"/>
            <a:ext cx="20161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Line 279"/>
          <p:cNvSpPr>
            <a:spLocks noChangeShapeType="1"/>
          </p:cNvSpPr>
          <p:nvPr/>
        </p:nvSpPr>
        <p:spPr bwMode="auto">
          <a:xfrm flipH="1" flipV="1">
            <a:off x="6035675" y="2581275"/>
            <a:ext cx="9525" cy="363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3" name="Line 280"/>
          <p:cNvSpPr>
            <a:spLocks noChangeShapeType="1"/>
          </p:cNvSpPr>
          <p:nvPr/>
        </p:nvSpPr>
        <p:spPr bwMode="auto">
          <a:xfrm flipV="1">
            <a:off x="6508750" y="2030413"/>
            <a:ext cx="604838" cy="307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4" name="Rectangle 287"/>
          <p:cNvSpPr>
            <a:spLocks noChangeArrowheads="1"/>
          </p:cNvSpPr>
          <p:nvPr/>
        </p:nvSpPr>
        <p:spPr bwMode="auto">
          <a:xfrm>
            <a:off x="3630613" y="21859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5" name="Rectangle 288"/>
          <p:cNvSpPr>
            <a:spLocks noChangeArrowheads="1"/>
          </p:cNvSpPr>
          <p:nvPr/>
        </p:nvSpPr>
        <p:spPr bwMode="auto">
          <a:xfrm>
            <a:off x="3792538" y="21859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Rectangle 289"/>
          <p:cNvSpPr>
            <a:spLocks noChangeArrowheads="1"/>
          </p:cNvSpPr>
          <p:nvPr/>
        </p:nvSpPr>
        <p:spPr bwMode="auto">
          <a:xfrm>
            <a:off x="3954463" y="21859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Rectangle 290"/>
          <p:cNvSpPr>
            <a:spLocks noChangeArrowheads="1"/>
          </p:cNvSpPr>
          <p:nvPr/>
        </p:nvSpPr>
        <p:spPr bwMode="auto">
          <a:xfrm>
            <a:off x="4116388" y="21859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Rectangle 291"/>
          <p:cNvSpPr>
            <a:spLocks noChangeArrowheads="1"/>
          </p:cNvSpPr>
          <p:nvPr/>
        </p:nvSpPr>
        <p:spPr bwMode="auto">
          <a:xfrm>
            <a:off x="4278313" y="21859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Rectangle 292"/>
          <p:cNvSpPr>
            <a:spLocks noChangeArrowheads="1"/>
          </p:cNvSpPr>
          <p:nvPr/>
        </p:nvSpPr>
        <p:spPr bwMode="auto">
          <a:xfrm>
            <a:off x="4649788" y="21859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Rectangle 293"/>
          <p:cNvSpPr>
            <a:spLocks noChangeArrowheads="1"/>
          </p:cNvSpPr>
          <p:nvPr/>
        </p:nvSpPr>
        <p:spPr bwMode="auto">
          <a:xfrm>
            <a:off x="5087938" y="218122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811" name="Group 311"/>
          <p:cNvGrpSpPr>
            <a:grpSpLocks/>
          </p:cNvGrpSpPr>
          <p:nvPr/>
        </p:nvGrpSpPr>
        <p:grpSpPr bwMode="auto">
          <a:xfrm>
            <a:off x="2786063" y="2262188"/>
            <a:ext cx="633412" cy="200025"/>
            <a:chOff x="1800" y="1425"/>
            <a:chExt cx="399" cy="126"/>
          </a:xfrm>
        </p:grpSpPr>
        <p:sp>
          <p:nvSpPr>
            <p:cNvPr id="33862" name="Rectangle 294"/>
            <p:cNvSpPr>
              <a:spLocks noChangeArrowheads="1"/>
            </p:cNvSpPr>
            <p:nvPr/>
          </p:nvSpPr>
          <p:spPr bwMode="auto">
            <a:xfrm>
              <a:off x="1800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63" name="Rectangle 295"/>
            <p:cNvSpPr>
              <a:spLocks noChangeArrowheads="1"/>
            </p:cNvSpPr>
            <p:nvPr/>
          </p:nvSpPr>
          <p:spPr bwMode="auto">
            <a:xfrm>
              <a:off x="1902" y="142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64" name="Rectangle 296"/>
            <p:cNvSpPr>
              <a:spLocks noChangeArrowheads="1"/>
            </p:cNvSpPr>
            <p:nvPr/>
          </p:nvSpPr>
          <p:spPr bwMode="auto">
            <a:xfrm>
              <a:off x="2004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65" name="Rectangle 297"/>
            <p:cNvSpPr>
              <a:spLocks noChangeArrowheads="1"/>
            </p:cNvSpPr>
            <p:nvPr/>
          </p:nvSpPr>
          <p:spPr bwMode="auto">
            <a:xfrm>
              <a:off x="2106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12" name="Rectangle 298"/>
          <p:cNvSpPr>
            <a:spLocks noChangeArrowheads="1"/>
          </p:cNvSpPr>
          <p:nvPr/>
        </p:nvSpPr>
        <p:spPr bwMode="auto">
          <a:xfrm>
            <a:off x="2128838" y="21621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3" name="Rectangle 299"/>
          <p:cNvSpPr>
            <a:spLocks noChangeArrowheads="1"/>
          </p:cNvSpPr>
          <p:nvPr/>
        </p:nvSpPr>
        <p:spPr bwMode="auto">
          <a:xfrm>
            <a:off x="1909763" y="27336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4" name="Line 300"/>
          <p:cNvSpPr>
            <a:spLocks noChangeShapeType="1"/>
          </p:cNvSpPr>
          <p:nvPr/>
        </p:nvSpPr>
        <p:spPr bwMode="auto">
          <a:xfrm>
            <a:off x="2090738" y="2111375"/>
            <a:ext cx="246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5" name="Line 301"/>
          <p:cNvSpPr>
            <a:spLocks noChangeShapeType="1"/>
          </p:cNvSpPr>
          <p:nvPr/>
        </p:nvSpPr>
        <p:spPr bwMode="auto">
          <a:xfrm flipV="1">
            <a:off x="2092325" y="2582863"/>
            <a:ext cx="174625" cy="180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Line 302"/>
          <p:cNvSpPr>
            <a:spLocks noChangeShapeType="1"/>
          </p:cNvSpPr>
          <p:nvPr/>
        </p:nvSpPr>
        <p:spPr bwMode="auto">
          <a:xfrm>
            <a:off x="4011613" y="2076450"/>
            <a:ext cx="1062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7" name="Text Box 303"/>
          <p:cNvSpPr txBox="1">
            <a:spLocks noChangeArrowheads="1"/>
          </p:cNvSpPr>
          <p:nvPr/>
        </p:nvSpPr>
        <p:spPr bwMode="auto">
          <a:xfrm>
            <a:off x="749300" y="16335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33818" name="Text Box 304"/>
          <p:cNvSpPr txBox="1">
            <a:spLocks noChangeArrowheads="1"/>
          </p:cNvSpPr>
          <p:nvPr/>
        </p:nvSpPr>
        <p:spPr bwMode="auto">
          <a:xfrm>
            <a:off x="889000" y="26082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33819" name="Text Box 305"/>
          <p:cNvSpPr txBox="1">
            <a:spLocks noChangeArrowheads="1"/>
          </p:cNvSpPr>
          <p:nvPr/>
        </p:nvSpPr>
        <p:spPr bwMode="auto">
          <a:xfrm>
            <a:off x="6604000" y="1465263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C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0" name="Text Box 308"/>
          <p:cNvSpPr txBox="1">
            <a:spLocks noChangeArrowheads="1"/>
          </p:cNvSpPr>
          <p:nvPr/>
        </p:nvSpPr>
        <p:spPr bwMode="auto">
          <a:xfrm>
            <a:off x="1636713" y="1585913"/>
            <a:ext cx="1563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 i="1"/>
              <a:t>R</a:t>
            </a:r>
            <a:r>
              <a:rPr lang="en-US" sz="1800"/>
              <a:t> = 100 Mb/s</a:t>
            </a:r>
          </a:p>
        </p:txBody>
      </p:sp>
      <p:sp>
        <p:nvSpPr>
          <p:cNvPr id="33821" name="Text Box 309"/>
          <p:cNvSpPr txBox="1">
            <a:spLocks noChangeArrowheads="1"/>
          </p:cNvSpPr>
          <p:nvPr/>
        </p:nvSpPr>
        <p:spPr bwMode="auto">
          <a:xfrm>
            <a:off x="3625850" y="2438400"/>
            <a:ext cx="1641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 i="1"/>
              <a:t>R</a:t>
            </a:r>
            <a:r>
              <a:rPr lang="en-US" sz="2000"/>
              <a:t> = 1.5 Mb/s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2" name="Text Box 310"/>
          <p:cNvSpPr txBox="1">
            <a:spLocks noChangeArrowheads="1"/>
          </p:cNvSpPr>
          <p:nvPr/>
        </p:nvSpPr>
        <p:spPr bwMode="auto">
          <a:xfrm>
            <a:off x="6022975" y="29940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3" name="Line 281"/>
          <p:cNvSpPr>
            <a:spLocks noChangeShapeType="1"/>
          </p:cNvSpPr>
          <p:nvPr/>
        </p:nvSpPr>
        <p:spPr bwMode="auto">
          <a:xfrm flipV="1">
            <a:off x="6662738" y="3146425"/>
            <a:ext cx="984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24" name="Line 283"/>
          <p:cNvSpPr>
            <a:spLocks noChangeShapeType="1"/>
          </p:cNvSpPr>
          <p:nvPr/>
        </p:nvSpPr>
        <p:spPr bwMode="auto">
          <a:xfrm flipH="1">
            <a:off x="6638925" y="2849563"/>
            <a:ext cx="379413" cy="225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25" name="Text Box 306"/>
          <p:cNvSpPr txBox="1">
            <a:spLocks noChangeArrowheads="1"/>
          </p:cNvSpPr>
          <p:nvPr/>
        </p:nvSpPr>
        <p:spPr bwMode="auto">
          <a:xfrm>
            <a:off x="7556500" y="222408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D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6" name="Text Box 307"/>
          <p:cNvSpPr txBox="1">
            <a:spLocks noChangeArrowheads="1"/>
          </p:cNvSpPr>
          <p:nvPr/>
        </p:nvSpPr>
        <p:spPr bwMode="auto">
          <a:xfrm>
            <a:off x="8299450" y="28400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E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7" name="Text Box 330"/>
          <p:cNvSpPr txBox="1">
            <a:spLocks noChangeArrowheads="1"/>
          </p:cNvSpPr>
          <p:nvPr/>
        </p:nvSpPr>
        <p:spPr bwMode="auto">
          <a:xfrm>
            <a:off x="2051050" y="2984500"/>
            <a:ext cx="2354263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/>
              <a:t>queue of packets</a:t>
            </a:r>
          </a:p>
          <a:p>
            <a:pPr algn="ctr">
              <a:lnSpc>
                <a:spcPct val="85000"/>
              </a:lnSpc>
            </a:pPr>
            <a:r>
              <a:rPr lang="en-US" sz="1800"/>
              <a:t>waiting for output link</a:t>
            </a:r>
            <a:endParaRPr lang="en-US" sz="1800">
              <a:solidFill>
                <a:schemeClr val="accent1"/>
              </a:solidFill>
            </a:endParaRPr>
          </a:p>
        </p:txBody>
      </p:sp>
      <p:sp>
        <p:nvSpPr>
          <p:cNvPr id="33828" name="Line 332"/>
          <p:cNvSpPr>
            <a:spLocks noChangeShapeType="1"/>
          </p:cNvSpPr>
          <p:nvPr/>
        </p:nvSpPr>
        <p:spPr bwMode="auto">
          <a:xfrm flipV="1">
            <a:off x="2890838" y="2514600"/>
            <a:ext cx="166687" cy="52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829" name="Group 96"/>
          <p:cNvGrpSpPr>
            <a:grpSpLocks/>
          </p:cNvGrpSpPr>
          <p:nvPr/>
        </p:nvGrpSpPr>
        <p:grpSpPr bwMode="auto">
          <a:xfrm>
            <a:off x="898525" y="1651000"/>
            <a:ext cx="779463" cy="679450"/>
            <a:chOff x="-44" y="1473"/>
            <a:chExt cx="981" cy="1105"/>
          </a:xfrm>
        </p:grpSpPr>
        <p:pic>
          <p:nvPicPr>
            <p:cNvPr id="33860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61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830" name="Group 99"/>
          <p:cNvGrpSpPr>
            <a:grpSpLocks/>
          </p:cNvGrpSpPr>
          <p:nvPr/>
        </p:nvGrpSpPr>
        <p:grpSpPr bwMode="auto">
          <a:xfrm>
            <a:off x="1085850" y="2625725"/>
            <a:ext cx="779463" cy="679450"/>
            <a:chOff x="-44" y="1473"/>
            <a:chExt cx="981" cy="1105"/>
          </a:xfrm>
        </p:grpSpPr>
        <p:pic>
          <p:nvPicPr>
            <p:cNvPr id="33858" name="Picture 10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59" name="Freeform 10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831" name="Group 102"/>
          <p:cNvGrpSpPr>
            <a:grpSpLocks/>
          </p:cNvGrpSpPr>
          <p:nvPr/>
        </p:nvGrpSpPr>
        <p:grpSpPr bwMode="auto">
          <a:xfrm>
            <a:off x="7481888" y="2686050"/>
            <a:ext cx="779462" cy="679450"/>
            <a:chOff x="-44" y="1473"/>
            <a:chExt cx="981" cy="1105"/>
          </a:xfrm>
        </p:grpSpPr>
        <p:pic>
          <p:nvPicPr>
            <p:cNvPr id="33856" name="Picture 10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57" name="Freeform 10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832" name="Group 108"/>
          <p:cNvGrpSpPr>
            <a:grpSpLocks/>
          </p:cNvGrpSpPr>
          <p:nvPr/>
        </p:nvGrpSpPr>
        <p:grpSpPr bwMode="auto">
          <a:xfrm>
            <a:off x="6846888" y="1493838"/>
            <a:ext cx="779462" cy="679450"/>
            <a:chOff x="-44" y="1473"/>
            <a:chExt cx="981" cy="1105"/>
          </a:xfrm>
        </p:grpSpPr>
        <p:pic>
          <p:nvPicPr>
            <p:cNvPr id="33854" name="Picture 109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55" name="Freeform 11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383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9F10D6C-EC58-4DC1-8931-25BB178E21CD}" type="slidenum">
              <a:rPr lang="en-US" sz="1200" smtClean="0">
                <a:latin typeface="Tahoma" pitchFamily="34" charset="0"/>
              </a:rPr>
              <a:pPr/>
              <a:t>26</a:t>
            </a:fld>
            <a:endParaRPr lang="en-US" sz="1200" smtClean="0">
              <a:latin typeface="Tahoma" pitchFamily="34" charset="0"/>
            </a:endParaRPr>
          </a:p>
        </p:txBody>
      </p:sp>
      <p:grpSp>
        <p:nvGrpSpPr>
          <p:cNvPr id="33834" name="Group 228"/>
          <p:cNvGrpSpPr>
            <a:grpSpLocks/>
          </p:cNvGrpSpPr>
          <p:nvPr/>
        </p:nvGrpSpPr>
        <p:grpSpPr bwMode="auto">
          <a:xfrm>
            <a:off x="5391150" y="2160588"/>
            <a:ext cx="1128713" cy="439737"/>
            <a:chOff x="4650" y="1129"/>
            <a:chExt cx="246" cy="95"/>
          </a:xfrm>
        </p:grpSpPr>
        <p:sp>
          <p:nvSpPr>
            <p:cNvPr id="33846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47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3848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3849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33852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3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50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1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835" name="Rectangle 6"/>
          <p:cNvSpPr>
            <a:spLocks noChangeArrowheads="1"/>
          </p:cNvSpPr>
          <p:nvPr/>
        </p:nvSpPr>
        <p:spPr bwMode="auto">
          <a:xfrm>
            <a:off x="606425" y="3930650"/>
            <a:ext cx="8131175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>
                <a:solidFill>
                  <a:srgbClr val="C00000"/>
                </a:solidFill>
                <a:latin typeface="Gill Sans MT" pitchFamily="34" charset="0"/>
              </a:rPr>
              <a:t>queuing and loss: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If arrival rate (in bits) to link exceeds transmission rate of link for a period of time: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packets will queue, wait to be transmitted on link 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packets can be dropped (lost) if memory (buffer) fills up</a:t>
            </a:r>
          </a:p>
        </p:txBody>
      </p:sp>
      <p:pic>
        <p:nvPicPr>
          <p:cNvPr id="33836" name="Picture 16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915988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837" name="Group 228"/>
          <p:cNvGrpSpPr>
            <a:grpSpLocks/>
          </p:cNvGrpSpPr>
          <p:nvPr/>
        </p:nvGrpSpPr>
        <p:grpSpPr bwMode="auto">
          <a:xfrm>
            <a:off x="5530850" y="2930525"/>
            <a:ext cx="1128713" cy="439738"/>
            <a:chOff x="4650" y="1129"/>
            <a:chExt cx="246" cy="95"/>
          </a:xfrm>
        </p:grpSpPr>
        <p:sp>
          <p:nvSpPr>
            <p:cNvPr id="3383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3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384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3841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33844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5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42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3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Network Layer</a:t>
            </a:r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4-</a:t>
            </a:r>
            <a:fld id="{BEF95DFC-154E-4532-A0E2-40EFD6336DB6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27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34820" name="Picture 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03505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Two key </a:t>
            </a:r>
            <a:r>
              <a:rPr lang="en-US" dirty="0" smtClean="0">
                <a:cs typeface="+mj-cs"/>
              </a:rPr>
              <a:t>network-core </a:t>
            </a:r>
            <a:r>
              <a:rPr lang="en-US" dirty="0">
                <a:cs typeface="+mj-cs"/>
              </a:rPr>
              <a:t>functions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0" y="1404938"/>
            <a:ext cx="4192588" cy="46482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forwarding</a:t>
            </a:r>
            <a:r>
              <a:rPr lang="en-US" sz="2400" i="1" smtClean="0">
                <a:solidFill>
                  <a:srgbClr val="C00000"/>
                </a:solidFill>
                <a:ea typeface="ＭＳ Ｐゴシック" pitchFamily="34" charset="-128"/>
              </a:rPr>
              <a:t>:</a:t>
            </a:r>
            <a:r>
              <a:rPr lang="en-US" sz="2400" smtClean="0">
                <a:solidFill>
                  <a:srgbClr val="C00000"/>
                </a:solidFill>
                <a:ea typeface="ＭＳ Ｐゴシック" pitchFamily="34" charset="-128"/>
              </a:rPr>
              <a:t> </a:t>
            </a:r>
            <a:r>
              <a:rPr lang="en-US" sz="2400" smtClean="0">
                <a:ea typeface="ＭＳ Ｐゴシック" pitchFamily="34" charset="-128"/>
              </a:rPr>
              <a:t>move packets from router</a:t>
            </a:r>
            <a:r>
              <a:rPr lang="ja-JP" altLang="en-US" sz="2400" smtClean="0">
                <a:ea typeface="ＭＳ Ｐゴシック" pitchFamily="34" charset="-128"/>
              </a:rPr>
              <a:t>’</a:t>
            </a:r>
            <a:r>
              <a:rPr lang="en-US" altLang="ja-JP" sz="2400" smtClean="0">
                <a:ea typeface="ＭＳ Ｐゴシック" pitchFamily="34" charset="-128"/>
              </a:rPr>
              <a:t>s input to appropriate router output</a:t>
            </a:r>
          </a:p>
          <a:p>
            <a:pPr marL="0" indent="0"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34823" name="Rectangle 3"/>
          <p:cNvSpPr txBox="1">
            <a:spLocks noChangeArrowheads="1"/>
          </p:cNvSpPr>
          <p:nvPr/>
        </p:nvSpPr>
        <p:spPr bwMode="auto">
          <a:xfrm>
            <a:off x="384175" y="1385888"/>
            <a:ext cx="4192588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7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sz="2800" i="1">
                <a:solidFill>
                  <a:srgbClr val="C00000"/>
                </a:solidFill>
                <a:latin typeface="Gill Sans MT" pitchFamily="34" charset="0"/>
              </a:rPr>
              <a:t>routing:</a:t>
            </a:r>
            <a:r>
              <a:rPr lang="en-US" sz="2800">
                <a:solidFill>
                  <a:srgbClr val="C00000"/>
                </a:solidFill>
                <a:latin typeface="Gill Sans MT" pitchFamily="34" charset="0"/>
              </a:rPr>
              <a:t> </a:t>
            </a:r>
            <a:r>
              <a:rPr lang="en-US">
                <a:latin typeface="Gill Sans MT" pitchFamily="34" charset="0"/>
              </a:rPr>
              <a:t>determines source-destination route taken by packets</a:t>
            </a:r>
          </a:p>
          <a:p>
            <a:pPr lvl="1">
              <a:lnSpc>
                <a:spcPct val="85000"/>
              </a:lnSpc>
              <a:buClr>
                <a:srgbClr val="000099"/>
              </a:buClr>
              <a:buFont typeface="Wingdings" pitchFamily="2" charset="2"/>
              <a:buChar char="§"/>
            </a:pPr>
            <a:r>
              <a:rPr lang="en-US" i="1">
                <a:latin typeface="Gill Sans MT" pitchFamily="34" charset="0"/>
              </a:rPr>
              <a:t>routing algorithms</a:t>
            </a:r>
            <a:endParaRPr lang="en-US">
              <a:latin typeface="Gill Sans MT" pitchFamily="34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endParaRPr lang="en-US" sz="2800">
              <a:latin typeface="Gill Sans MT" pitchFamily="34" charset="0"/>
            </a:endParaRPr>
          </a:p>
        </p:txBody>
      </p:sp>
      <p:sp>
        <p:nvSpPr>
          <p:cNvPr id="11" name="Freeform 3"/>
          <p:cNvSpPr>
            <a:spLocks/>
          </p:cNvSpPr>
          <p:nvPr/>
        </p:nvSpPr>
        <p:spPr bwMode="auto">
          <a:xfrm rot="16200000">
            <a:off x="3289300" y="3600451"/>
            <a:ext cx="2198687" cy="1497012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  <a:gd name="connsiteX0" fmla="*/ 0 w 10000"/>
              <a:gd name="connsiteY0" fmla="*/ 0 h 9714"/>
              <a:gd name="connsiteX1" fmla="*/ 3718 w 10000"/>
              <a:gd name="connsiteY1" fmla="*/ 8779 h 9714"/>
              <a:gd name="connsiteX2" fmla="*/ 9148 w 10000"/>
              <a:gd name="connsiteY2" fmla="*/ 9657 h 9714"/>
              <a:gd name="connsiteX3" fmla="*/ 10000 w 10000"/>
              <a:gd name="connsiteY3" fmla="*/ 61 h 9714"/>
              <a:gd name="connsiteX4" fmla="*/ 0 w 10000"/>
              <a:gd name="connsiteY4" fmla="*/ 0 h 9714"/>
              <a:gd name="connsiteX0" fmla="*/ 0 w 10000"/>
              <a:gd name="connsiteY0" fmla="*/ 0 h 9095"/>
              <a:gd name="connsiteX1" fmla="*/ 3718 w 10000"/>
              <a:gd name="connsiteY1" fmla="*/ 9037 h 9095"/>
              <a:gd name="connsiteX2" fmla="*/ 5712 w 10000"/>
              <a:gd name="connsiteY2" fmla="*/ 8929 h 9095"/>
              <a:gd name="connsiteX3" fmla="*/ 10000 w 10000"/>
              <a:gd name="connsiteY3" fmla="*/ 63 h 9095"/>
              <a:gd name="connsiteX4" fmla="*/ 0 w 10000"/>
              <a:gd name="connsiteY4" fmla="*/ 0 h 9095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8989"/>
              <a:gd name="connsiteY0" fmla="*/ 0 h 11618"/>
              <a:gd name="connsiteX1" fmla="*/ 2707 w 8989"/>
              <a:gd name="connsiteY1" fmla="*/ 11554 h 11618"/>
              <a:gd name="connsiteX2" fmla="*/ 4701 w 8989"/>
              <a:gd name="connsiteY2" fmla="*/ 11435 h 11618"/>
              <a:gd name="connsiteX3" fmla="*/ 8989 w 8989"/>
              <a:gd name="connsiteY3" fmla="*/ 1687 h 11618"/>
              <a:gd name="connsiteX4" fmla="*/ 0 w 8989"/>
              <a:gd name="connsiteY4" fmla="*/ 0 h 11618"/>
              <a:gd name="connsiteX0" fmla="*/ 0 w 9888"/>
              <a:gd name="connsiteY0" fmla="*/ 115 h 10115"/>
              <a:gd name="connsiteX1" fmla="*/ 3011 w 9888"/>
              <a:gd name="connsiteY1" fmla="*/ 10060 h 10115"/>
              <a:gd name="connsiteX2" fmla="*/ 5230 w 9888"/>
              <a:gd name="connsiteY2" fmla="*/ 9957 h 10115"/>
              <a:gd name="connsiteX3" fmla="*/ 9888 w 9888"/>
              <a:gd name="connsiteY3" fmla="*/ 0 h 10115"/>
              <a:gd name="connsiteX4" fmla="*/ 0 w 9888"/>
              <a:gd name="connsiteY4" fmla="*/ 115 h 10115"/>
              <a:gd name="connsiteX0" fmla="*/ 0 w 9829"/>
              <a:gd name="connsiteY0" fmla="*/ 0 h 10833"/>
              <a:gd name="connsiteX1" fmla="*/ 2874 w 9829"/>
              <a:gd name="connsiteY1" fmla="*/ 10779 h 10833"/>
              <a:gd name="connsiteX2" fmla="*/ 5118 w 9829"/>
              <a:gd name="connsiteY2" fmla="*/ 10677 h 10833"/>
              <a:gd name="connsiteX3" fmla="*/ 9829 w 9829"/>
              <a:gd name="connsiteY3" fmla="*/ 833 h 10833"/>
              <a:gd name="connsiteX4" fmla="*/ 0 w 9829"/>
              <a:gd name="connsiteY4" fmla="*/ 0 h 10833"/>
              <a:gd name="connsiteX0" fmla="*/ 0 w 10289"/>
              <a:gd name="connsiteY0" fmla="*/ 0 h 10000"/>
              <a:gd name="connsiteX1" fmla="*/ 2924 w 10289"/>
              <a:gd name="connsiteY1" fmla="*/ 9950 h 10000"/>
              <a:gd name="connsiteX2" fmla="*/ 5207 w 10289"/>
              <a:gd name="connsiteY2" fmla="*/ 9856 h 10000"/>
              <a:gd name="connsiteX3" fmla="*/ 10289 w 10289"/>
              <a:gd name="connsiteY3" fmla="*/ 54 h 10000"/>
              <a:gd name="connsiteX4" fmla="*/ 0 w 10289"/>
              <a:gd name="connsiteY4" fmla="*/ 0 h 10000"/>
              <a:gd name="connsiteX0" fmla="*/ 0 w 10289"/>
              <a:gd name="connsiteY0" fmla="*/ 0 h 10953"/>
              <a:gd name="connsiteX1" fmla="*/ 2924 w 10289"/>
              <a:gd name="connsiteY1" fmla="*/ 9950 h 10953"/>
              <a:gd name="connsiteX2" fmla="*/ 3723 w 10289"/>
              <a:gd name="connsiteY2" fmla="*/ 10695 h 10953"/>
              <a:gd name="connsiteX3" fmla="*/ 5207 w 10289"/>
              <a:gd name="connsiteY3" fmla="*/ 9856 h 10953"/>
              <a:gd name="connsiteX4" fmla="*/ 10289 w 10289"/>
              <a:gd name="connsiteY4" fmla="*/ 54 h 10953"/>
              <a:gd name="connsiteX5" fmla="*/ 0 w 10289"/>
              <a:gd name="connsiteY5" fmla="*/ 0 h 10953"/>
              <a:gd name="connsiteX0" fmla="*/ 0 w 10289"/>
              <a:gd name="connsiteY0" fmla="*/ 0 h 11138"/>
              <a:gd name="connsiteX1" fmla="*/ 2924 w 10289"/>
              <a:gd name="connsiteY1" fmla="*/ 9950 h 11138"/>
              <a:gd name="connsiteX2" fmla="*/ 5207 w 10289"/>
              <a:gd name="connsiteY2" fmla="*/ 9856 h 11138"/>
              <a:gd name="connsiteX3" fmla="*/ 10289 w 10289"/>
              <a:gd name="connsiteY3" fmla="*/ 54 h 11138"/>
              <a:gd name="connsiteX4" fmla="*/ 0 w 10289"/>
              <a:gd name="connsiteY4" fmla="*/ 0 h 11138"/>
              <a:gd name="connsiteX0" fmla="*/ 0 w 10289"/>
              <a:gd name="connsiteY0" fmla="*/ 0 h 10669"/>
              <a:gd name="connsiteX1" fmla="*/ 2924 w 10289"/>
              <a:gd name="connsiteY1" fmla="*/ 9950 h 10669"/>
              <a:gd name="connsiteX2" fmla="*/ 5207 w 10289"/>
              <a:gd name="connsiteY2" fmla="*/ 9856 h 10669"/>
              <a:gd name="connsiteX3" fmla="*/ 10289 w 10289"/>
              <a:gd name="connsiteY3" fmla="*/ 54 h 10669"/>
              <a:gd name="connsiteX4" fmla="*/ 0 w 10289"/>
              <a:gd name="connsiteY4" fmla="*/ 0 h 10669"/>
              <a:gd name="connsiteX0" fmla="*/ 0 w 10289"/>
              <a:gd name="connsiteY0" fmla="*/ 0 h 10734"/>
              <a:gd name="connsiteX1" fmla="*/ 2924 w 10289"/>
              <a:gd name="connsiteY1" fmla="*/ 9950 h 10734"/>
              <a:gd name="connsiteX2" fmla="*/ 4455 w 10289"/>
              <a:gd name="connsiteY2" fmla="*/ 10094 h 10734"/>
              <a:gd name="connsiteX3" fmla="*/ 10289 w 10289"/>
              <a:gd name="connsiteY3" fmla="*/ 54 h 10734"/>
              <a:gd name="connsiteX4" fmla="*/ 0 w 10289"/>
              <a:gd name="connsiteY4" fmla="*/ 0 h 10734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9960"/>
              <a:gd name="connsiteX1" fmla="*/ 2924 w 10289"/>
              <a:gd name="connsiteY1" fmla="*/ 9950 h 9960"/>
              <a:gd name="connsiteX2" fmla="*/ 4166 w 10289"/>
              <a:gd name="connsiteY2" fmla="*/ 9776 h 9960"/>
              <a:gd name="connsiteX3" fmla="*/ 10289 w 10289"/>
              <a:gd name="connsiteY3" fmla="*/ 54 h 9960"/>
              <a:gd name="connsiteX4" fmla="*/ 0 w 10289"/>
              <a:gd name="connsiteY4" fmla="*/ 0 h 9960"/>
              <a:gd name="connsiteX0" fmla="*/ 0 w 10000"/>
              <a:gd name="connsiteY0" fmla="*/ 0 h 10000"/>
              <a:gd name="connsiteX1" fmla="*/ 2842 w 10000"/>
              <a:gd name="connsiteY1" fmla="*/ 9990 h 10000"/>
              <a:gd name="connsiteX2" fmla="*/ 4049 w 10000"/>
              <a:gd name="connsiteY2" fmla="*/ 9815 h 10000"/>
              <a:gd name="connsiteX3" fmla="*/ 10000 w 10000"/>
              <a:gd name="connsiteY3" fmla="*/ 54 h 10000"/>
              <a:gd name="connsiteX4" fmla="*/ 0 w 10000"/>
              <a:gd name="connsiteY4" fmla="*/ 0 h 10000"/>
              <a:gd name="connsiteX0" fmla="*/ 0 w 10000"/>
              <a:gd name="connsiteY0" fmla="*/ 0 h 10400"/>
              <a:gd name="connsiteX1" fmla="*/ 2740 w 10000"/>
              <a:gd name="connsiteY1" fmla="*/ 10397 h 10400"/>
              <a:gd name="connsiteX2" fmla="*/ 4049 w 10000"/>
              <a:gd name="connsiteY2" fmla="*/ 9815 h 10400"/>
              <a:gd name="connsiteX3" fmla="*/ 10000 w 10000"/>
              <a:gd name="connsiteY3" fmla="*/ 54 h 10400"/>
              <a:gd name="connsiteX4" fmla="*/ 0 w 10000"/>
              <a:gd name="connsiteY4" fmla="*/ 0 h 10400"/>
              <a:gd name="connsiteX0" fmla="*/ 0 w 10000"/>
              <a:gd name="connsiteY0" fmla="*/ 0 h 10419"/>
              <a:gd name="connsiteX1" fmla="*/ 2740 w 10000"/>
              <a:gd name="connsiteY1" fmla="*/ 10397 h 10419"/>
              <a:gd name="connsiteX2" fmla="*/ 3599 w 10000"/>
              <a:gd name="connsiteY2" fmla="*/ 10338 h 10419"/>
              <a:gd name="connsiteX3" fmla="*/ 10000 w 10000"/>
              <a:gd name="connsiteY3" fmla="*/ 54 h 10419"/>
              <a:gd name="connsiteX4" fmla="*/ 0 w 10000"/>
              <a:gd name="connsiteY4" fmla="*/ 0 h 10419"/>
              <a:gd name="connsiteX0" fmla="*/ 0 w 10000"/>
              <a:gd name="connsiteY0" fmla="*/ 0 h 10397"/>
              <a:gd name="connsiteX1" fmla="*/ 2740 w 10000"/>
              <a:gd name="connsiteY1" fmla="*/ 10397 h 10397"/>
              <a:gd name="connsiteX2" fmla="*/ 3599 w 10000"/>
              <a:gd name="connsiteY2" fmla="*/ 10338 h 10397"/>
              <a:gd name="connsiteX3" fmla="*/ 10000 w 10000"/>
              <a:gd name="connsiteY3" fmla="*/ 54 h 10397"/>
              <a:gd name="connsiteX4" fmla="*/ 0 w 10000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75"/>
              <a:gd name="connsiteY0" fmla="*/ 0 h 10310"/>
              <a:gd name="connsiteX1" fmla="*/ 2801 w 10675"/>
              <a:gd name="connsiteY1" fmla="*/ 10310 h 10310"/>
              <a:gd name="connsiteX2" fmla="*/ 3660 w 10675"/>
              <a:gd name="connsiteY2" fmla="*/ 10251 h 10310"/>
              <a:gd name="connsiteX3" fmla="*/ 10675 w 10675"/>
              <a:gd name="connsiteY3" fmla="*/ 25 h 10310"/>
              <a:gd name="connsiteX4" fmla="*/ 0 w 10675"/>
              <a:gd name="connsiteY4" fmla="*/ 0 h 10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5" h="10310">
                <a:moveTo>
                  <a:pt x="0" y="0"/>
                </a:moveTo>
                <a:cubicBezTo>
                  <a:pt x="3109" y="3835"/>
                  <a:pt x="2511" y="6378"/>
                  <a:pt x="2801" y="10310"/>
                </a:cubicBezTo>
                <a:cubicBezTo>
                  <a:pt x="3337" y="10277"/>
                  <a:pt x="2862" y="10312"/>
                  <a:pt x="3660" y="10251"/>
                </a:cubicBezTo>
                <a:cubicBezTo>
                  <a:pt x="5139" y="5189"/>
                  <a:pt x="6996" y="3438"/>
                  <a:pt x="10675" y="25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75000">
                <a:srgbClr val="7BE5CA"/>
              </a:gs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en-US" sz="1800">
              <a:solidFill>
                <a:srgbClr val="000000"/>
              </a:solidFill>
              <a:ea typeface="+mn-ea"/>
            </a:endParaRPr>
          </a:p>
        </p:txBody>
      </p:sp>
      <p:grpSp>
        <p:nvGrpSpPr>
          <p:cNvPr id="34825" name="Group 4"/>
          <p:cNvGrpSpPr>
            <a:grpSpLocks/>
          </p:cNvGrpSpPr>
          <p:nvPr/>
        </p:nvGrpSpPr>
        <p:grpSpPr bwMode="auto">
          <a:xfrm>
            <a:off x="1328738" y="3152775"/>
            <a:ext cx="2317750" cy="2333625"/>
            <a:chOff x="272609" y="3015788"/>
            <a:chExt cx="2317750" cy="2333625"/>
          </a:xfrm>
        </p:grpSpPr>
        <p:sp>
          <p:nvSpPr>
            <p:cNvPr id="34979" name="Rectangle 4"/>
            <p:cNvSpPr>
              <a:spLocks noChangeArrowheads="1"/>
            </p:cNvSpPr>
            <p:nvPr/>
          </p:nvSpPr>
          <p:spPr bwMode="auto">
            <a:xfrm>
              <a:off x="272609" y="3015788"/>
              <a:ext cx="2317750" cy="2333625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34980" name="Oval 5"/>
            <p:cNvSpPr>
              <a:spLocks noChangeArrowheads="1"/>
            </p:cNvSpPr>
            <p:nvPr/>
          </p:nvSpPr>
          <p:spPr bwMode="auto">
            <a:xfrm>
              <a:off x="398021" y="3068176"/>
              <a:ext cx="2095500" cy="6048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34981" name="Text Box 108"/>
            <p:cNvSpPr txBox="1">
              <a:spLocks noChangeArrowheads="1"/>
            </p:cNvSpPr>
            <p:nvPr/>
          </p:nvSpPr>
          <p:spPr bwMode="auto">
            <a:xfrm>
              <a:off x="526609" y="3225338"/>
              <a:ext cx="18637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>
                  <a:solidFill>
                    <a:srgbClr val="000000"/>
                  </a:solidFill>
                </a:rPr>
                <a:t>routing algorithm</a:t>
              </a:r>
            </a:p>
          </p:txBody>
        </p:sp>
        <p:sp>
          <p:nvSpPr>
            <p:cNvPr id="34982" name="Rectangle 109"/>
            <p:cNvSpPr>
              <a:spLocks noChangeArrowheads="1"/>
            </p:cNvSpPr>
            <p:nvPr/>
          </p:nvSpPr>
          <p:spPr bwMode="auto">
            <a:xfrm>
              <a:off x="451996" y="3973051"/>
              <a:ext cx="2005013" cy="1279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34983" name="Text Box 110"/>
            <p:cNvSpPr txBox="1">
              <a:spLocks noChangeArrowheads="1"/>
            </p:cNvSpPr>
            <p:nvPr/>
          </p:nvSpPr>
          <p:spPr bwMode="auto">
            <a:xfrm>
              <a:off x="532959" y="3925426"/>
              <a:ext cx="18589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</a:rPr>
                <a:t>local forwarding table</a:t>
              </a:r>
            </a:p>
          </p:txBody>
        </p:sp>
        <p:sp>
          <p:nvSpPr>
            <p:cNvPr id="34984" name="Text Box 111"/>
            <p:cNvSpPr txBox="1">
              <a:spLocks noChangeArrowheads="1"/>
            </p:cNvSpPr>
            <p:nvPr/>
          </p:nvSpPr>
          <p:spPr bwMode="auto">
            <a:xfrm>
              <a:off x="415484" y="4173076"/>
              <a:ext cx="1212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>
                  <a:solidFill>
                    <a:srgbClr val="000000"/>
                  </a:solidFill>
                </a:rPr>
                <a:t>header value</a:t>
              </a:r>
            </a:p>
          </p:txBody>
        </p:sp>
        <p:sp>
          <p:nvSpPr>
            <p:cNvPr id="34985" name="Text Box 112"/>
            <p:cNvSpPr txBox="1">
              <a:spLocks noChangeArrowheads="1"/>
            </p:cNvSpPr>
            <p:nvPr/>
          </p:nvSpPr>
          <p:spPr bwMode="auto">
            <a:xfrm>
              <a:off x="1482284" y="4174663"/>
              <a:ext cx="1041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>
                  <a:solidFill>
                    <a:srgbClr val="000000"/>
                  </a:solidFill>
                </a:rPr>
                <a:t>output link</a:t>
              </a:r>
            </a:p>
          </p:txBody>
        </p:sp>
        <p:sp>
          <p:nvSpPr>
            <p:cNvPr id="34986" name="Line 113"/>
            <p:cNvSpPr>
              <a:spLocks noChangeShapeType="1"/>
            </p:cNvSpPr>
            <p:nvPr/>
          </p:nvSpPr>
          <p:spPr bwMode="auto">
            <a:xfrm>
              <a:off x="1580709" y="4185776"/>
              <a:ext cx="7937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7" name="Text Box 114"/>
            <p:cNvSpPr txBox="1">
              <a:spLocks noChangeArrowheads="1"/>
            </p:cNvSpPr>
            <p:nvPr/>
          </p:nvSpPr>
          <p:spPr bwMode="auto">
            <a:xfrm>
              <a:off x="1071121" y="4457238"/>
              <a:ext cx="520700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 eaLnBrk="1" hangingPunct="1"/>
              <a:r>
                <a:rPr lang="en-US" sz="1200">
                  <a:solidFill>
                    <a:srgbClr val="000000"/>
                  </a:solidFill>
                </a:rPr>
                <a:t>0100</a:t>
              </a:r>
            </a:p>
            <a:p>
              <a:pPr algn="r" eaLnBrk="1" hangingPunct="1"/>
              <a:r>
                <a:rPr lang="en-US" sz="1200">
                  <a:solidFill>
                    <a:srgbClr val="000000"/>
                  </a:solidFill>
                </a:rPr>
                <a:t>0101</a:t>
              </a:r>
            </a:p>
            <a:p>
              <a:pPr algn="r" eaLnBrk="1" hangingPunct="1"/>
              <a:r>
                <a:rPr lang="en-US" sz="1200">
                  <a:solidFill>
                    <a:srgbClr val="000000"/>
                  </a:solidFill>
                </a:rPr>
                <a:t>0111</a:t>
              </a:r>
            </a:p>
            <a:p>
              <a:pPr algn="r" eaLnBrk="1" hangingPunct="1"/>
              <a:r>
                <a:rPr lang="en-US" sz="1200">
                  <a:solidFill>
                    <a:srgbClr val="000000"/>
                  </a:solidFill>
                </a:rPr>
                <a:t>1001</a:t>
              </a:r>
            </a:p>
          </p:txBody>
        </p:sp>
        <p:sp>
          <p:nvSpPr>
            <p:cNvPr id="34988" name="Text Box 115"/>
            <p:cNvSpPr txBox="1">
              <a:spLocks noChangeArrowheads="1"/>
            </p:cNvSpPr>
            <p:nvPr/>
          </p:nvSpPr>
          <p:spPr bwMode="auto">
            <a:xfrm>
              <a:off x="1596584" y="4457238"/>
              <a:ext cx="268287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>
                  <a:solidFill>
                    <a:srgbClr val="000000"/>
                  </a:solidFill>
                </a:rPr>
                <a:t>3</a:t>
              </a:r>
            </a:p>
            <a:p>
              <a:pPr algn="ctr" eaLnBrk="1" hangingPunct="1"/>
              <a:r>
                <a:rPr lang="en-US" sz="1200">
                  <a:solidFill>
                    <a:srgbClr val="000000"/>
                  </a:solidFill>
                </a:rPr>
                <a:t>2</a:t>
              </a:r>
            </a:p>
            <a:p>
              <a:pPr algn="ctr" eaLnBrk="1" hangingPunct="1"/>
              <a:r>
                <a:rPr lang="en-US" sz="1200">
                  <a:solidFill>
                    <a:srgbClr val="000000"/>
                  </a:solidFill>
                </a:rPr>
                <a:t>2</a:t>
              </a:r>
            </a:p>
            <a:p>
              <a:pPr algn="ctr" eaLnBrk="1" hangingPunct="1"/>
              <a:r>
                <a:rPr lang="en-US" sz="12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989" name="Line 116"/>
            <p:cNvSpPr>
              <a:spLocks noChangeShapeType="1"/>
            </p:cNvSpPr>
            <p:nvPr/>
          </p:nvSpPr>
          <p:spPr bwMode="auto">
            <a:xfrm>
              <a:off x="451996" y="4442951"/>
              <a:ext cx="2006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0" name="Line 117"/>
            <p:cNvSpPr>
              <a:spLocks noChangeShapeType="1"/>
            </p:cNvSpPr>
            <p:nvPr/>
          </p:nvSpPr>
          <p:spPr bwMode="auto">
            <a:xfrm>
              <a:off x="444059" y="4195301"/>
              <a:ext cx="2006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1" name="AutoShape 118"/>
            <p:cNvSpPr>
              <a:spLocks noChangeArrowheads="1"/>
            </p:cNvSpPr>
            <p:nvPr/>
          </p:nvSpPr>
          <p:spPr bwMode="auto">
            <a:xfrm rot="5400000">
              <a:off x="1350521" y="3680951"/>
              <a:ext cx="241300" cy="273050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</a:endParaRPr>
            </a:p>
          </p:txBody>
        </p:sp>
      </p:grpSp>
      <p:grpSp>
        <p:nvGrpSpPr>
          <p:cNvPr id="34826" name="Group 3"/>
          <p:cNvGrpSpPr>
            <a:grpSpLocks/>
          </p:cNvGrpSpPr>
          <p:nvPr/>
        </p:nvGrpSpPr>
        <p:grpSpPr bwMode="auto">
          <a:xfrm>
            <a:off x="3200400" y="3632200"/>
            <a:ext cx="4745038" cy="2989263"/>
            <a:chOff x="2088829" y="3641726"/>
            <a:chExt cx="4743771" cy="2989155"/>
          </a:xfrm>
        </p:grpSpPr>
        <p:sp>
          <p:nvSpPr>
            <p:cNvPr id="34829" name="Freeform 2"/>
            <p:cNvSpPr>
              <a:spLocks/>
            </p:cNvSpPr>
            <p:nvPr/>
          </p:nvSpPr>
          <p:spPr bwMode="auto">
            <a:xfrm>
              <a:off x="3894138" y="4260851"/>
              <a:ext cx="2847975" cy="1481138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0" name="Freeform 6"/>
            <p:cNvSpPr>
              <a:spLocks/>
            </p:cNvSpPr>
            <p:nvPr/>
          </p:nvSpPr>
          <p:spPr bwMode="auto">
            <a:xfrm>
              <a:off x="4532313" y="4564063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4831" name="Group 7"/>
            <p:cNvGrpSpPr>
              <a:grpSpLocks/>
            </p:cNvGrpSpPr>
            <p:nvPr/>
          </p:nvGrpSpPr>
          <p:grpSpPr bwMode="auto">
            <a:xfrm>
              <a:off x="4038600" y="4738688"/>
              <a:ext cx="501650" cy="233363"/>
              <a:chOff x="3600" y="219"/>
              <a:chExt cx="360" cy="175"/>
            </a:xfrm>
          </p:grpSpPr>
          <p:sp>
            <p:nvSpPr>
              <p:cNvPr id="34966" name="Oval 8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67" name="Line 9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68" name="Line 1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69" name="Rectangle 11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70" name="Oval 12"/>
              <p:cNvSpPr>
                <a:spLocks noChangeArrowheads="1"/>
              </p:cNvSpPr>
              <p:nvPr/>
            </p:nvSpPr>
            <p:spPr bwMode="auto">
              <a:xfrm>
                <a:off x="3603" y="219"/>
                <a:ext cx="354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71" name="Group 13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76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77" name="Line 15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78" name="Line 1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72" name="Group 17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73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74" name="Line 1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75" name="Line 20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2" name="Group 21"/>
            <p:cNvGrpSpPr>
              <a:grpSpLocks/>
            </p:cNvGrpSpPr>
            <p:nvPr/>
          </p:nvGrpSpPr>
          <p:grpSpPr bwMode="auto">
            <a:xfrm>
              <a:off x="4391025" y="5376863"/>
              <a:ext cx="501650" cy="233363"/>
              <a:chOff x="3600" y="219"/>
              <a:chExt cx="360" cy="175"/>
            </a:xfrm>
          </p:grpSpPr>
          <p:sp>
            <p:nvSpPr>
              <p:cNvPr id="34953" name="Oval 22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54" name="Line 23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55" name="Line 24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56" name="Rectangle 25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57" name="Oval 26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58" name="Group 27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63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64" name="Line 29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65" name="Line 3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59" name="Group 31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60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61" name="Line 3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62" name="Line 34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3" name="Group 35"/>
            <p:cNvGrpSpPr>
              <a:grpSpLocks/>
            </p:cNvGrpSpPr>
            <p:nvPr/>
          </p:nvGrpSpPr>
          <p:grpSpPr bwMode="auto">
            <a:xfrm>
              <a:off x="5065713" y="4433888"/>
              <a:ext cx="501650" cy="233363"/>
              <a:chOff x="3600" y="219"/>
              <a:chExt cx="360" cy="175"/>
            </a:xfrm>
          </p:grpSpPr>
          <p:sp>
            <p:nvSpPr>
              <p:cNvPr id="34940" name="Oval 36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41" name="Line 37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42" name="Line 38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43" name="Rectangle 39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4" name="Oval 40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45" name="Group 41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50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51" name="Line 43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52" name="Line 4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46" name="Group 45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47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48" name="Line 4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49" name="Line 48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4" name="Group 49"/>
            <p:cNvGrpSpPr>
              <a:grpSpLocks/>
            </p:cNvGrpSpPr>
            <p:nvPr/>
          </p:nvGrpSpPr>
          <p:grpSpPr bwMode="auto">
            <a:xfrm>
              <a:off x="4987925" y="5099051"/>
              <a:ext cx="500063" cy="233363"/>
              <a:chOff x="3600" y="219"/>
              <a:chExt cx="360" cy="175"/>
            </a:xfrm>
          </p:grpSpPr>
          <p:sp>
            <p:nvSpPr>
              <p:cNvPr id="34927" name="Oval 50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28" name="Line 51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29" name="Line 52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30" name="Rectangle 53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31" name="Oval 54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6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32" name="Group 55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37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38" name="Line 57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39" name="Line 5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33" name="Group 59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34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35" name="Line 6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36" name="Line 62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5" name="Group 63"/>
            <p:cNvGrpSpPr>
              <a:grpSpLocks/>
            </p:cNvGrpSpPr>
            <p:nvPr/>
          </p:nvGrpSpPr>
          <p:grpSpPr bwMode="auto">
            <a:xfrm>
              <a:off x="5622925" y="5395913"/>
              <a:ext cx="501650" cy="233363"/>
              <a:chOff x="3600" y="219"/>
              <a:chExt cx="360" cy="175"/>
            </a:xfrm>
          </p:grpSpPr>
          <p:sp>
            <p:nvSpPr>
              <p:cNvPr id="34914" name="Oval 64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15" name="Line 65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6" name="Line 66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7" name="Rectangle 67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18" name="Oval 68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19" name="Group 69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24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25" name="Line 71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26" name="Line 7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20" name="Group 73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21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22" name="Line 7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23" name="Line 76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6" name="Group 77"/>
            <p:cNvGrpSpPr>
              <a:grpSpLocks/>
            </p:cNvGrpSpPr>
            <p:nvPr/>
          </p:nvGrpSpPr>
          <p:grpSpPr bwMode="auto">
            <a:xfrm>
              <a:off x="6067425" y="4740276"/>
              <a:ext cx="501650" cy="233363"/>
              <a:chOff x="3600" y="219"/>
              <a:chExt cx="360" cy="175"/>
            </a:xfrm>
          </p:grpSpPr>
          <p:sp>
            <p:nvSpPr>
              <p:cNvPr id="34901" name="Oval 78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02" name="Line 79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3" name="Line 8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4" name="Rectangle 81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05" name="Oval 82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06" name="Group 83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11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12" name="Line 85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13" name="Line 8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07" name="Group 87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08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09" name="Line 8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10" name="Line 90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4837" name="Freeform 91"/>
            <p:cNvSpPr>
              <a:spLocks/>
            </p:cNvSpPr>
            <p:nvPr/>
          </p:nvSpPr>
          <p:spPr bwMode="auto">
            <a:xfrm>
              <a:off x="5573713" y="4557713"/>
              <a:ext cx="504825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8" name="Freeform 92"/>
            <p:cNvSpPr>
              <a:spLocks/>
            </p:cNvSpPr>
            <p:nvPr/>
          </p:nvSpPr>
          <p:spPr bwMode="auto">
            <a:xfrm>
              <a:off x="4508500" y="4949826"/>
              <a:ext cx="481013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9" name="Freeform 93"/>
            <p:cNvSpPr>
              <a:spLocks/>
            </p:cNvSpPr>
            <p:nvPr/>
          </p:nvSpPr>
          <p:spPr bwMode="auto">
            <a:xfrm>
              <a:off x="5456238" y="4926013"/>
              <a:ext cx="628650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0" name="Freeform 94"/>
            <p:cNvSpPr>
              <a:spLocks/>
            </p:cNvSpPr>
            <p:nvPr/>
          </p:nvSpPr>
          <p:spPr bwMode="auto">
            <a:xfrm>
              <a:off x="6122988" y="4979988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1" name="Freeform 95"/>
            <p:cNvSpPr>
              <a:spLocks/>
            </p:cNvSpPr>
            <p:nvPr/>
          </p:nvSpPr>
          <p:spPr bwMode="auto">
            <a:xfrm>
              <a:off x="4887913" y="5513388"/>
              <a:ext cx="736600" cy="74613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2" name="Freeform 96"/>
            <p:cNvSpPr>
              <a:spLocks/>
            </p:cNvSpPr>
            <p:nvPr/>
          </p:nvSpPr>
          <p:spPr bwMode="auto">
            <a:xfrm>
              <a:off x="4351338" y="4973638"/>
              <a:ext cx="193675" cy="425450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3" name="Text Box 100"/>
            <p:cNvSpPr txBox="1">
              <a:spLocks noChangeArrowheads="1"/>
            </p:cNvSpPr>
            <p:nvPr/>
          </p:nvSpPr>
          <p:spPr bwMode="auto">
            <a:xfrm>
              <a:off x="4440876" y="4483071"/>
              <a:ext cx="311067" cy="3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44" name="Text Box 101"/>
            <p:cNvSpPr txBox="1">
              <a:spLocks noChangeArrowheads="1"/>
            </p:cNvSpPr>
            <p:nvPr/>
          </p:nvSpPr>
          <p:spPr bwMode="auto">
            <a:xfrm>
              <a:off x="4378980" y="4897394"/>
              <a:ext cx="296783" cy="3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4845" name="Text Box 102"/>
            <p:cNvSpPr txBox="1">
              <a:spLocks noChangeArrowheads="1"/>
            </p:cNvSpPr>
            <p:nvPr/>
          </p:nvSpPr>
          <p:spPr bwMode="auto">
            <a:xfrm>
              <a:off x="4128222" y="4970416"/>
              <a:ext cx="296783" cy="3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</a:rPr>
                <a:t>3</a:t>
              </a:r>
            </a:p>
          </p:txBody>
        </p:sp>
        <p:grpSp>
          <p:nvGrpSpPr>
            <p:cNvPr id="34846" name="Group 1"/>
            <p:cNvGrpSpPr>
              <a:grpSpLocks/>
            </p:cNvGrpSpPr>
            <p:nvPr/>
          </p:nvGrpSpPr>
          <p:grpSpPr bwMode="auto">
            <a:xfrm rot="-2012368">
              <a:off x="2645158" y="5398104"/>
              <a:ext cx="1447800" cy="274638"/>
              <a:chOff x="2436813" y="4587876"/>
              <a:chExt cx="1447800" cy="274638"/>
            </a:xfrm>
          </p:grpSpPr>
          <p:sp>
            <p:nvSpPr>
              <p:cNvPr id="34896" name="Rectangle 97"/>
              <p:cNvSpPr>
                <a:spLocks noChangeArrowheads="1"/>
              </p:cNvSpPr>
              <p:nvPr/>
            </p:nvSpPr>
            <p:spPr bwMode="auto">
              <a:xfrm>
                <a:off x="2461850" y="4583083"/>
                <a:ext cx="1155391" cy="2381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7" name="Rectangle 98"/>
              <p:cNvSpPr>
                <a:spLocks noChangeArrowheads="1"/>
              </p:cNvSpPr>
              <p:nvPr/>
            </p:nvSpPr>
            <p:spPr bwMode="auto">
              <a:xfrm>
                <a:off x="2437928" y="4606491"/>
                <a:ext cx="1147455" cy="23811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8" name="Line 99"/>
              <p:cNvSpPr>
                <a:spLocks noChangeShapeType="1"/>
              </p:cNvSpPr>
              <p:nvPr/>
            </p:nvSpPr>
            <p:spPr bwMode="auto">
              <a:xfrm>
                <a:off x="3462418" y="4739659"/>
                <a:ext cx="422162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99" name="Rectangle 104"/>
              <p:cNvSpPr>
                <a:spLocks noChangeArrowheads="1"/>
              </p:cNvSpPr>
              <p:nvPr/>
            </p:nvSpPr>
            <p:spPr bwMode="auto">
              <a:xfrm>
                <a:off x="3067594" y="4610052"/>
                <a:ext cx="426923" cy="2397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00" name="Text Box 105"/>
              <p:cNvSpPr txBox="1">
                <a:spLocks noChangeArrowheads="1"/>
              </p:cNvSpPr>
              <p:nvPr/>
            </p:nvSpPr>
            <p:spPr bwMode="auto">
              <a:xfrm rot="289934">
                <a:off x="3019653" y="4584228"/>
                <a:ext cx="520561" cy="2746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</a:rPr>
                  <a:t>0111</a:t>
                </a:r>
              </a:p>
            </p:txBody>
          </p:sp>
        </p:grpSp>
        <p:sp>
          <p:nvSpPr>
            <p:cNvPr id="34847" name="Text Box 106"/>
            <p:cNvSpPr txBox="1">
              <a:spLocks noChangeArrowheads="1"/>
            </p:cNvSpPr>
            <p:nvPr/>
          </p:nvSpPr>
          <p:spPr bwMode="auto">
            <a:xfrm>
              <a:off x="2088829" y="6046702"/>
              <a:ext cx="2339350" cy="584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</a:rPr>
                <a:t>dest address in arriving</a:t>
              </a:r>
            </a:p>
            <a:p>
              <a:pPr eaLnBrk="1" hangingPunct="1"/>
              <a:r>
                <a:rPr lang="en-US" sz="1600">
                  <a:solidFill>
                    <a:srgbClr val="000000"/>
                  </a:solidFill>
                </a:rPr>
                <a:t>packet</a:t>
              </a:r>
              <a:r>
                <a:rPr lang="ja-JP" altLang="en-US" sz="1600">
                  <a:solidFill>
                    <a:srgbClr val="000000"/>
                  </a:solidFill>
                </a:rPr>
                <a:t>’</a:t>
              </a:r>
              <a:r>
                <a:rPr lang="en-US" altLang="ja-JP" sz="1600">
                  <a:solidFill>
                    <a:srgbClr val="000000"/>
                  </a:solidFill>
                </a:rPr>
                <a:t>s header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34848" name="Line 107"/>
            <p:cNvSpPr>
              <a:spLocks noChangeShapeType="1"/>
            </p:cNvSpPr>
            <p:nvPr/>
          </p:nvSpPr>
          <p:spPr bwMode="auto">
            <a:xfrm flipH="1">
              <a:off x="2626848" y="4873581"/>
              <a:ext cx="1407736" cy="914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9" name="Line 119"/>
            <p:cNvSpPr>
              <a:spLocks noChangeShapeType="1"/>
            </p:cNvSpPr>
            <p:nvPr/>
          </p:nvSpPr>
          <p:spPr bwMode="auto">
            <a:xfrm flipH="1" flipV="1">
              <a:off x="3588616" y="5648254"/>
              <a:ext cx="22219" cy="4508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0" name="Freeform 120"/>
            <p:cNvSpPr>
              <a:spLocks/>
            </p:cNvSpPr>
            <p:nvPr/>
          </p:nvSpPr>
          <p:spPr bwMode="auto">
            <a:xfrm>
              <a:off x="3757473" y="4834039"/>
              <a:ext cx="1041539" cy="336504"/>
            </a:xfrm>
            <a:custGeom>
              <a:avLst/>
              <a:gdLst>
                <a:gd name="T0" fmla="*/ 0 w 10844"/>
                <a:gd name="T1" fmla="*/ 2147483647 h 14797"/>
                <a:gd name="T2" fmla="*/ 2147483647 w 10844"/>
                <a:gd name="T3" fmla="*/ 2147483647 h 14797"/>
                <a:gd name="T4" fmla="*/ 2147483647 w 10844"/>
                <a:gd name="T5" fmla="*/ 2147483647 h 14797"/>
                <a:gd name="T6" fmla="*/ 0 60000 65536"/>
                <a:gd name="T7" fmla="*/ 0 60000 65536"/>
                <a:gd name="T8" fmla="*/ 0 60000 65536"/>
                <a:gd name="T9" fmla="*/ 0 w 10844"/>
                <a:gd name="T10" fmla="*/ 0 h 14797"/>
                <a:gd name="T11" fmla="*/ 10844 w 10844"/>
                <a:gd name="T12" fmla="*/ 14797 h 147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44" h="14797">
                  <a:moveTo>
                    <a:pt x="0" y="14797"/>
                  </a:moveTo>
                  <a:cubicBezTo>
                    <a:pt x="2168" y="9517"/>
                    <a:pt x="5654" y="-1331"/>
                    <a:pt x="7042" y="135"/>
                  </a:cubicBezTo>
                  <a:cubicBezTo>
                    <a:pt x="8563" y="1950"/>
                    <a:pt x="9984" y="6698"/>
                    <a:pt x="10844" y="9978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1" name="Freeform 121"/>
            <p:cNvSpPr>
              <a:spLocks/>
            </p:cNvSpPr>
            <p:nvPr/>
          </p:nvSpPr>
          <p:spPr bwMode="auto">
            <a:xfrm flipH="1">
              <a:off x="6254750" y="4370388"/>
              <a:ext cx="577850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2" name="Freeform 122"/>
            <p:cNvSpPr>
              <a:spLocks/>
            </p:cNvSpPr>
            <p:nvPr/>
          </p:nvSpPr>
          <p:spPr bwMode="auto">
            <a:xfrm flipH="1">
              <a:off x="5243513" y="4086226"/>
              <a:ext cx="577850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Freeform 123"/>
            <p:cNvSpPr>
              <a:spLocks/>
            </p:cNvSpPr>
            <p:nvPr/>
          </p:nvSpPr>
          <p:spPr bwMode="auto">
            <a:xfrm flipH="1" flipV="1">
              <a:off x="5911850" y="5632451"/>
              <a:ext cx="542925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Freeform 124"/>
            <p:cNvSpPr>
              <a:spLocks/>
            </p:cNvSpPr>
            <p:nvPr/>
          </p:nvSpPr>
          <p:spPr bwMode="auto">
            <a:xfrm flipH="1" flipV="1">
              <a:off x="4562475" y="5616576"/>
              <a:ext cx="542925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Freeform 125"/>
            <p:cNvSpPr>
              <a:spLocks/>
            </p:cNvSpPr>
            <p:nvPr/>
          </p:nvSpPr>
          <p:spPr bwMode="auto">
            <a:xfrm flipH="1" flipV="1">
              <a:off x="5202238" y="5324476"/>
              <a:ext cx="542925" cy="452438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4856" name="Group 126"/>
            <p:cNvGrpSpPr>
              <a:grpSpLocks/>
            </p:cNvGrpSpPr>
            <p:nvPr/>
          </p:nvGrpSpPr>
          <p:grpSpPr bwMode="auto">
            <a:xfrm>
              <a:off x="5251450" y="3641726"/>
              <a:ext cx="550863" cy="452438"/>
              <a:chOff x="2886" y="1668"/>
              <a:chExt cx="347" cy="285"/>
            </a:xfrm>
          </p:grpSpPr>
          <p:sp>
            <p:nvSpPr>
              <p:cNvPr id="34889" name="Rectangle 127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0" name="Oval 128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1" name="Rectangle 129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2" name="Line 130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93" name="Line 131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94" name="Line 132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95" name="AutoShape 133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4857" name="Group 134"/>
            <p:cNvGrpSpPr>
              <a:grpSpLocks/>
            </p:cNvGrpSpPr>
            <p:nvPr/>
          </p:nvGrpSpPr>
          <p:grpSpPr bwMode="auto">
            <a:xfrm>
              <a:off x="6264275" y="3914776"/>
              <a:ext cx="550863" cy="452438"/>
              <a:chOff x="2886" y="1668"/>
              <a:chExt cx="347" cy="285"/>
            </a:xfrm>
          </p:grpSpPr>
          <p:sp>
            <p:nvSpPr>
              <p:cNvPr id="34882" name="Rectangle 135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83" name="Oval 136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84" name="Rectangle 137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85" name="Line 138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6" name="Line 139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7" name="Line 140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8" name="AutoShape 141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4858" name="Group 142"/>
            <p:cNvGrpSpPr>
              <a:grpSpLocks/>
            </p:cNvGrpSpPr>
            <p:nvPr/>
          </p:nvGrpSpPr>
          <p:grpSpPr bwMode="auto">
            <a:xfrm>
              <a:off x="5894388" y="5991226"/>
              <a:ext cx="550863" cy="452438"/>
              <a:chOff x="2886" y="1668"/>
              <a:chExt cx="347" cy="285"/>
            </a:xfrm>
          </p:grpSpPr>
          <p:sp>
            <p:nvSpPr>
              <p:cNvPr id="34875" name="Rectangle 143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6" name="Oval 144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7" name="Rectangle 145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8" name="Line 146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9" name="Line 147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0" name="Line 148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1" name="AutoShape 149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4859" name="Group 150"/>
            <p:cNvGrpSpPr>
              <a:grpSpLocks/>
            </p:cNvGrpSpPr>
            <p:nvPr/>
          </p:nvGrpSpPr>
          <p:grpSpPr bwMode="auto">
            <a:xfrm>
              <a:off x="5199063" y="5772151"/>
              <a:ext cx="550863" cy="452438"/>
              <a:chOff x="2886" y="1668"/>
              <a:chExt cx="347" cy="285"/>
            </a:xfrm>
          </p:grpSpPr>
          <p:sp>
            <p:nvSpPr>
              <p:cNvPr id="34868" name="Rectangle 151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69" name="Oval 152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0" name="Rectangle 153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1" name="Line 154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2" name="Line 155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3" name="Line 156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4" name="AutoShape 157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4860" name="Group 158"/>
            <p:cNvGrpSpPr>
              <a:grpSpLocks/>
            </p:cNvGrpSpPr>
            <p:nvPr/>
          </p:nvGrpSpPr>
          <p:grpSpPr bwMode="auto">
            <a:xfrm>
              <a:off x="4543425" y="5964238"/>
              <a:ext cx="550863" cy="452438"/>
              <a:chOff x="2886" y="1668"/>
              <a:chExt cx="347" cy="285"/>
            </a:xfrm>
          </p:grpSpPr>
          <p:sp>
            <p:nvSpPr>
              <p:cNvPr id="34861" name="Rectangle 159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62" name="Oval 160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63" name="Rectangle 161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64" name="Line 162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65" name="Line 163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66" name="Line 164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67" name="AutoShape 165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</p:grpSp>
      <p:cxnSp>
        <p:nvCxnSpPr>
          <p:cNvPr id="34827" name="Straight Connector 421888"/>
          <p:cNvCxnSpPr>
            <a:cxnSpLocks noChangeShapeType="1"/>
          </p:cNvCxnSpPr>
          <p:nvPr/>
        </p:nvCxnSpPr>
        <p:spPr bwMode="auto">
          <a:xfrm>
            <a:off x="2197100" y="2743200"/>
            <a:ext cx="20955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8" name="Straight Connector 421894"/>
          <p:cNvCxnSpPr>
            <a:cxnSpLocks noChangeShapeType="1"/>
          </p:cNvCxnSpPr>
          <p:nvPr/>
        </p:nvCxnSpPr>
        <p:spPr bwMode="auto">
          <a:xfrm flipH="1">
            <a:off x="3503613" y="2444750"/>
            <a:ext cx="1943100" cy="171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35843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465138" y="274638"/>
            <a:ext cx="7772400" cy="719137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Alternative core: circuit switching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35844" name="Rectangle 102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5925" y="1236663"/>
            <a:ext cx="4465638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end-end resources allocated to, reserved for </a:t>
            </a:r>
            <a:r>
              <a:rPr lang="ja-JP" altLang="en-US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smtClean="0">
                <a:solidFill>
                  <a:srgbClr val="CC0000"/>
                </a:solidFill>
                <a:ea typeface="ＭＳ Ｐゴシック" pitchFamily="34" charset="-128"/>
              </a:rPr>
              <a:t>call</a:t>
            </a:r>
            <a:r>
              <a:rPr lang="ja-JP" altLang="en-US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r>
              <a:rPr lang="en-US" altLang="ja-JP" smtClean="0">
                <a:solidFill>
                  <a:srgbClr val="CC0000"/>
                </a:solidFill>
                <a:ea typeface="ＭＳ Ｐゴシック" pitchFamily="34" charset="-128"/>
              </a:rPr>
              <a:t> between source &amp; dest: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In diagram, each link has four circuits. </a:t>
            </a:r>
          </a:p>
          <a:p>
            <a:pPr lvl="1"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call gets 2</a:t>
            </a:r>
            <a:r>
              <a:rPr lang="en-US" baseline="30000" smtClean="0">
                <a:ea typeface="ＭＳ Ｐゴシック" pitchFamily="34" charset="-128"/>
              </a:rPr>
              <a:t>nd</a:t>
            </a:r>
            <a:r>
              <a:rPr lang="en-US" smtClean="0">
                <a:ea typeface="ＭＳ Ｐゴシック" pitchFamily="34" charset="-128"/>
              </a:rPr>
              <a:t> circuit in top link and 1</a:t>
            </a:r>
            <a:r>
              <a:rPr lang="en-US" baseline="30000" smtClean="0">
                <a:ea typeface="ＭＳ Ｐゴシック" pitchFamily="34" charset="-128"/>
              </a:rPr>
              <a:t>st</a:t>
            </a:r>
            <a:r>
              <a:rPr lang="en-US" smtClean="0">
                <a:ea typeface="ＭＳ Ｐゴシック" pitchFamily="34" charset="-128"/>
              </a:rPr>
              <a:t> circuit in right link.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dedicated resources: no sharing</a:t>
            </a:r>
          </a:p>
          <a:p>
            <a:pPr lvl="1" eaLnBrk="1" hangingPunct="1">
              <a:buSzPct val="75000"/>
            </a:pPr>
            <a:r>
              <a:rPr lang="en-US" smtClean="0"/>
              <a:t>circuit-like (guaranteed) performance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circuit segment idle if not used by call </a:t>
            </a:r>
            <a:r>
              <a:rPr lang="en-US" sz="2400" i="1" smtClean="0">
                <a:solidFill>
                  <a:srgbClr val="000099"/>
                </a:solidFill>
                <a:ea typeface="ＭＳ Ｐゴシック" pitchFamily="34" charset="-128"/>
              </a:rPr>
              <a:t>(no sharing)</a:t>
            </a: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Commonly used in traditional telephone networks</a:t>
            </a:r>
          </a:p>
        </p:txBody>
      </p:sp>
      <p:pic>
        <p:nvPicPr>
          <p:cNvPr id="35845" name="Picture 69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85248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236B063A-5C39-429B-9A76-379935886B1B}" type="slidenum">
              <a:rPr lang="en-US" sz="1200" smtClean="0">
                <a:latin typeface="Tahoma" pitchFamily="34" charset="0"/>
              </a:rPr>
              <a:pPr/>
              <a:t>28</a:t>
            </a:fld>
            <a:endParaRPr lang="en-US" sz="1200" smtClean="0">
              <a:latin typeface="Tahoma" pitchFamily="34" charset="0"/>
            </a:endParaRPr>
          </a:p>
        </p:txBody>
      </p:sp>
      <p:grpSp>
        <p:nvGrpSpPr>
          <p:cNvPr id="35847" name="Group 360"/>
          <p:cNvGrpSpPr>
            <a:grpSpLocks/>
          </p:cNvGrpSpPr>
          <p:nvPr/>
        </p:nvGrpSpPr>
        <p:grpSpPr bwMode="auto">
          <a:xfrm>
            <a:off x="4749800" y="1371600"/>
            <a:ext cx="4394200" cy="3735388"/>
            <a:chOff x="1524000" y="1295400"/>
            <a:chExt cx="5715000" cy="5108575"/>
          </a:xfrm>
        </p:grpSpPr>
        <p:grpSp>
          <p:nvGrpSpPr>
            <p:cNvPr id="35848" name="Group 100"/>
            <p:cNvGrpSpPr>
              <a:grpSpLocks/>
            </p:cNvGrpSpPr>
            <p:nvPr/>
          </p:nvGrpSpPr>
          <p:grpSpPr bwMode="auto">
            <a:xfrm>
              <a:off x="1524000" y="1295400"/>
              <a:ext cx="820738" cy="688975"/>
              <a:chOff x="-44" y="1473"/>
              <a:chExt cx="981" cy="1105"/>
            </a:xfrm>
          </p:grpSpPr>
          <p:pic>
            <p:nvPicPr>
              <p:cNvPr id="35926" name="Picture 10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927" name="Freeform 10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83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5849" name="Group 142"/>
            <p:cNvGrpSpPr>
              <a:grpSpLocks/>
            </p:cNvGrpSpPr>
            <p:nvPr/>
          </p:nvGrpSpPr>
          <p:grpSpPr bwMode="auto">
            <a:xfrm>
              <a:off x="2514600" y="2438400"/>
              <a:ext cx="990600" cy="533400"/>
              <a:chOff x="2356" y="1300"/>
              <a:chExt cx="555" cy="194"/>
            </a:xfrm>
          </p:grpSpPr>
          <p:sp>
            <p:nvSpPr>
              <p:cNvPr id="3591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1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2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5921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5924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5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922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3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50" name="Group 100"/>
            <p:cNvGrpSpPr>
              <a:grpSpLocks/>
            </p:cNvGrpSpPr>
            <p:nvPr/>
          </p:nvGrpSpPr>
          <p:grpSpPr bwMode="auto">
            <a:xfrm>
              <a:off x="6400800" y="5715000"/>
              <a:ext cx="820738" cy="688975"/>
              <a:chOff x="-44" y="1473"/>
              <a:chExt cx="981" cy="1105"/>
            </a:xfrm>
          </p:grpSpPr>
          <p:pic>
            <p:nvPicPr>
              <p:cNvPr id="35916" name="Picture 10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917" name="Freeform 10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83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365" name="Rectangle 364"/>
            <p:cNvSpPr/>
            <p:nvPr/>
          </p:nvSpPr>
          <p:spPr>
            <a:xfrm>
              <a:off x="3506081" y="2591541"/>
              <a:ext cx="1750838" cy="759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6" name="Rectangle 365"/>
            <p:cNvSpPr/>
            <p:nvPr/>
          </p:nvSpPr>
          <p:spPr>
            <a:xfrm>
              <a:off x="3506081" y="2667529"/>
              <a:ext cx="1750838" cy="7598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7" name="Rectangle 366"/>
            <p:cNvSpPr/>
            <p:nvPr/>
          </p:nvSpPr>
          <p:spPr>
            <a:xfrm>
              <a:off x="3506081" y="2743518"/>
              <a:ext cx="1750838" cy="759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3506081" y="2819505"/>
              <a:ext cx="1750838" cy="759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35855" name="Group 142"/>
            <p:cNvGrpSpPr>
              <a:grpSpLocks/>
            </p:cNvGrpSpPr>
            <p:nvPr/>
          </p:nvGrpSpPr>
          <p:grpSpPr bwMode="auto">
            <a:xfrm>
              <a:off x="5257800" y="2438400"/>
              <a:ext cx="990600" cy="533400"/>
              <a:chOff x="2356" y="1300"/>
              <a:chExt cx="555" cy="194"/>
            </a:xfrm>
          </p:grpSpPr>
          <p:sp>
            <p:nvSpPr>
              <p:cNvPr id="3590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0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1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5911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5914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5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912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3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56" name="Group 142"/>
            <p:cNvGrpSpPr>
              <a:grpSpLocks/>
            </p:cNvGrpSpPr>
            <p:nvPr/>
          </p:nvGrpSpPr>
          <p:grpSpPr bwMode="auto">
            <a:xfrm>
              <a:off x="2590800" y="4724400"/>
              <a:ext cx="990600" cy="533400"/>
              <a:chOff x="2356" y="1300"/>
              <a:chExt cx="555" cy="194"/>
            </a:xfrm>
          </p:grpSpPr>
          <p:sp>
            <p:nvSpPr>
              <p:cNvPr id="3590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0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0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5903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5906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7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904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5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57" name="Group 142"/>
            <p:cNvGrpSpPr>
              <a:grpSpLocks/>
            </p:cNvGrpSpPr>
            <p:nvPr/>
          </p:nvGrpSpPr>
          <p:grpSpPr bwMode="auto">
            <a:xfrm>
              <a:off x="5334000" y="4724400"/>
              <a:ext cx="990600" cy="533400"/>
              <a:chOff x="2356" y="1300"/>
              <a:chExt cx="555" cy="194"/>
            </a:xfrm>
          </p:grpSpPr>
          <p:sp>
            <p:nvSpPr>
              <p:cNvPr id="3589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89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89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5895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5898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9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896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7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58" name="Group 75"/>
            <p:cNvGrpSpPr>
              <a:grpSpLocks/>
            </p:cNvGrpSpPr>
            <p:nvPr/>
          </p:nvGrpSpPr>
          <p:grpSpPr bwMode="auto">
            <a:xfrm rot="5400000">
              <a:off x="2171700" y="3695700"/>
              <a:ext cx="1752600" cy="304800"/>
              <a:chOff x="4876800" y="1143000"/>
              <a:chExt cx="1752600" cy="304800"/>
            </a:xfrm>
          </p:grpSpPr>
          <p:sp>
            <p:nvSpPr>
              <p:cNvPr id="402" name="Rectangle 401"/>
              <p:cNvSpPr/>
              <p:nvPr/>
            </p:nvSpPr>
            <p:spPr>
              <a:xfrm>
                <a:off x="4874310" y="1157341"/>
                <a:ext cx="1752069" cy="7639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3" name="Rectangle 402"/>
              <p:cNvSpPr/>
              <p:nvPr/>
            </p:nvSpPr>
            <p:spPr>
              <a:xfrm>
                <a:off x="4874310" y="1233734"/>
                <a:ext cx="1752069" cy="763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4" name="Rectangle 403"/>
              <p:cNvSpPr/>
              <p:nvPr/>
            </p:nvSpPr>
            <p:spPr>
              <a:xfrm>
                <a:off x="4874310" y="1310126"/>
                <a:ext cx="1752069" cy="7639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5" name="Rectangle 404"/>
              <p:cNvSpPr/>
              <p:nvPr/>
            </p:nvSpPr>
            <p:spPr>
              <a:xfrm>
                <a:off x="4874310" y="1386519"/>
                <a:ext cx="1752069" cy="763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35859" name="Group 80"/>
            <p:cNvGrpSpPr>
              <a:grpSpLocks/>
            </p:cNvGrpSpPr>
            <p:nvPr/>
          </p:nvGrpSpPr>
          <p:grpSpPr bwMode="auto">
            <a:xfrm>
              <a:off x="3581400" y="4876800"/>
              <a:ext cx="1752600" cy="304800"/>
              <a:chOff x="4876800" y="1143000"/>
              <a:chExt cx="1752600" cy="304800"/>
            </a:xfrm>
          </p:grpSpPr>
          <p:sp>
            <p:nvSpPr>
              <p:cNvPr id="398" name="Rectangle 397"/>
              <p:cNvSpPr/>
              <p:nvPr/>
            </p:nvSpPr>
            <p:spPr>
              <a:xfrm>
                <a:off x="4875809" y="1143899"/>
                <a:ext cx="1752903" cy="759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99" name="Rectangle 398"/>
              <p:cNvSpPr/>
              <p:nvPr/>
            </p:nvSpPr>
            <p:spPr>
              <a:xfrm>
                <a:off x="4875809" y="1219887"/>
                <a:ext cx="1752903" cy="75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0" name="Rectangle 399"/>
              <p:cNvSpPr/>
              <p:nvPr/>
            </p:nvSpPr>
            <p:spPr>
              <a:xfrm>
                <a:off x="4875809" y="1295875"/>
                <a:ext cx="1752903" cy="759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1" name="Rectangle 400"/>
              <p:cNvSpPr/>
              <p:nvPr/>
            </p:nvSpPr>
            <p:spPr>
              <a:xfrm>
                <a:off x="4875809" y="1371863"/>
                <a:ext cx="1752903" cy="75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74" name="Rectangle 373"/>
            <p:cNvSpPr/>
            <p:nvPr/>
          </p:nvSpPr>
          <p:spPr>
            <a:xfrm rot="5400000">
              <a:off x="5030222" y="3809320"/>
              <a:ext cx="1752070" cy="763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5" name="Rectangle 374"/>
            <p:cNvSpPr/>
            <p:nvPr/>
          </p:nvSpPr>
          <p:spPr>
            <a:xfrm rot="5400000">
              <a:off x="4953830" y="3809320"/>
              <a:ext cx="1752070" cy="763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6" name="Rectangle 375"/>
            <p:cNvSpPr/>
            <p:nvPr/>
          </p:nvSpPr>
          <p:spPr>
            <a:xfrm rot="5400000">
              <a:off x="4877436" y="3809320"/>
              <a:ext cx="1752070" cy="763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7" name="Rectangle 376"/>
            <p:cNvSpPr/>
            <p:nvPr/>
          </p:nvSpPr>
          <p:spPr>
            <a:xfrm rot="5400000">
              <a:off x="4801044" y="3809320"/>
              <a:ext cx="1752070" cy="7639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8" name="Rectangle 377"/>
            <p:cNvSpPr/>
            <p:nvPr/>
          </p:nvSpPr>
          <p:spPr>
            <a:xfrm rot="3198033">
              <a:off x="2060570" y="2095244"/>
              <a:ext cx="894489" cy="7639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9" name="Rectangle 378"/>
            <p:cNvSpPr/>
            <p:nvPr/>
          </p:nvSpPr>
          <p:spPr>
            <a:xfrm rot="3198033">
              <a:off x="6023752" y="5524481"/>
              <a:ext cx="892319" cy="7639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380" name="Straight Connector 379"/>
            <p:cNvCxnSpPr>
              <a:endCxn id="35920" idx="0"/>
            </p:cNvCxnSpPr>
            <p:nvPr/>
          </p:nvCxnSpPr>
          <p:spPr>
            <a:xfrm rot="16200000" flipH="1">
              <a:off x="2607857" y="2038817"/>
              <a:ext cx="762052" cy="350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/>
          </p:nvCxnSpPr>
          <p:spPr>
            <a:xfrm rot="5400000">
              <a:off x="3124704" y="1905295"/>
              <a:ext cx="607905" cy="4562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/>
          </p:nvCxnSpPr>
          <p:spPr>
            <a:xfrm>
              <a:off x="1905964" y="2667529"/>
              <a:ext cx="6090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>
              <a:endCxn id="35904" idx="0"/>
            </p:cNvCxnSpPr>
            <p:nvPr/>
          </p:nvCxnSpPr>
          <p:spPr>
            <a:xfrm>
              <a:off x="1905964" y="4877698"/>
              <a:ext cx="687534" cy="151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>
              <a:endCxn id="35902" idx="1"/>
            </p:cNvCxnSpPr>
            <p:nvPr/>
          </p:nvCxnSpPr>
          <p:spPr>
            <a:xfrm>
              <a:off x="2133078" y="4343610"/>
              <a:ext cx="600818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/>
            <p:cNvCxnSpPr>
              <a:endCxn id="35900" idx="3"/>
            </p:cNvCxnSpPr>
            <p:nvPr/>
          </p:nvCxnSpPr>
          <p:spPr>
            <a:xfrm flipV="1">
              <a:off x="2056684" y="5214218"/>
              <a:ext cx="679276" cy="4255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/>
            <p:cNvCxnSpPr/>
            <p:nvPr/>
          </p:nvCxnSpPr>
          <p:spPr>
            <a:xfrm rot="5400000" flipH="1" flipV="1">
              <a:off x="2476548" y="5525311"/>
              <a:ext cx="686064" cy="150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/>
            <p:cNvCxnSpPr/>
            <p:nvPr/>
          </p:nvCxnSpPr>
          <p:spPr>
            <a:xfrm rot="10800000">
              <a:off x="6324353" y="5029674"/>
              <a:ext cx="9146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/>
            <p:cNvCxnSpPr>
              <a:endCxn id="35892" idx="4"/>
            </p:cNvCxnSpPr>
            <p:nvPr/>
          </p:nvCxnSpPr>
          <p:spPr>
            <a:xfrm rot="16200000" flipV="1">
              <a:off x="5541749" y="5542658"/>
              <a:ext cx="762052" cy="1920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/>
            <p:cNvCxnSpPr/>
            <p:nvPr/>
          </p:nvCxnSpPr>
          <p:spPr>
            <a:xfrm rot="5400000" flipH="1" flipV="1">
              <a:off x="5219459" y="5524278"/>
              <a:ext cx="686064" cy="152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/>
            <p:cNvCxnSpPr/>
            <p:nvPr/>
          </p:nvCxnSpPr>
          <p:spPr>
            <a:xfrm rot="16200000" flipH="1">
              <a:off x="5351799" y="2038817"/>
              <a:ext cx="762052" cy="35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877" name="Group 100"/>
            <p:cNvGrpSpPr>
              <a:grpSpLocks/>
            </p:cNvGrpSpPr>
            <p:nvPr/>
          </p:nvGrpSpPr>
          <p:grpSpPr bwMode="auto">
            <a:xfrm>
              <a:off x="5715000" y="1295400"/>
              <a:ext cx="820738" cy="688975"/>
              <a:chOff x="-44" y="1473"/>
              <a:chExt cx="981" cy="1105"/>
            </a:xfrm>
          </p:grpSpPr>
          <p:pic>
            <p:nvPicPr>
              <p:cNvPr id="35882" name="Picture 10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83" name="Freeform 10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83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cxnSp>
          <p:nvCxnSpPr>
            <p:cNvPr id="392" name="Straight Connector 391"/>
            <p:cNvCxnSpPr/>
            <p:nvPr/>
          </p:nvCxnSpPr>
          <p:spPr>
            <a:xfrm rot="5400000">
              <a:off x="5944210" y="1828073"/>
              <a:ext cx="683893" cy="5347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ectangle 392"/>
            <p:cNvSpPr/>
            <p:nvPr/>
          </p:nvSpPr>
          <p:spPr>
            <a:xfrm rot="1015003">
              <a:off x="2715314" y="2550290"/>
              <a:ext cx="782508" cy="8033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94" name="Rectangle 393"/>
            <p:cNvSpPr/>
            <p:nvPr/>
          </p:nvSpPr>
          <p:spPr>
            <a:xfrm rot="2465437" flipV="1">
              <a:off x="5595525" y="4955857"/>
              <a:ext cx="679276" cy="7815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95" name="Rectangle 394"/>
            <p:cNvSpPr/>
            <p:nvPr/>
          </p:nvSpPr>
          <p:spPr>
            <a:xfrm rot="2177866" flipV="1">
              <a:off x="5238338" y="2804308"/>
              <a:ext cx="497584" cy="955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36867" name="Picture 10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76041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4638" y="71438"/>
            <a:ext cx="8462962" cy="947737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Circuit switching: FDM </a:t>
            </a:r>
            <a:r>
              <a:rPr lang="en-US" sz="3600" smtClean="0">
                <a:ea typeface="ＭＳ Ｐゴシック" pitchFamily="34" charset="-128"/>
              </a:rPr>
              <a:t>versus</a:t>
            </a:r>
            <a:r>
              <a:rPr lang="en-US" sz="4000" smtClean="0">
                <a:ea typeface="ＭＳ Ｐゴシック" pitchFamily="34" charset="-128"/>
              </a:rPr>
              <a:t> TDM</a:t>
            </a:r>
            <a:endParaRPr lang="fr-FR" sz="4000" smtClean="0">
              <a:ea typeface="ＭＳ Ｐゴシック" pitchFamily="34" charset="-128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3700" y="1585913"/>
            <a:ext cx="7239000" cy="2438400"/>
            <a:chOff x="288" y="1007"/>
            <a:chExt cx="4560" cy="1536"/>
          </a:xfrm>
        </p:grpSpPr>
        <p:sp>
          <p:nvSpPr>
            <p:cNvPr id="36964" name="Text Box 4"/>
            <p:cNvSpPr txBox="1">
              <a:spLocks noChangeArrowheads="1"/>
            </p:cNvSpPr>
            <p:nvPr/>
          </p:nvSpPr>
          <p:spPr bwMode="auto">
            <a:xfrm>
              <a:off x="288" y="1007"/>
              <a:ext cx="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FDM</a:t>
              </a:r>
              <a:endParaRPr lang="fr-FR"/>
            </a:p>
          </p:txBody>
        </p:sp>
        <p:grpSp>
          <p:nvGrpSpPr>
            <p:cNvPr id="36965" name="Group 5"/>
            <p:cNvGrpSpPr>
              <a:grpSpLocks/>
            </p:cNvGrpSpPr>
            <p:nvPr/>
          </p:nvGrpSpPr>
          <p:grpSpPr bwMode="auto">
            <a:xfrm>
              <a:off x="720" y="1392"/>
              <a:ext cx="4128" cy="1151"/>
              <a:chOff x="720" y="1392"/>
              <a:chExt cx="4128" cy="1151"/>
            </a:xfrm>
          </p:grpSpPr>
          <p:sp>
            <p:nvSpPr>
              <p:cNvPr id="36966" name="Line 6"/>
              <p:cNvSpPr>
                <a:spLocks noChangeShapeType="1"/>
              </p:cNvSpPr>
              <p:nvPr/>
            </p:nvSpPr>
            <p:spPr bwMode="auto">
              <a:xfrm flipV="1">
                <a:off x="1728" y="1392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67" name="Text Box 7"/>
              <p:cNvSpPr txBox="1">
                <a:spLocks noChangeArrowheads="1"/>
              </p:cNvSpPr>
              <p:nvPr/>
            </p:nvSpPr>
            <p:spPr bwMode="auto">
              <a:xfrm>
                <a:off x="720" y="1680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frequency</a:t>
                </a:r>
                <a:endParaRPr lang="fr-FR"/>
              </a:p>
            </p:txBody>
          </p:sp>
          <p:sp>
            <p:nvSpPr>
              <p:cNvPr id="36968" name="Line 8"/>
              <p:cNvSpPr>
                <a:spLocks noChangeShapeType="1"/>
              </p:cNvSpPr>
              <p:nvPr/>
            </p:nvSpPr>
            <p:spPr bwMode="auto">
              <a:xfrm>
                <a:off x="1728" y="2208"/>
                <a:ext cx="3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69" name="Text Box 9"/>
              <p:cNvSpPr txBox="1">
                <a:spLocks noChangeArrowheads="1"/>
              </p:cNvSpPr>
              <p:nvPr/>
            </p:nvSpPr>
            <p:spPr bwMode="auto">
              <a:xfrm>
                <a:off x="3048" y="2255"/>
                <a:ext cx="4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time</a:t>
                </a:r>
                <a:endParaRPr lang="fr-FR"/>
              </a:p>
            </p:txBody>
          </p:sp>
          <p:sp>
            <p:nvSpPr>
              <p:cNvPr id="36970" name="Rectangle 10"/>
              <p:cNvSpPr>
                <a:spLocks noChangeArrowheads="1"/>
              </p:cNvSpPr>
              <p:nvPr/>
            </p:nvSpPr>
            <p:spPr bwMode="auto">
              <a:xfrm>
                <a:off x="1776" y="1584"/>
                <a:ext cx="2880" cy="5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</p:grpSp>
      </p:grpSp>
      <p:sp>
        <p:nvSpPr>
          <p:cNvPr id="55307" name="Rectangle 11"/>
          <p:cNvSpPr>
            <a:spLocks noChangeArrowheads="1"/>
          </p:cNvSpPr>
          <p:nvPr/>
        </p:nvSpPr>
        <p:spPr bwMode="auto">
          <a:xfrm>
            <a:off x="2743200" y="2514600"/>
            <a:ext cx="4572000" cy="2286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2743200" y="2743200"/>
            <a:ext cx="4572000" cy="2286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2743200" y="2971800"/>
            <a:ext cx="4572000" cy="228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10" name="Rectangle 14"/>
          <p:cNvSpPr>
            <a:spLocks noChangeArrowheads="1"/>
          </p:cNvSpPr>
          <p:nvPr/>
        </p:nvSpPr>
        <p:spPr bwMode="auto">
          <a:xfrm>
            <a:off x="2743200" y="3200400"/>
            <a:ext cx="4572000" cy="22860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81000" y="3748088"/>
            <a:ext cx="7239000" cy="2516187"/>
            <a:chOff x="288" y="2543"/>
            <a:chExt cx="4560" cy="1585"/>
          </a:xfrm>
        </p:grpSpPr>
        <p:sp>
          <p:nvSpPr>
            <p:cNvPr id="36958" name="Text Box 16"/>
            <p:cNvSpPr txBox="1">
              <a:spLocks noChangeArrowheads="1"/>
            </p:cNvSpPr>
            <p:nvPr/>
          </p:nvSpPr>
          <p:spPr bwMode="auto">
            <a:xfrm>
              <a:off x="288" y="2543"/>
              <a:ext cx="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TDM</a:t>
              </a:r>
              <a:endParaRPr lang="fr-FR"/>
            </a:p>
          </p:txBody>
        </p:sp>
        <p:sp>
          <p:nvSpPr>
            <p:cNvPr id="36959" name="Line 17"/>
            <p:cNvSpPr>
              <a:spLocks noChangeShapeType="1"/>
            </p:cNvSpPr>
            <p:nvPr/>
          </p:nvSpPr>
          <p:spPr bwMode="auto">
            <a:xfrm flipV="1">
              <a:off x="1728" y="2977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60" name="Text Box 18"/>
            <p:cNvSpPr txBox="1">
              <a:spLocks noChangeArrowheads="1"/>
            </p:cNvSpPr>
            <p:nvPr/>
          </p:nvSpPr>
          <p:spPr bwMode="auto">
            <a:xfrm>
              <a:off x="720" y="3265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frequency</a:t>
              </a:r>
              <a:endParaRPr lang="fr-FR"/>
            </a:p>
          </p:txBody>
        </p:sp>
        <p:sp>
          <p:nvSpPr>
            <p:cNvPr id="36961" name="Line 19"/>
            <p:cNvSpPr>
              <a:spLocks noChangeShapeType="1"/>
            </p:cNvSpPr>
            <p:nvPr/>
          </p:nvSpPr>
          <p:spPr bwMode="auto">
            <a:xfrm>
              <a:off x="1728" y="3793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62" name="Text Box 20"/>
            <p:cNvSpPr txBox="1">
              <a:spLocks noChangeArrowheads="1"/>
            </p:cNvSpPr>
            <p:nvPr/>
          </p:nvSpPr>
          <p:spPr bwMode="auto">
            <a:xfrm>
              <a:off x="3048" y="3840"/>
              <a:ext cx="4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time</a:t>
              </a:r>
              <a:endParaRPr lang="fr-FR"/>
            </a:p>
          </p:txBody>
        </p:sp>
        <p:sp>
          <p:nvSpPr>
            <p:cNvPr id="36963" name="Rectangle 21"/>
            <p:cNvSpPr>
              <a:spLocks noChangeArrowheads="1"/>
            </p:cNvSpPr>
            <p:nvPr/>
          </p:nvSpPr>
          <p:spPr bwMode="auto"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743200" y="4740275"/>
            <a:ext cx="3886200" cy="914400"/>
            <a:chOff x="1776" y="3168"/>
            <a:chExt cx="2448" cy="576"/>
          </a:xfrm>
        </p:grpSpPr>
        <p:sp>
          <p:nvSpPr>
            <p:cNvPr id="36953" name="Rectangle 23"/>
            <p:cNvSpPr>
              <a:spLocks noChangeArrowheads="1"/>
            </p:cNvSpPr>
            <p:nvPr/>
          </p:nvSpPr>
          <p:spPr bwMode="auto"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4" name="Rectangle 24"/>
            <p:cNvSpPr>
              <a:spLocks noChangeArrowheads="1"/>
            </p:cNvSpPr>
            <p:nvPr/>
          </p:nvSpPr>
          <p:spPr bwMode="auto"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5" name="Rectangle 25"/>
            <p:cNvSpPr>
              <a:spLocks noChangeArrowheads="1"/>
            </p:cNvSpPr>
            <p:nvPr/>
          </p:nvSpPr>
          <p:spPr bwMode="auto"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6" name="Rectangle 26"/>
            <p:cNvSpPr>
              <a:spLocks noChangeArrowheads="1"/>
            </p:cNvSpPr>
            <p:nvPr/>
          </p:nvSpPr>
          <p:spPr bwMode="auto"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7" name="Rectangle 27"/>
            <p:cNvSpPr>
              <a:spLocks noChangeArrowheads="1"/>
            </p:cNvSpPr>
            <p:nvPr/>
          </p:nvSpPr>
          <p:spPr bwMode="auto"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971800" y="4740275"/>
            <a:ext cx="3886200" cy="914400"/>
            <a:chOff x="1920" y="3168"/>
            <a:chExt cx="2448" cy="576"/>
          </a:xfrm>
        </p:grpSpPr>
        <p:sp>
          <p:nvSpPr>
            <p:cNvPr id="36948" name="Rectangle 29"/>
            <p:cNvSpPr>
              <a:spLocks noChangeArrowheads="1"/>
            </p:cNvSpPr>
            <p:nvPr/>
          </p:nvSpPr>
          <p:spPr bwMode="auto"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9" name="Rectangle 30"/>
            <p:cNvSpPr>
              <a:spLocks noChangeArrowheads="1"/>
            </p:cNvSpPr>
            <p:nvPr/>
          </p:nvSpPr>
          <p:spPr bwMode="auto"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0" name="Rectangle 31"/>
            <p:cNvSpPr>
              <a:spLocks noChangeArrowheads="1"/>
            </p:cNvSpPr>
            <p:nvPr/>
          </p:nvSpPr>
          <p:spPr bwMode="auto"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1" name="Rectangle 32"/>
            <p:cNvSpPr>
              <a:spLocks noChangeArrowheads="1"/>
            </p:cNvSpPr>
            <p:nvPr/>
          </p:nvSpPr>
          <p:spPr bwMode="auto"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2" name="Rectangle 33"/>
            <p:cNvSpPr>
              <a:spLocks noChangeArrowheads="1"/>
            </p:cNvSpPr>
            <p:nvPr/>
          </p:nvSpPr>
          <p:spPr bwMode="auto"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200400" y="4740275"/>
            <a:ext cx="3886200" cy="914400"/>
            <a:chOff x="2064" y="3168"/>
            <a:chExt cx="2448" cy="576"/>
          </a:xfrm>
        </p:grpSpPr>
        <p:sp>
          <p:nvSpPr>
            <p:cNvPr id="36943" name="Rectangle 35"/>
            <p:cNvSpPr>
              <a:spLocks noChangeArrowheads="1"/>
            </p:cNvSpPr>
            <p:nvPr/>
          </p:nvSpPr>
          <p:spPr bwMode="auto"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4" name="Rectangle 36"/>
            <p:cNvSpPr>
              <a:spLocks noChangeArrowheads="1"/>
            </p:cNvSpPr>
            <p:nvPr/>
          </p:nvSpPr>
          <p:spPr bwMode="auto"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5" name="Rectangle 37"/>
            <p:cNvSpPr>
              <a:spLocks noChangeArrowheads="1"/>
            </p:cNvSpPr>
            <p:nvPr/>
          </p:nvSpPr>
          <p:spPr bwMode="auto"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6" name="Rectangle 38"/>
            <p:cNvSpPr>
              <a:spLocks noChangeArrowheads="1"/>
            </p:cNvSpPr>
            <p:nvPr/>
          </p:nvSpPr>
          <p:spPr bwMode="auto"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7" name="Rectangle 39"/>
            <p:cNvSpPr>
              <a:spLocks noChangeArrowheads="1"/>
            </p:cNvSpPr>
            <p:nvPr/>
          </p:nvSpPr>
          <p:spPr bwMode="auto"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3429000" y="4740275"/>
            <a:ext cx="3886200" cy="914400"/>
            <a:chOff x="2208" y="3168"/>
            <a:chExt cx="2448" cy="576"/>
          </a:xfrm>
        </p:grpSpPr>
        <p:sp>
          <p:nvSpPr>
            <p:cNvPr id="36938" name="Rectangle 41"/>
            <p:cNvSpPr>
              <a:spLocks noChangeArrowheads="1"/>
            </p:cNvSpPr>
            <p:nvPr/>
          </p:nvSpPr>
          <p:spPr bwMode="auto"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39" name="Rectangle 42"/>
            <p:cNvSpPr>
              <a:spLocks noChangeArrowheads="1"/>
            </p:cNvSpPr>
            <p:nvPr/>
          </p:nvSpPr>
          <p:spPr bwMode="auto"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0" name="Rectangle 43"/>
            <p:cNvSpPr>
              <a:spLocks noChangeArrowheads="1"/>
            </p:cNvSpPr>
            <p:nvPr/>
          </p:nvSpPr>
          <p:spPr bwMode="auto"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1" name="Rectangle 44"/>
            <p:cNvSpPr>
              <a:spLocks noChangeArrowheads="1"/>
            </p:cNvSpPr>
            <p:nvPr/>
          </p:nvSpPr>
          <p:spPr bwMode="auto"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2" name="Rectangle 45"/>
            <p:cNvSpPr>
              <a:spLocks noChangeArrowheads="1"/>
            </p:cNvSpPr>
            <p:nvPr/>
          </p:nvSpPr>
          <p:spPr bwMode="auto"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2743200" y="2743200"/>
            <a:ext cx="4572000" cy="457200"/>
            <a:chOff x="1776" y="1728"/>
            <a:chExt cx="2880" cy="288"/>
          </a:xfrm>
        </p:grpSpPr>
        <p:sp>
          <p:nvSpPr>
            <p:cNvPr id="36935" name="Line 47"/>
            <p:cNvSpPr>
              <a:spLocks noChangeShapeType="1"/>
            </p:cNvSpPr>
            <p:nvPr/>
          </p:nvSpPr>
          <p:spPr bwMode="auto">
            <a:xfrm flipV="1">
              <a:off x="1776" y="172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6" name="Line 48"/>
            <p:cNvSpPr>
              <a:spLocks noChangeShapeType="1"/>
            </p:cNvSpPr>
            <p:nvPr/>
          </p:nvSpPr>
          <p:spPr bwMode="auto">
            <a:xfrm flipV="1">
              <a:off x="1776" y="187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7" name="Line 49"/>
            <p:cNvSpPr>
              <a:spLocks noChangeShapeType="1"/>
            </p:cNvSpPr>
            <p:nvPr/>
          </p:nvSpPr>
          <p:spPr bwMode="auto">
            <a:xfrm flipV="1">
              <a:off x="1776" y="201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2971800" y="4740275"/>
            <a:ext cx="4114800" cy="914400"/>
            <a:chOff x="1920" y="3168"/>
            <a:chExt cx="2592" cy="576"/>
          </a:xfrm>
        </p:grpSpPr>
        <p:sp>
          <p:nvSpPr>
            <p:cNvPr id="36916" name="Line 51"/>
            <p:cNvSpPr>
              <a:spLocks noChangeShapeType="1"/>
            </p:cNvSpPr>
            <p:nvPr/>
          </p:nvSpPr>
          <p:spPr bwMode="auto">
            <a:xfrm>
              <a:off x="19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7" name="Line 52"/>
            <p:cNvSpPr>
              <a:spLocks noChangeShapeType="1"/>
            </p:cNvSpPr>
            <p:nvPr/>
          </p:nvSpPr>
          <p:spPr bwMode="auto">
            <a:xfrm>
              <a:off x="20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8" name="Line 53"/>
            <p:cNvSpPr>
              <a:spLocks noChangeShapeType="1"/>
            </p:cNvSpPr>
            <p:nvPr/>
          </p:nvSpPr>
          <p:spPr bwMode="auto">
            <a:xfrm>
              <a:off x="22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9" name="Line 54"/>
            <p:cNvSpPr>
              <a:spLocks noChangeShapeType="1"/>
            </p:cNvSpPr>
            <p:nvPr/>
          </p:nvSpPr>
          <p:spPr bwMode="auto">
            <a:xfrm>
              <a:off x="23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0" name="Line 55"/>
            <p:cNvSpPr>
              <a:spLocks noChangeShapeType="1"/>
            </p:cNvSpPr>
            <p:nvPr/>
          </p:nvSpPr>
          <p:spPr bwMode="auto">
            <a:xfrm>
              <a:off x="24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1" name="Line 56"/>
            <p:cNvSpPr>
              <a:spLocks noChangeShapeType="1"/>
            </p:cNvSpPr>
            <p:nvPr/>
          </p:nvSpPr>
          <p:spPr bwMode="auto">
            <a:xfrm>
              <a:off x="26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2" name="Line 57"/>
            <p:cNvSpPr>
              <a:spLocks noChangeShapeType="1"/>
            </p:cNvSpPr>
            <p:nvPr/>
          </p:nvSpPr>
          <p:spPr bwMode="auto">
            <a:xfrm>
              <a:off x="27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3" name="Line 58"/>
            <p:cNvSpPr>
              <a:spLocks noChangeShapeType="1"/>
            </p:cNvSpPr>
            <p:nvPr/>
          </p:nvSpPr>
          <p:spPr bwMode="auto">
            <a:xfrm>
              <a:off x="292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4" name="Line 59"/>
            <p:cNvSpPr>
              <a:spLocks noChangeShapeType="1"/>
            </p:cNvSpPr>
            <p:nvPr/>
          </p:nvSpPr>
          <p:spPr bwMode="auto">
            <a:xfrm>
              <a:off x="307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5" name="Line 60"/>
            <p:cNvSpPr>
              <a:spLocks noChangeShapeType="1"/>
            </p:cNvSpPr>
            <p:nvPr/>
          </p:nvSpPr>
          <p:spPr bwMode="auto">
            <a:xfrm>
              <a:off x="321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6" name="Line 61"/>
            <p:cNvSpPr>
              <a:spLocks noChangeShapeType="1"/>
            </p:cNvSpPr>
            <p:nvPr/>
          </p:nvSpPr>
          <p:spPr bwMode="auto">
            <a:xfrm>
              <a:off x="336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7" name="Line 62"/>
            <p:cNvSpPr>
              <a:spLocks noChangeShapeType="1"/>
            </p:cNvSpPr>
            <p:nvPr/>
          </p:nvSpPr>
          <p:spPr bwMode="auto">
            <a:xfrm>
              <a:off x="350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8" name="Line 63"/>
            <p:cNvSpPr>
              <a:spLocks noChangeShapeType="1"/>
            </p:cNvSpPr>
            <p:nvPr/>
          </p:nvSpPr>
          <p:spPr bwMode="auto">
            <a:xfrm>
              <a:off x="36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9" name="Line 64"/>
            <p:cNvSpPr>
              <a:spLocks noChangeShapeType="1"/>
            </p:cNvSpPr>
            <p:nvPr/>
          </p:nvSpPr>
          <p:spPr bwMode="auto">
            <a:xfrm>
              <a:off x="37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0" name="Line 65"/>
            <p:cNvSpPr>
              <a:spLocks noChangeShapeType="1"/>
            </p:cNvSpPr>
            <p:nvPr/>
          </p:nvSpPr>
          <p:spPr bwMode="auto">
            <a:xfrm>
              <a:off x="39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1" name="Line 66"/>
            <p:cNvSpPr>
              <a:spLocks noChangeShapeType="1"/>
            </p:cNvSpPr>
            <p:nvPr/>
          </p:nvSpPr>
          <p:spPr bwMode="auto">
            <a:xfrm>
              <a:off x="40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2" name="Line 67"/>
            <p:cNvSpPr>
              <a:spLocks noChangeShapeType="1"/>
            </p:cNvSpPr>
            <p:nvPr/>
          </p:nvSpPr>
          <p:spPr bwMode="auto">
            <a:xfrm>
              <a:off x="42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3" name="Line 68"/>
            <p:cNvSpPr>
              <a:spLocks noChangeShapeType="1"/>
            </p:cNvSpPr>
            <p:nvPr/>
          </p:nvSpPr>
          <p:spPr bwMode="auto">
            <a:xfrm>
              <a:off x="43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4" name="Line 69"/>
            <p:cNvSpPr>
              <a:spLocks noChangeShapeType="1"/>
            </p:cNvSpPr>
            <p:nvPr/>
          </p:nvSpPr>
          <p:spPr bwMode="auto">
            <a:xfrm>
              <a:off x="45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2743200" y="2628900"/>
            <a:ext cx="4572000" cy="685800"/>
            <a:chOff x="1776" y="1656"/>
            <a:chExt cx="2880" cy="432"/>
          </a:xfrm>
        </p:grpSpPr>
        <p:sp>
          <p:nvSpPr>
            <p:cNvPr id="36912" name="Line 71"/>
            <p:cNvSpPr>
              <a:spLocks noChangeShapeType="1"/>
            </p:cNvSpPr>
            <p:nvPr/>
          </p:nvSpPr>
          <p:spPr bwMode="auto">
            <a:xfrm>
              <a:off x="1776" y="165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3" name="Line 72"/>
            <p:cNvSpPr>
              <a:spLocks noChangeShapeType="1"/>
            </p:cNvSpPr>
            <p:nvPr/>
          </p:nvSpPr>
          <p:spPr bwMode="auto">
            <a:xfrm>
              <a:off x="1776" y="1800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4" name="Line 73"/>
            <p:cNvSpPr>
              <a:spLocks noChangeShapeType="1"/>
            </p:cNvSpPr>
            <p:nvPr/>
          </p:nvSpPr>
          <p:spPr bwMode="auto">
            <a:xfrm>
              <a:off x="1776" y="194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5" name="Line 74"/>
            <p:cNvSpPr>
              <a:spLocks noChangeShapeType="1"/>
            </p:cNvSpPr>
            <p:nvPr/>
          </p:nvSpPr>
          <p:spPr bwMode="auto">
            <a:xfrm>
              <a:off x="1776" y="208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75"/>
          <p:cNvGrpSpPr>
            <a:grpSpLocks/>
          </p:cNvGrpSpPr>
          <p:nvPr/>
        </p:nvGrpSpPr>
        <p:grpSpPr bwMode="auto">
          <a:xfrm>
            <a:off x="2857500" y="4740275"/>
            <a:ext cx="4343400" cy="914400"/>
            <a:chOff x="1848" y="3168"/>
            <a:chExt cx="2736" cy="576"/>
          </a:xfrm>
        </p:grpSpPr>
        <p:sp>
          <p:nvSpPr>
            <p:cNvPr id="36892" name="Line 76"/>
            <p:cNvSpPr>
              <a:spLocks noChangeShapeType="1"/>
            </p:cNvSpPr>
            <p:nvPr/>
          </p:nvSpPr>
          <p:spPr bwMode="auto">
            <a:xfrm>
              <a:off x="18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Line 77"/>
            <p:cNvSpPr>
              <a:spLocks noChangeShapeType="1"/>
            </p:cNvSpPr>
            <p:nvPr/>
          </p:nvSpPr>
          <p:spPr bwMode="auto">
            <a:xfrm>
              <a:off x="19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Line 78"/>
            <p:cNvSpPr>
              <a:spLocks noChangeShapeType="1"/>
            </p:cNvSpPr>
            <p:nvPr/>
          </p:nvSpPr>
          <p:spPr bwMode="auto">
            <a:xfrm>
              <a:off x="21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5" name="Line 79"/>
            <p:cNvSpPr>
              <a:spLocks noChangeShapeType="1"/>
            </p:cNvSpPr>
            <p:nvPr/>
          </p:nvSpPr>
          <p:spPr bwMode="auto">
            <a:xfrm>
              <a:off x="22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6" name="Line 80"/>
            <p:cNvSpPr>
              <a:spLocks noChangeShapeType="1"/>
            </p:cNvSpPr>
            <p:nvPr/>
          </p:nvSpPr>
          <p:spPr bwMode="auto">
            <a:xfrm>
              <a:off x="24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81"/>
            <p:cNvSpPr>
              <a:spLocks noChangeShapeType="1"/>
            </p:cNvSpPr>
            <p:nvPr/>
          </p:nvSpPr>
          <p:spPr bwMode="auto">
            <a:xfrm>
              <a:off x="25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Line 82"/>
            <p:cNvSpPr>
              <a:spLocks noChangeShapeType="1"/>
            </p:cNvSpPr>
            <p:nvPr/>
          </p:nvSpPr>
          <p:spPr bwMode="auto">
            <a:xfrm>
              <a:off x="27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Line 83"/>
            <p:cNvSpPr>
              <a:spLocks noChangeShapeType="1"/>
            </p:cNvSpPr>
            <p:nvPr/>
          </p:nvSpPr>
          <p:spPr bwMode="auto">
            <a:xfrm>
              <a:off x="285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Line 84"/>
            <p:cNvSpPr>
              <a:spLocks noChangeShapeType="1"/>
            </p:cNvSpPr>
            <p:nvPr/>
          </p:nvSpPr>
          <p:spPr bwMode="auto">
            <a:xfrm>
              <a:off x="300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Line 85"/>
            <p:cNvSpPr>
              <a:spLocks noChangeShapeType="1"/>
            </p:cNvSpPr>
            <p:nvPr/>
          </p:nvSpPr>
          <p:spPr bwMode="auto">
            <a:xfrm>
              <a:off x="314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86"/>
            <p:cNvSpPr>
              <a:spLocks noChangeShapeType="1"/>
            </p:cNvSpPr>
            <p:nvPr/>
          </p:nvSpPr>
          <p:spPr bwMode="auto">
            <a:xfrm>
              <a:off x="328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Line 87"/>
            <p:cNvSpPr>
              <a:spLocks noChangeShapeType="1"/>
            </p:cNvSpPr>
            <p:nvPr/>
          </p:nvSpPr>
          <p:spPr bwMode="auto">
            <a:xfrm>
              <a:off x="343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Line 88"/>
            <p:cNvSpPr>
              <a:spLocks noChangeShapeType="1"/>
            </p:cNvSpPr>
            <p:nvPr/>
          </p:nvSpPr>
          <p:spPr bwMode="auto">
            <a:xfrm>
              <a:off x="357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Line 89"/>
            <p:cNvSpPr>
              <a:spLocks noChangeShapeType="1"/>
            </p:cNvSpPr>
            <p:nvPr/>
          </p:nvSpPr>
          <p:spPr bwMode="auto">
            <a:xfrm>
              <a:off x="37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90"/>
            <p:cNvSpPr>
              <a:spLocks noChangeShapeType="1"/>
            </p:cNvSpPr>
            <p:nvPr/>
          </p:nvSpPr>
          <p:spPr bwMode="auto">
            <a:xfrm>
              <a:off x="38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Line 91"/>
            <p:cNvSpPr>
              <a:spLocks noChangeShapeType="1"/>
            </p:cNvSpPr>
            <p:nvPr/>
          </p:nvSpPr>
          <p:spPr bwMode="auto">
            <a:xfrm>
              <a:off x="40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8" name="Line 92"/>
            <p:cNvSpPr>
              <a:spLocks noChangeShapeType="1"/>
            </p:cNvSpPr>
            <p:nvPr/>
          </p:nvSpPr>
          <p:spPr bwMode="auto">
            <a:xfrm>
              <a:off x="41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9" name="Line 93"/>
            <p:cNvSpPr>
              <a:spLocks noChangeShapeType="1"/>
            </p:cNvSpPr>
            <p:nvPr/>
          </p:nvSpPr>
          <p:spPr bwMode="auto">
            <a:xfrm>
              <a:off x="42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Line 94"/>
            <p:cNvSpPr>
              <a:spLocks noChangeShapeType="1"/>
            </p:cNvSpPr>
            <p:nvPr/>
          </p:nvSpPr>
          <p:spPr bwMode="auto">
            <a:xfrm>
              <a:off x="44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1" name="Line 95"/>
            <p:cNvSpPr>
              <a:spLocks noChangeShapeType="1"/>
            </p:cNvSpPr>
            <p:nvPr/>
          </p:nvSpPr>
          <p:spPr bwMode="auto">
            <a:xfrm>
              <a:off x="45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99"/>
          <p:cNvGrpSpPr>
            <a:grpSpLocks/>
          </p:cNvGrpSpPr>
          <p:nvPr/>
        </p:nvGrpSpPr>
        <p:grpSpPr bwMode="auto">
          <a:xfrm>
            <a:off x="5368925" y="1257300"/>
            <a:ext cx="2709863" cy="952500"/>
            <a:chOff x="3477" y="216"/>
            <a:chExt cx="1707" cy="600"/>
          </a:xfrm>
        </p:grpSpPr>
        <p:grpSp>
          <p:nvGrpSpPr>
            <p:cNvPr id="36885" name="Group 100"/>
            <p:cNvGrpSpPr>
              <a:grpSpLocks/>
            </p:cNvGrpSpPr>
            <p:nvPr/>
          </p:nvGrpSpPr>
          <p:grpSpPr bwMode="auto">
            <a:xfrm>
              <a:off x="3477" y="528"/>
              <a:ext cx="1707" cy="288"/>
              <a:chOff x="3477" y="288"/>
              <a:chExt cx="1707" cy="288"/>
            </a:xfrm>
          </p:grpSpPr>
          <p:sp>
            <p:nvSpPr>
              <p:cNvPr id="36887" name="Text Box 101"/>
              <p:cNvSpPr txBox="1">
                <a:spLocks noChangeArrowheads="1"/>
              </p:cNvSpPr>
              <p:nvPr/>
            </p:nvSpPr>
            <p:spPr bwMode="auto">
              <a:xfrm>
                <a:off x="3477" y="288"/>
                <a:ext cx="7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4 users</a:t>
                </a:r>
                <a:endParaRPr lang="fr-FR"/>
              </a:p>
            </p:txBody>
          </p:sp>
          <p:sp>
            <p:nvSpPr>
              <p:cNvPr id="36888" name="Rectangle 102"/>
              <p:cNvSpPr>
                <a:spLocks noChangeArrowheads="1"/>
              </p:cNvSpPr>
              <p:nvPr/>
            </p:nvSpPr>
            <p:spPr bwMode="auto">
              <a:xfrm>
                <a:off x="4464" y="352"/>
                <a:ext cx="144" cy="144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6889" name="Rectangle 103"/>
              <p:cNvSpPr>
                <a:spLocks noChangeArrowheads="1"/>
              </p:cNvSpPr>
              <p:nvPr/>
            </p:nvSpPr>
            <p:spPr bwMode="auto">
              <a:xfrm>
                <a:off x="4656" y="352"/>
                <a:ext cx="144" cy="144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6890" name="Rectangle 104"/>
              <p:cNvSpPr>
                <a:spLocks noChangeArrowheads="1"/>
              </p:cNvSpPr>
              <p:nvPr/>
            </p:nvSpPr>
            <p:spPr bwMode="auto">
              <a:xfrm>
                <a:off x="4848" y="352"/>
                <a:ext cx="144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6891" name="Rectangle 105"/>
              <p:cNvSpPr>
                <a:spLocks noChangeArrowheads="1"/>
              </p:cNvSpPr>
              <p:nvPr/>
            </p:nvSpPr>
            <p:spPr bwMode="auto">
              <a:xfrm>
                <a:off x="5040" y="352"/>
                <a:ext cx="144" cy="144"/>
              </a:xfrm>
              <a:prstGeom prst="rect">
                <a:avLst/>
              </a:prstGeom>
              <a:solidFill>
                <a:srgbClr val="FF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</p:grpSp>
        <p:sp>
          <p:nvSpPr>
            <p:cNvPr id="36886" name="Text Box 106"/>
            <p:cNvSpPr txBox="1">
              <a:spLocks noChangeArrowheads="1"/>
            </p:cNvSpPr>
            <p:nvPr/>
          </p:nvSpPr>
          <p:spPr bwMode="auto">
            <a:xfrm>
              <a:off x="3480" y="216"/>
              <a:ext cx="9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Example:</a:t>
              </a:r>
              <a:endParaRPr lang="fr-FR"/>
            </a:p>
          </p:txBody>
        </p:sp>
      </p:grpSp>
      <p:sp>
        <p:nvSpPr>
          <p:cNvPr id="368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9041C711-9DA7-4162-B8FA-DEE8C0AE08AD}" type="slidenum">
              <a:rPr lang="en-US" sz="1200" smtClean="0">
                <a:latin typeface="Tahoma" pitchFamily="34" charset="0"/>
              </a:rPr>
              <a:pPr/>
              <a:t>29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7" grpId="0" animBg="1"/>
      <p:bldP spid="55308" grpId="0" animBg="1"/>
      <p:bldP spid="55309" grpId="0" animBg="1"/>
      <p:bldP spid="553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37891" name="Picture 3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7524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892" name="Group 49"/>
          <p:cNvGrpSpPr>
            <a:grpSpLocks/>
          </p:cNvGrpSpPr>
          <p:nvPr/>
        </p:nvGrpSpPr>
        <p:grpSpPr bwMode="auto">
          <a:xfrm>
            <a:off x="6438900" y="2770188"/>
            <a:ext cx="1155700" cy="620712"/>
            <a:chOff x="3600" y="219"/>
            <a:chExt cx="360" cy="175"/>
          </a:xfrm>
        </p:grpSpPr>
        <p:sp>
          <p:nvSpPr>
            <p:cNvPr id="37915" name="Oval 50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7916" name="Line 51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7" name="Line 52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8" name="Rectangle 53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7919" name="Oval 54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7920" name="Group 55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37925" name="Line 5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6" name="Line 5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7" name="Line 5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921" name="Group 59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37922" name="Line 6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3" name="Line 6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4" name="Line 6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78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5438" y="177800"/>
            <a:ext cx="8001000" cy="768350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Packet switching versus circuit switching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981200"/>
            <a:ext cx="3810000" cy="4648200"/>
          </a:xfrm>
        </p:spPr>
        <p:txBody>
          <a:bodyPr/>
          <a:lstStyle/>
          <a:p>
            <a:pPr marL="231775" indent="-231775" eaLnBrk="1" hangingPunct="1">
              <a:buSzPct val="75000"/>
              <a:buFont typeface="Wingdings" pitchFamily="2" charset="2"/>
              <a:buNone/>
              <a:tabLst>
                <a:tab pos="566738" algn="l"/>
              </a:tabLst>
            </a:pPr>
            <a:r>
              <a:rPr lang="en-US" sz="2400" smtClean="0">
                <a:solidFill>
                  <a:srgbClr val="000099"/>
                </a:solidFill>
                <a:ea typeface="ＭＳ Ｐゴシック" pitchFamily="34" charset="-128"/>
              </a:rPr>
              <a:t>example:</a:t>
            </a:r>
          </a:p>
          <a:p>
            <a:pPr marL="231775" indent="-231775" eaLnBrk="1" hangingPunct="1">
              <a:buSzTx/>
              <a:buFont typeface="Wingdings" pitchFamily="2" charset="2"/>
              <a:buChar char="§"/>
              <a:tabLst>
                <a:tab pos="566738" algn="l"/>
              </a:tabLst>
            </a:pPr>
            <a:r>
              <a:rPr lang="en-US" sz="2400" smtClean="0">
                <a:ea typeface="ＭＳ Ｐゴシック" pitchFamily="34" charset="-128"/>
              </a:rPr>
              <a:t>1 Mb/s link</a:t>
            </a:r>
          </a:p>
          <a:p>
            <a:pPr marL="231775" indent="-231775" eaLnBrk="1" hangingPunct="1">
              <a:buSzTx/>
              <a:buFont typeface="Wingdings" pitchFamily="2" charset="2"/>
              <a:buChar char="§"/>
              <a:tabLst>
                <a:tab pos="566738" algn="l"/>
              </a:tabLst>
            </a:pPr>
            <a:r>
              <a:rPr lang="en-US" sz="2400" smtClean="0">
                <a:ea typeface="ＭＳ Ｐゴシック" pitchFamily="34" charset="-128"/>
              </a:rPr>
              <a:t>each user: </a:t>
            </a:r>
          </a:p>
          <a:p>
            <a:pPr marL="566738" lvl="1" indent="-219075" eaLnBrk="1" hangingPunct="1">
              <a:buClr>
                <a:schemeClr val="tx1"/>
              </a:buClr>
              <a:buFontTx/>
              <a:buChar char="•"/>
              <a:tabLst>
                <a:tab pos="566738" algn="l"/>
              </a:tabLst>
            </a:pPr>
            <a:r>
              <a:rPr lang="en-US" sz="2000" smtClean="0"/>
              <a:t>100 kb/s when </a:t>
            </a:r>
            <a:r>
              <a:rPr lang="ja-JP" altLang="en-US" sz="2000" smtClean="0">
                <a:ea typeface="ＭＳ Ｐゴシック" pitchFamily="34" charset="-128"/>
              </a:rPr>
              <a:t>“</a:t>
            </a:r>
            <a:r>
              <a:rPr lang="en-US" altLang="ja-JP" sz="2000" smtClean="0">
                <a:ea typeface="ＭＳ Ｐゴシック" pitchFamily="34" charset="-128"/>
              </a:rPr>
              <a:t>active</a:t>
            </a:r>
            <a:r>
              <a:rPr lang="ja-JP" altLang="en-US" sz="2000" smtClean="0">
                <a:ea typeface="ＭＳ Ｐゴシック" pitchFamily="34" charset="-128"/>
              </a:rPr>
              <a:t>”</a:t>
            </a:r>
            <a:endParaRPr lang="en-US" altLang="ja-JP" sz="2000" smtClean="0">
              <a:ea typeface="ＭＳ Ｐゴシック" pitchFamily="34" charset="-128"/>
            </a:endParaRPr>
          </a:p>
          <a:p>
            <a:pPr marL="566738" lvl="1" indent="-219075" eaLnBrk="1" hangingPunct="1">
              <a:buClr>
                <a:schemeClr val="tx1"/>
              </a:buClr>
              <a:buFontTx/>
              <a:buChar char="•"/>
              <a:tabLst>
                <a:tab pos="566738" algn="l"/>
              </a:tabLst>
            </a:pPr>
            <a:r>
              <a:rPr lang="en-US" sz="2000" smtClean="0"/>
              <a:t>active 10% of time</a:t>
            </a:r>
          </a:p>
          <a:p>
            <a:pPr marL="566738" lvl="1" indent="-219075" eaLnBrk="1" hangingPunct="1">
              <a:tabLst>
                <a:tab pos="566738" algn="l"/>
              </a:tabLst>
            </a:pPr>
            <a:endParaRPr lang="en-US" sz="2000" smtClean="0"/>
          </a:p>
          <a:p>
            <a:pPr marL="231775" indent="-231775" eaLnBrk="1" hangingPunct="1">
              <a:buSzPct val="75000"/>
              <a:tabLst>
                <a:tab pos="566738" algn="l"/>
              </a:tabLst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circuit-switching:</a:t>
            </a:r>
            <a:r>
              <a:rPr lang="en-US" sz="2400" smtClean="0">
                <a:ea typeface="ＭＳ Ｐゴシック" pitchFamily="34" charset="-128"/>
              </a:rPr>
              <a:t> </a:t>
            </a:r>
          </a:p>
          <a:p>
            <a:pPr marL="566738" lvl="1" indent="-219075" eaLnBrk="1" hangingPunct="1">
              <a:tabLst>
                <a:tab pos="566738" algn="l"/>
              </a:tabLst>
            </a:pPr>
            <a:r>
              <a:rPr lang="en-US" sz="2000" smtClean="0"/>
              <a:t>10 users</a:t>
            </a:r>
          </a:p>
          <a:p>
            <a:pPr marL="231775" indent="-231775" eaLnBrk="1" hangingPunct="1">
              <a:buSzPct val="75000"/>
              <a:tabLst>
                <a:tab pos="566738" algn="l"/>
              </a:tabLst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packet switching:</a:t>
            </a:r>
            <a:r>
              <a:rPr lang="en-US" sz="2400" smtClean="0">
                <a:ea typeface="ＭＳ Ｐゴシック" pitchFamily="34" charset="-128"/>
              </a:rPr>
              <a:t> </a:t>
            </a:r>
          </a:p>
          <a:p>
            <a:pPr marL="566738" lvl="1" indent="-219075" eaLnBrk="1" hangingPunct="1">
              <a:tabLst>
                <a:tab pos="566738" algn="l"/>
              </a:tabLst>
            </a:pPr>
            <a:r>
              <a:rPr lang="en-US" sz="2000" smtClean="0"/>
              <a:t>with 35 users, probability &gt; 10 active at same time is less than .0004 *</a:t>
            </a:r>
          </a:p>
          <a:p>
            <a:pPr marL="231775" indent="-231775" eaLnBrk="1" hangingPunct="1">
              <a:tabLst>
                <a:tab pos="566738" algn="l"/>
              </a:tabLst>
            </a:pPr>
            <a:endParaRPr lang="en-US" sz="2400" smtClean="0">
              <a:ea typeface="ＭＳ Ｐゴシック" pitchFamily="34" charset="-128"/>
            </a:endParaRPr>
          </a:p>
        </p:txBody>
      </p:sp>
      <p:sp>
        <p:nvSpPr>
          <p:cNvPr id="37895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8300" y="1122363"/>
            <a:ext cx="8715375" cy="609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packet switching allows more users to use network!</a:t>
            </a:r>
          </a:p>
        </p:txBody>
      </p:sp>
      <p:sp>
        <p:nvSpPr>
          <p:cNvPr id="37896" name="Line 15"/>
          <p:cNvSpPr>
            <a:spLocks noChangeShapeType="1"/>
          </p:cNvSpPr>
          <p:nvPr/>
        </p:nvSpPr>
        <p:spPr bwMode="auto">
          <a:xfrm>
            <a:off x="5380038" y="2562225"/>
            <a:ext cx="838200" cy="4572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7" name="Line 16"/>
          <p:cNvSpPr>
            <a:spLocks noChangeShapeType="1"/>
          </p:cNvSpPr>
          <p:nvPr/>
        </p:nvSpPr>
        <p:spPr bwMode="auto">
          <a:xfrm>
            <a:off x="6218238" y="3019425"/>
            <a:ext cx="203835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Line 17"/>
          <p:cNvSpPr>
            <a:spLocks noChangeShapeType="1"/>
          </p:cNvSpPr>
          <p:nvPr/>
        </p:nvSpPr>
        <p:spPr bwMode="auto">
          <a:xfrm>
            <a:off x="6218238" y="3171825"/>
            <a:ext cx="203835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9" name="Line 18"/>
          <p:cNvSpPr>
            <a:spLocks noChangeShapeType="1"/>
          </p:cNvSpPr>
          <p:nvPr/>
        </p:nvSpPr>
        <p:spPr bwMode="auto">
          <a:xfrm flipV="1">
            <a:off x="5456238" y="3171825"/>
            <a:ext cx="762000" cy="6096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Text Box 19"/>
          <p:cNvSpPr txBox="1">
            <a:spLocks noChangeArrowheads="1"/>
          </p:cNvSpPr>
          <p:nvPr/>
        </p:nvSpPr>
        <p:spPr bwMode="auto">
          <a:xfrm>
            <a:off x="5145088" y="2740025"/>
            <a:ext cx="730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2000" i="1">
                <a:solidFill>
                  <a:srgbClr val="000099"/>
                </a:solidFill>
                <a:latin typeface="Gill Sans MT" pitchFamily="34" charset="0"/>
              </a:rPr>
              <a:t>N</a:t>
            </a:r>
            <a:r>
              <a:rPr lang="en-US" sz="2000">
                <a:solidFill>
                  <a:srgbClr val="000099"/>
                </a:solidFill>
                <a:latin typeface="Gill Sans MT" pitchFamily="34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sz="2000">
                <a:solidFill>
                  <a:srgbClr val="000099"/>
                </a:solidFill>
                <a:latin typeface="Gill Sans MT" pitchFamily="34" charset="0"/>
              </a:rPr>
              <a:t>users</a:t>
            </a:r>
          </a:p>
        </p:txBody>
      </p:sp>
      <p:sp>
        <p:nvSpPr>
          <p:cNvPr id="37901" name="Text Box 20"/>
          <p:cNvSpPr txBox="1">
            <a:spLocks noChangeArrowheads="1"/>
          </p:cNvSpPr>
          <p:nvPr/>
        </p:nvSpPr>
        <p:spPr bwMode="auto">
          <a:xfrm>
            <a:off x="7542213" y="3303588"/>
            <a:ext cx="1468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/>
              <a:t>1 Mbps link</a:t>
            </a:r>
          </a:p>
        </p:txBody>
      </p:sp>
      <p:sp>
        <p:nvSpPr>
          <p:cNvPr id="37902" name="Line 47"/>
          <p:cNvSpPr>
            <a:spLocks noChangeShapeType="1"/>
          </p:cNvSpPr>
          <p:nvPr/>
        </p:nvSpPr>
        <p:spPr bwMode="auto">
          <a:xfrm>
            <a:off x="7586663" y="3086100"/>
            <a:ext cx="1409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903" name="Group 35"/>
          <p:cNvGrpSpPr>
            <a:grpSpLocks/>
          </p:cNvGrpSpPr>
          <p:nvPr/>
        </p:nvGrpSpPr>
        <p:grpSpPr bwMode="auto">
          <a:xfrm>
            <a:off x="4719638" y="4767263"/>
            <a:ext cx="4168775" cy="985837"/>
            <a:chOff x="3016" y="3097"/>
            <a:chExt cx="2626" cy="621"/>
          </a:xfrm>
        </p:grpSpPr>
        <p:sp>
          <p:nvSpPr>
            <p:cNvPr id="37913" name="Text Box 48"/>
            <p:cNvSpPr txBox="1">
              <a:spLocks noChangeArrowheads="1"/>
            </p:cNvSpPr>
            <p:nvPr/>
          </p:nvSpPr>
          <p:spPr bwMode="auto">
            <a:xfrm>
              <a:off x="3016" y="3097"/>
              <a:ext cx="26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i="1">
                  <a:solidFill>
                    <a:srgbClr val="CC0000"/>
                  </a:solidFill>
                  <a:latin typeface="Gill Sans MT" pitchFamily="34" charset="0"/>
                </a:rPr>
                <a:t>Q:</a:t>
              </a:r>
              <a:r>
                <a:rPr lang="en-US">
                  <a:latin typeface="Gill Sans MT" pitchFamily="34" charset="0"/>
                </a:rPr>
                <a:t> how did we get value 0.0004?</a:t>
              </a:r>
            </a:p>
          </p:txBody>
        </p:sp>
        <p:sp>
          <p:nvSpPr>
            <p:cNvPr id="37914" name="Text Box 48"/>
            <p:cNvSpPr txBox="1">
              <a:spLocks noChangeArrowheads="1"/>
            </p:cNvSpPr>
            <p:nvPr/>
          </p:nvSpPr>
          <p:spPr bwMode="auto">
            <a:xfrm>
              <a:off x="3031" y="3430"/>
              <a:ext cx="25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i="1">
                  <a:solidFill>
                    <a:srgbClr val="CC0000"/>
                  </a:solidFill>
                  <a:latin typeface="Gill Sans MT" pitchFamily="34" charset="0"/>
                </a:rPr>
                <a:t>Q:</a:t>
              </a:r>
              <a:r>
                <a:rPr lang="en-US">
                  <a:latin typeface="Gill Sans MT" pitchFamily="34" charset="0"/>
                </a:rPr>
                <a:t> what happens if &gt; 35 users ?</a:t>
              </a:r>
            </a:p>
          </p:txBody>
        </p:sp>
      </p:grpSp>
      <p:sp>
        <p:nvSpPr>
          <p:cNvPr id="37904" name="Text Box 34"/>
          <p:cNvSpPr txBox="1">
            <a:spLocks noChangeArrowheads="1"/>
          </p:cNvSpPr>
          <p:nvPr/>
        </p:nvSpPr>
        <p:spPr bwMode="auto">
          <a:xfrm rot="5273514">
            <a:off x="4791869" y="2780507"/>
            <a:ext cx="73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800" b="1"/>
              <a:t>…..</a:t>
            </a:r>
          </a:p>
        </p:txBody>
      </p:sp>
      <p:grpSp>
        <p:nvGrpSpPr>
          <p:cNvPr id="37905" name="Group 37"/>
          <p:cNvGrpSpPr>
            <a:grpSpLocks/>
          </p:cNvGrpSpPr>
          <p:nvPr/>
        </p:nvGrpSpPr>
        <p:grpSpPr bwMode="auto">
          <a:xfrm>
            <a:off x="4646613" y="2066925"/>
            <a:ext cx="779462" cy="679450"/>
            <a:chOff x="-44" y="1473"/>
            <a:chExt cx="981" cy="1105"/>
          </a:xfrm>
        </p:grpSpPr>
        <p:pic>
          <p:nvPicPr>
            <p:cNvPr id="37911" name="Picture 3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12" name="Freeform 3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7906" name="Group 40"/>
          <p:cNvGrpSpPr>
            <a:grpSpLocks/>
          </p:cNvGrpSpPr>
          <p:nvPr/>
        </p:nvGrpSpPr>
        <p:grpSpPr bwMode="auto">
          <a:xfrm>
            <a:off x="4651375" y="3392488"/>
            <a:ext cx="779463" cy="679450"/>
            <a:chOff x="-44" y="1473"/>
            <a:chExt cx="981" cy="1105"/>
          </a:xfrm>
        </p:grpSpPr>
        <p:pic>
          <p:nvPicPr>
            <p:cNvPr id="37909" name="Picture 4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10" name="Freeform 4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79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98648A9-D22B-43C3-BE0D-B05C9161540D}" type="slidenum">
              <a:rPr lang="en-US" sz="1200" smtClean="0">
                <a:latin typeface="Tahoma" pitchFamily="34" charset="0"/>
              </a:rPr>
              <a:pPr/>
              <a:t>30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37908" name="TextBox 1"/>
          <p:cNvSpPr txBox="1">
            <a:spLocks noChangeArrowheads="1"/>
          </p:cNvSpPr>
          <p:nvPr/>
        </p:nvSpPr>
        <p:spPr bwMode="auto">
          <a:xfrm>
            <a:off x="647700" y="6462713"/>
            <a:ext cx="51546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Check out the online interactive exercises for more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31800" y="1720850"/>
            <a:ext cx="8196263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great for bursty data</a:t>
            </a:r>
          </a:p>
          <a:p>
            <a:pPr lvl="1" eaLnBrk="1" hangingPunct="1"/>
            <a:r>
              <a:rPr lang="en-US" smtClean="0"/>
              <a:t>resource sharing</a:t>
            </a:r>
          </a:p>
          <a:p>
            <a:pPr lvl="1" eaLnBrk="1" hangingPunct="1"/>
            <a:r>
              <a:rPr lang="en-US" smtClean="0"/>
              <a:t>simpler, no call setup</a:t>
            </a:r>
            <a:endParaRPr lang="en-US" sz="2000" smtClean="0"/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excessive congestion possible:</a:t>
            </a:r>
            <a:r>
              <a:rPr lang="en-US" sz="2400" smtClean="0">
                <a:ea typeface="ＭＳ Ｐゴシック" pitchFamily="34" charset="-128"/>
              </a:rPr>
              <a:t> packet delay and loss</a:t>
            </a:r>
          </a:p>
          <a:p>
            <a:pPr lvl="1" eaLnBrk="1" hangingPunct="1"/>
            <a:r>
              <a:rPr lang="en-US" smtClean="0"/>
              <a:t>protocols needed for reliable data transfer, congestion control</a:t>
            </a:r>
            <a:endParaRPr lang="en-US" sz="2000" smtClean="0"/>
          </a:p>
          <a:p>
            <a:pPr eaLnBrk="1" hangingPunct="1"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Q:</a:t>
            </a: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 How to provide circuit-like behavior?</a:t>
            </a:r>
          </a:p>
          <a:p>
            <a:pPr lvl="1" eaLnBrk="1" hangingPunct="1"/>
            <a:r>
              <a:rPr lang="en-US" smtClean="0"/>
              <a:t>bandwidth guarantees needed for audio/video apps</a:t>
            </a:r>
          </a:p>
          <a:p>
            <a:pPr lvl="1" eaLnBrk="1" hangingPunct="1"/>
            <a:r>
              <a:rPr lang="en-US" smtClean="0"/>
              <a:t>still an unsolved problem (chapter 7)</a:t>
            </a:r>
            <a:endParaRPr lang="en-US" sz="2000" smtClean="0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74638" y="1196975"/>
            <a:ext cx="7620000" cy="609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is packet switching a </a:t>
            </a:r>
            <a:r>
              <a:rPr lang="ja-JP" altLang="en-US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smtClean="0">
                <a:solidFill>
                  <a:srgbClr val="CC0000"/>
                </a:solidFill>
                <a:ea typeface="ＭＳ Ｐゴシック" pitchFamily="34" charset="-128"/>
              </a:rPr>
              <a:t>slam dunk winner?</a:t>
            </a:r>
            <a:r>
              <a:rPr lang="ja-JP" altLang="en-US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endParaRPr lang="en-US" smtClean="0">
              <a:solidFill>
                <a:srgbClr val="CC0000"/>
              </a:solidFill>
              <a:ea typeface="ＭＳ Ｐゴシック" pitchFamily="34" charset="-128"/>
            </a:endParaRPr>
          </a:p>
        </p:txBody>
      </p:sp>
      <p:sp>
        <p:nvSpPr>
          <p:cNvPr id="38917" name="Text Box 20"/>
          <p:cNvSpPr txBox="1">
            <a:spLocks noChangeArrowheads="1"/>
          </p:cNvSpPr>
          <p:nvPr/>
        </p:nvSpPr>
        <p:spPr bwMode="auto">
          <a:xfrm>
            <a:off x="352425" y="5472113"/>
            <a:ext cx="82343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Q:</a:t>
            </a:r>
            <a:r>
              <a:rPr lang="en-US">
                <a:latin typeface="Gill Sans MT" pitchFamily="34" charset="0"/>
              </a:rPr>
              <a:t>  human analogies of reserved resources (circuit switching) versus on-demand allocation (packet-switching)?</a:t>
            </a:r>
          </a:p>
        </p:txBody>
      </p:sp>
      <p:pic>
        <p:nvPicPr>
          <p:cNvPr id="38918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7524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Rectangle 2"/>
          <p:cNvSpPr>
            <a:spLocks noChangeArrowheads="1"/>
          </p:cNvSpPr>
          <p:nvPr/>
        </p:nvSpPr>
        <p:spPr bwMode="auto">
          <a:xfrm>
            <a:off x="325438" y="177800"/>
            <a:ext cx="80010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Packet switching versus circuit switching</a:t>
            </a:r>
            <a:endParaRPr lang="en-US" sz="4400">
              <a:solidFill>
                <a:srgbClr val="000099"/>
              </a:solidFill>
              <a:latin typeface="Gill Sans MT" pitchFamily="34" charset="0"/>
            </a:endParaRPr>
          </a:p>
        </p:txBody>
      </p:sp>
      <p:sp>
        <p:nvSpPr>
          <p:cNvPr id="389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0607C3B-AACA-4BD5-9DE4-FCD03CC634F1}" type="slidenum">
              <a:rPr lang="en-US" sz="1200" smtClean="0">
                <a:latin typeface="Tahoma" pitchFamily="34" charset="0"/>
              </a:rPr>
              <a:pPr/>
              <a:t>31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39939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3"/>
          <p:cNvSpPr txBox="1">
            <a:spLocks noChangeArrowheads="1"/>
          </p:cNvSpPr>
          <p:nvPr/>
        </p:nvSpPr>
        <p:spPr bwMode="auto">
          <a:xfrm>
            <a:off x="481013" y="1263650"/>
            <a:ext cx="819626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End systems connect to Internet via </a:t>
            </a:r>
            <a:r>
              <a:rPr lang="en-US">
                <a:solidFill>
                  <a:srgbClr val="C00000"/>
                </a:solidFill>
                <a:latin typeface="Gill Sans MT" pitchFamily="34" charset="0"/>
              </a:rPr>
              <a:t>access ISPs </a:t>
            </a:r>
            <a:r>
              <a:rPr lang="en-US">
                <a:latin typeface="Gill Sans MT" pitchFamily="34" charset="0"/>
              </a:rPr>
              <a:t>(Internet Service Providers)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Residential, company and university ISPs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Access ISPs in turn must be interconnected. 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So that any two hosts can send packets to each other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Resulting network of networks is very complex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Evolution was driven by </a:t>
            </a:r>
            <a:r>
              <a:rPr lang="en-US">
                <a:solidFill>
                  <a:srgbClr val="C00000"/>
                </a:solidFill>
                <a:latin typeface="Gill Sans MT" pitchFamily="34" charset="0"/>
              </a:rPr>
              <a:t>economics</a:t>
            </a:r>
            <a:r>
              <a:rPr lang="en-US">
                <a:latin typeface="Gill Sans MT" pitchFamily="34" charset="0"/>
              </a:rPr>
              <a:t> and </a:t>
            </a:r>
            <a:r>
              <a:rPr lang="en-US">
                <a:solidFill>
                  <a:srgbClr val="C00000"/>
                </a:solidFill>
                <a:latin typeface="Gill Sans MT" pitchFamily="34" charset="0"/>
              </a:rPr>
              <a:t>national policies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Let</a:t>
            </a:r>
            <a:r>
              <a:rPr lang="ja-JP" altLang="en-US">
                <a:latin typeface="Gill Sans MT" pitchFamily="34" charset="0"/>
              </a:rPr>
              <a:t>’</a:t>
            </a:r>
            <a:r>
              <a:rPr lang="en-US" altLang="ja-JP">
                <a:latin typeface="Gill Sans MT" pitchFamily="34" charset="0"/>
              </a:rPr>
              <a:t>s take a stepwise approach to describe current Internet structure</a:t>
            </a:r>
            <a:endParaRPr lang="en-US">
              <a:latin typeface="Gill Sans M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3075" y="1073150"/>
            <a:ext cx="8204200" cy="906463"/>
          </a:xfrm>
        </p:spPr>
        <p:txBody>
          <a:bodyPr/>
          <a:lstStyle/>
          <a:p>
            <a:pPr marL="0" indent="0" eaLnBrk="1" hangingPunct="1">
              <a:buSzPct val="75000"/>
              <a:buFont typeface="Wingdings" pitchFamily="2" charset="2"/>
              <a:buNone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Question: </a:t>
            </a:r>
            <a:r>
              <a:rPr lang="en-US" sz="2400" smtClean="0">
                <a:ea typeface="ＭＳ Ｐゴシック" pitchFamily="34" charset="-128"/>
              </a:rPr>
              <a:t>given </a:t>
            </a:r>
            <a:r>
              <a:rPr lang="en-US" sz="2400" i="1" smtClean="0">
                <a:ea typeface="ＭＳ Ｐゴシック" pitchFamily="34" charset="-128"/>
              </a:rPr>
              <a:t>millions</a:t>
            </a:r>
            <a:r>
              <a:rPr lang="en-US" sz="2400" smtClean="0">
                <a:ea typeface="ＭＳ Ｐゴシック" pitchFamily="34" charset="-128"/>
              </a:rPr>
              <a:t> of access ISPs, how to connect them together?</a:t>
            </a:r>
          </a:p>
          <a:p>
            <a:pPr marL="0" indent="0" eaLnBrk="1" hangingPunct="1">
              <a:buSzPct val="75000"/>
              <a:buFont typeface="Wingdings" pitchFamily="2" charset="2"/>
              <a:buNone/>
            </a:pPr>
            <a:endParaRPr lang="en-US" sz="2400" smtClean="0">
              <a:ea typeface="ＭＳ Ｐゴシック" pitchFamily="34" charset="-128"/>
            </a:endParaRPr>
          </a:p>
        </p:txBody>
      </p:sp>
      <p:pic>
        <p:nvPicPr>
          <p:cNvPr id="40964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65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0966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101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9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67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101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7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68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101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5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69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101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3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0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101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1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1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100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9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2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100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7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3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100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5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4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100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3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5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100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1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6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099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9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7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099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7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8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099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5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9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099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3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80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099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1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81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098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9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0982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3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4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5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6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7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3075" y="1073150"/>
            <a:ext cx="8204200" cy="673100"/>
          </a:xfrm>
        </p:spPr>
        <p:txBody>
          <a:bodyPr/>
          <a:lstStyle/>
          <a:p>
            <a:pPr marL="0" indent="0" eaLnBrk="1" hangingPunct="1">
              <a:buSzPct val="75000"/>
              <a:buFont typeface="Wingdings" pitchFamily="2" charset="2"/>
              <a:buNone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Option: </a:t>
            </a:r>
            <a:r>
              <a:rPr lang="en-US" sz="2400" i="1" smtClean="0">
                <a:ea typeface="ＭＳ Ｐゴシック" pitchFamily="34" charset="-128"/>
              </a:rPr>
              <a:t>connect each access ISP to every other access ISP? </a:t>
            </a:r>
          </a:p>
          <a:p>
            <a:pPr marL="0" indent="0" eaLnBrk="1" hangingPunct="1">
              <a:buSzPct val="75000"/>
              <a:buFont typeface="Wingdings" pitchFamily="2" charset="2"/>
              <a:buNone/>
            </a:pPr>
            <a:endParaRPr lang="en-US" sz="2400" smtClean="0">
              <a:ea typeface="ＭＳ Ｐゴシック" pitchFamily="34" charset="-128"/>
            </a:endParaRPr>
          </a:p>
        </p:txBody>
      </p:sp>
      <p:pic>
        <p:nvPicPr>
          <p:cNvPr id="41988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989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2044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209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7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5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209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5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6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209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3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7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209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1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8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208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9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9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208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7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0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208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5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1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208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3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2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208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1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3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207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9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4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207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7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5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207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5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6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207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3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7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207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1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8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206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69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9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206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67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2060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1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2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3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4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5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grpSp>
        <p:nvGrpSpPr>
          <p:cNvPr id="19" name="Group 25"/>
          <p:cNvGrpSpPr>
            <a:grpSpLocks/>
          </p:cNvGrpSpPr>
          <p:nvPr/>
        </p:nvGrpSpPr>
        <p:grpSpPr bwMode="auto">
          <a:xfrm>
            <a:off x="908050" y="2281238"/>
            <a:ext cx="7361238" cy="3768725"/>
            <a:chOff x="888125" y="2295063"/>
            <a:chExt cx="7361771" cy="3769689"/>
          </a:xfrm>
        </p:grpSpPr>
        <p:cxnSp>
          <p:nvCxnSpPr>
            <p:cNvPr id="42024" name="Straight Connector 7"/>
            <p:cNvCxnSpPr>
              <a:cxnSpLocks noChangeShapeType="1"/>
              <a:stCxn id="42090" idx="0"/>
            </p:cNvCxnSpPr>
            <p:nvPr/>
          </p:nvCxnSpPr>
          <p:spPr bwMode="auto">
            <a:xfrm flipV="1">
              <a:off x="1661409" y="2570969"/>
              <a:ext cx="577293" cy="2802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5" name="Straight Connector 188"/>
            <p:cNvCxnSpPr>
              <a:cxnSpLocks noChangeShapeType="1"/>
              <a:stCxn id="42090" idx="0"/>
            </p:cNvCxnSpPr>
            <p:nvPr/>
          </p:nvCxnSpPr>
          <p:spPr bwMode="auto">
            <a:xfrm flipH="1" flipV="1">
              <a:off x="1509155" y="3032403"/>
              <a:ext cx="171469" cy="2327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6" name="Straight Connector 190"/>
            <p:cNvCxnSpPr>
              <a:cxnSpLocks noChangeShapeType="1"/>
              <a:stCxn id="42090" idx="0"/>
            </p:cNvCxnSpPr>
            <p:nvPr/>
          </p:nvCxnSpPr>
          <p:spPr bwMode="auto">
            <a:xfrm flipH="1" flipV="1">
              <a:off x="1185287" y="3451504"/>
              <a:ext cx="495337" cy="1908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7" name="Straight Connector 192"/>
            <p:cNvCxnSpPr>
              <a:cxnSpLocks noChangeShapeType="1"/>
              <a:stCxn id="42090" idx="0"/>
            </p:cNvCxnSpPr>
            <p:nvPr/>
          </p:nvCxnSpPr>
          <p:spPr bwMode="auto">
            <a:xfrm flipH="1" flipV="1">
              <a:off x="1181567" y="4298698"/>
              <a:ext cx="499057" cy="1060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8" name="Straight Connector 195"/>
            <p:cNvCxnSpPr>
              <a:cxnSpLocks noChangeShapeType="1"/>
              <a:stCxn id="42090" idx="0"/>
            </p:cNvCxnSpPr>
            <p:nvPr/>
          </p:nvCxnSpPr>
          <p:spPr bwMode="auto">
            <a:xfrm flipH="1" flipV="1">
              <a:off x="1386886" y="4980292"/>
              <a:ext cx="293738" cy="379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9" name="Straight Connector 197"/>
            <p:cNvCxnSpPr>
              <a:cxnSpLocks noChangeShapeType="1"/>
              <a:endCxn id="42090" idx="0"/>
            </p:cNvCxnSpPr>
            <p:nvPr/>
          </p:nvCxnSpPr>
          <p:spPr bwMode="auto">
            <a:xfrm flipH="1" flipV="1">
              <a:off x="1661409" y="5373637"/>
              <a:ext cx="1526432" cy="593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0" name="Straight Connector 199"/>
            <p:cNvCxnSpPr>
              <a:cxnSpLocks noChangeShapeType="1"/>
              <a:endCxn id="42090" idx="0"/>
            </p:cNvCxnSpPr>
            <p:nvPr/>
          </p:nvCxnSpPr>
          <p:spPr bwMode="auto">
            <a:xfrm flipH="1" flipV="1">
              <a:off x="1680624" y="5359527"/>
              <a:ext cx="2723702" cy="703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1" name="Straight Connector 201"/>
            <p:cNvCxnSpPr>
              <a:cxnSpLocks noChangeShapeType="1"/>
              <a:endCxn id="42090" idx="0"/>
            </p:cNvCxnSpPr>
            <p:nvPr/>
          </p:nvCxnSpPr>
          <p:spPr bwMode="auto">
            <a:xfrm flipH="1" flipV="1">
              <a:off x="1680624" y="5359527"/>
              <a:ext cx="3605885" cy="619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2" name="Straight Connector 203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5184745"/>
              <a:ext cx="6569272" cy="1747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3" name="Straight Connector 204"/>
            <p:cNvCxnSpPr>
              <a:cxnSpLocks noChangeShapeType="1"/>
              <a:endCxn id="42090" idx="0"/>
            </p:cNvCxnSpPr>
            <p:nvPr/>
          </p:nvCxnSpPr>
          <p:spPr bwMode="auto">
            <a:xfrm flipH="1" flipV="1">
              <a:off x="1680624" y="5359527"/>
              <a:ext cx="5742435" cy="4867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4" name="Straight Connector 207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4311835"/>
              <a:ext cx="6338019" cy="1047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5" name="Straight Connector 209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3273553"/>
              <a:ext cx="5749312" cy="2085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6" name="Straight Connector 211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2784308"/>
              <a:ext cx="4942318" cy="2575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7" name="Straight Connector 213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2295063"/>
              <a:ext cx="2971398" cy="3064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8" name="Straight Connector 215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2295321"/>
              <a:ext cx="2025496" cy="3064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039" name="TextBox 24"/>
            <p:cNvSpPr txBox="1">
              <a:spLocks noChangeArrowheads="1"/>
            </p:cNvSpPr>
            <p:nvPr/>
          </p:nvSpPr>
          <p:spPr bwMode="auto">
            <a:xfrm rot="5710989">
              <a:off x="859913" y="4114468"/>
              <a:ext cx="3642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…</a:t>
              </a:r>
            </a:p>
          </p:txBody>
        </p:sp>
        <p:sp>
          <p:nvSpPr>
            <p:cNvPr id="42040" name="TextBox 218"/>
            <p:cNvSpPr txBox="1">
              <a:spLocks noChangeArrowheads="1"/>
            </p:cNvSpPr>
            <p:nvPr/>
          </p:nvSpPr>
          <p:spPr bwMode="auto">
            <a:xfrm rot="7515077">
              <a:off x="4511491" y="5728762"/>
              <a:ext cx="3642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…</a:t>
              </a:r>
            </a:p>
          </p:txBody>
        </p:sp>
        <p:sp>
          <p:nvSpPr>
            <p:cNvPr id="42041" name="TextBox 219"/>
            <p:cNvSpPr txBox="1">
              <a:spLocks noChangeArrowheads="1"/>
            </p:cNvSpPr>
            <p:nvPr/>
          </p:nvSpPr>
          <p:spPr bwMode="auto">
            <a:xfrm rot="3940343">
              <a:off x="6392354" y="384621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/>
                <a:t>…</a:t>
              </a:r>
            </a:p>
          </p:txBody>
        </p:sp>
        <p:sp>
          <p:nvSpPr>
            <p:cNvPr id="42042" name="TextBox 220"/>
            <p:cNvSpPr txBox="1">
              <a:spLocks noChangeArrowheads="1"/>
            </p:cNvSpPr>
            <p:nvPr/>
          </p:nvSpPr>
          <p:spPr bwMode="auto">
            <a:xfrm rot="2048420">
              <a:off x="4482993" y="268468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/>
                <a:t>…</a:t>
              </a:r>
            </a:p>
          </p:txBody>
        </p:sp>
        <p:sp>
          <p:nvSpPr>
            <p:cNvPr id="42043" name="TextBox 221"/>
            <p:cNvSpPr txBox="1">
              <a:spLocks noChangeArrowheads="1"/>
            </p:cNvSpPr>
            <p:nvPr/>
          </p:nvSpPr>
          <p:spPr bwMode="auto">
            <a:xfrm rot="-316136">
              <a:off x="2189980" y="268738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/>
                <a:t>…</a:t>
              </a:r>
            </a:p>
          </p:txBody>
        </p:sp>
      </p:grpSp>
      <p:grpSp>
        <p:nvGrpSpPr>
          <p:cNvPr id="20" name="Group 223"/>
          <p:cNvGrpSpPr>
            <a:grpSpLocks/>
          </p:cNvGrpSpPr>
          <p:nvPr/>
        </p:nvGrpSpPr>
        <p:grpSpPr bwMode="auto">
          <a:xfrm>
            <a:off x="1158875" y="2305050"/>
            <a:ext cx="7094538" cy="3695700"/>
            <a:chOff x="862570" y="2361120"/>
            <a:chExt cx="7094553" cy="3695520"/>
          </a:xfrm>
        </p:grpSpPr>
        <p:cxnSp>
          <p:nvCxnSpPr>
            <p:cNvPr id="42009" name="Straight Connector 224"/>
            <p:cNvCxnSpPr>
              <a:cxnSpLocks noChangeShapeType="1"/>
            </p:cNvCxnSpPr>
            <p:nvPr/>
          </p:nvCxnSpPr>
          <p:spPr bwMode="auto">
            <a:xfrm flipH="1">
              <a:off x="1446332" y="2897188"/>
              <a:ext cx="4736982" cy="2535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0" name="Straight Connector 225"/>
            <p:cNvCxnSpPr>
              <a:cxnSpLocks noChangeShapeType="1"/>
            </p:cNvCxnSpPr>
            <p:nvPr/>
          </p:nvCxnSpPr>
          <p:spPr bwMode="auto">
            <a:xfrm flipH="1">
              <a:off x="2972043" y="2885760"/>
              <a:ext cx="3213953" cy="304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1" name="Straight Connector 226"/>
            <p:cNvCxnSpPr>
              <a:cxnSpLocks noChangeShapeType="1"/>
            </p:cNvCxnSpPr>
            <p:nvPr/>
          </p:nvCxnSpPr>
          <p:spPr bwMode="auto">
            <a:xfrm flipH="1">
              <a:off x="4328465" y="2877120"/>
              <a:ext cx="1866171" cy="3179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2" name="Straight Connector 227"/>
            <p:cNvCxnSpPr>
              <a:cxnSpLocks noChangeShapeType="1"/>
            </p:cNvCxnSpPr>
            <p:nvPr/>
          </p:nvCxnSpPr>
          <p:spPr bwMode="auto">
            <a:xfrm flipH="1">
              <a:off x="5270184" y="2877120"/>
              <a:ext cx="915812" cy="3058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3" name="Straight Connector 228"/>
            <p:cNvCxnSpPr>
              <a:cxnSpLocks noChangeShapeType="1"/>
            </p:cNvCxnSpPr>
            <p:nvPr/>
          </p:nvCxnSpPr>
          <p:spPr bwMode="auto">
            <a:xfrm>
              <a:off x="6167438" y="2901156"/>
              <a:ext cx="1141702" cy="2801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4" name="Straight Connector 229"/>
            <p:cNvCxnSpPr>
              <a:cxnSpLocks noChangeShapeType="1"/>
            </p:cNvCxnSpPr>
            <p:nvPr/>
          </p:nvCxnSpPr>
          <p:spPr bwMode="auto">
            <a:xfrm>
              <a:off x="6171406" y="2889250"/>
              <a:ext cx="1785717" cy="2355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5" name="Straight Connector 230"/>
            <p:cNvCxnSpPr>
              <a:cxnSpLocks noChangeShapeType="1"/>
            </p:cNvCxnSpPr>
            <p:nvPr/>
          </p:nvCxnSpPr>
          <p:spPr bwMode="auto">
            <a:xfrm>
              <a:off x="6179344" y="2881313"/>
              <a:ext cx="1587707" cy="1386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6" name="Straight Connector 231"/>
            <p:cNvCxnSpPr>
              <a:cxnSpLocks noChangeShapeType="1"/>
            </p:cNvCxnSpPr>
            <p:nvPr/>
          </p:nvCxnSpPr>
          <p:spPr bwMode="auto">
            <a:xfrm>
              <a:off x="6179344" y="2897188"/>
              <a:ext cx="602786" cy="2909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7" name="Straight Connector 232"/>
            <p:cNvCxnSpPr>
              <a:cxnSpLocks noChangeShapeType="1"/>
            </p:cNvCxnSpPr>
            <p:nvPr/>
          </p:nvCxnSpPr>
          <p:spPr bwMode="auto">
            <a:xfrm>
              <a:off x="4584546" y="2364240"/>
              <a:ext cx="1558252" cy="51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8" name="Straight Connector 233"/>
            <p:cNvCxnSpPr>
              <a:cxnSpLocks noChangeShapeType="1"/>
            </p:cNvCxnSpPr>
            <p:nvPr/>
          </p:nvCxnSpPr>
          <p:spPr bwMode="auto">
            <a:xfrm>
              <a:off x="3691549" y="2361120"/>
              <a:ext cx="2485808" cy="533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9" name="Straight Connector 234"/>
            <p:cNvCxnSpPr>
              <a:cxnSpLocks noChangeShapeType="1"/>
            </p:cNvCxnSpPr>
            <p:nvPr/>
          </p:nvCxnSpPr>
          <p:spPr bwMode="auto">
            <a:xfrm>
              <a:off x="2081460" y="2548080"/>
              <a:ext cx="4078617" cy="33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0" name="Straight Connector 235"/>
            <p:cNvCxnSpPr>
              <a:cxnSpLocks noChangeShapeType="1"/>
            </p:cNvCxnSpPr>
            <p:nvPr/>
          </p:nvCxnSpPr>
          <p:spPr bwMode="auto">
            <a:xfrm flipV="1">
              <a:off x="1309418" y="2903040"/>
              <a:ext cx="4842020" cy="30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1" name="Straight Connector 236"/>
            <p:cNvCxnSpPr>
              <a:cxnSpLocks noChangeShapeType="1"/>
            </p:cNvCxnSpPr>
            <p:nvPr/>
          </p:nvCxnSpPr>
          <p:spPr bwMode="auto">
            <a:xfrm flipV="1">
              <a:off x="934801" y="2894400"/>
              <a:ext cx="5242556" cy="377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2" name="Straight Connector 237"/>
            <p:cNvCxnSpPr>
              <a:cxnSpLocks noChangeShapeType="1"/>
            </p:cNvCxnSpPr>
            <p:nvPr/>
          </p:nvCxnSpPr>
          <p:spPr bwMode="auto">
            <a:xfrm flipV="1">
              <a:off x="862570" y="2901156"/>
              <a:ext cx="5296930" cy="13866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3" name="Straight Connector 238"/>
            <p:cNvCxnSpPr>
              <a:cxnSpLocks noChangeShapeType="1"/>
            </p:cNvCxnSpPr>
            <p:nvPr/>
          </p:nvCxnSpPr>
          <p:spPr bwMode="auto">
            <a:xfrm flipV="1">
              <a:off x="1101367" y="2901156"/>
              <a:ext cx="5077977" cy="2026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239"/>
          <p:cNvGrpSpPr>
            <a:grpSpLocks/>
          </p:cNvGrpSpPr>
          <p:nvPr/>
        </p:nvGrpSpPr>
        <p:grpSpPr bwMode="auto">
          <a:xfrm>
            <a:off x="1095375" y="2195513"/>
            <a:ext cx="7158038" cy="3798887"/>
            <a:chOff x="799176" y="2251902"/>
            <a:chExt cx="7158126" cy="3799069"/>
          </a:xfrm>
        </p:grpSpPr>
        <p:cxnSp>
          <p:nvCxnSpPr>
            <p:cNvPr id="41994" name="Straight Connector 240"/>
            <p:cNvCxnSpPr>
              <a:cxnSpLocks noChangeShapeType="1"/>
            </p:cNvCxnSpPr>
            <p:nvPr/>
          </p:nvCxnSpPr>
          <p:spPr bwMode="auto">
            <a:xfrm>
              <a:off x="2012365" y="2732956"/>
              <a:ext cx="3121627" cy="3204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5" name="Straight Connector 241"/>
            <p:cNvCxnSpPr>
              <a:cxnSpLocks noChangeShapeType="1"/>
            </p:cNvCxnSpPr>
            <p:nvPr/>
          </p:nvCxnSpPr>
          <p:spPr bwMode="auto">
            <a:xfrm>
              <a:off x="2009682" y="2721528"/>
              <a:ext cx="2384511" cy="3329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6" name="Straight Connector 242"/>
            <p:cNvCxnSpPr>
              <a:cxnSpLocks noChangeShapeType="1"/>
            </p:cNvCxnSpPr>
            <p:nvPr/>
          </p:nvCxnSpPr>
          <p:spPr bwMode="auto">
            <a:xfrm>
              <a:off x="2001042" y="2712888"/>
              <a:ext cx="1091382" cy="3197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7" name="Straight Connector 243"/>
            <p:cNvCxnSpPr>
              <a:cxnSpLocks noChangeShapeType="1"/>
            </p:cNvCxnSpPr>
            <p:nvPr/>
          </p:nvCxnSpPr>
          <p:spPr bwMode="auto">
            <a:xfrm flipH="1">
              <a:off x="1471306" y="2712888"/>
              <a:ext cx="538376" cy="269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8" name="Straight Connector 244"/>
            <p:cNvCxnSpPr>
              <a:cxnSpLocks noChangeShapeType="1"/>
            </p:cNvCxnSpPr>
            <p:nvPr/>
          </p:nvCxnSpPr>
          <p:spPr bwMode="auto">
            <a:xfrm flipH="1">
              <a:off x="1007181" y="2736924"/>
              <a:ext cx="1021059" cy="2069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9" name="Straight Connector 245"/>
            <p:cNvCxnSpPr>
              <a:cxnSpLocks noChangeShapeType="1"/>
            </p:cNvCxnSpPr>
            <p:nvPr/>
          </p:nvCxnSpPr>
          <p:spPr bwMode="auto">
            <a:xfrm flipH="1">
              <a:off x="799176" y="2725018"/>
              <a:ext cx="1225097" cy="1413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0" name="Straight Connector 246"/>
            <p:cNvCxnSpPr>
              <a:cxnSpLocks noChangeShapeType="1"/>
            </p:cNvCxnSpPr>
            <p:nvPr/>
          </p:nvCxnSpPr>
          <p:spPr bwMode="auto">
            <a:xfrm flipH="1">
              <a:off x="932218" y="2704755"/>
              <a:ext cx="1107153" cy="588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1" name="Straight Connector 247"/>
            <p:cNvCxnSpPr>
              <a:cxnSpLocks noChangeShapeType="1"/>
            </p:cNvCxnSpPr>
            <p:nvPr/>
          </p:nvCxnSpPr>
          <p:spPr bwMode="auto">
            <a:xfrm flipH="1">
              <a:off x="1293642" y="2704755"/>
              <a:ext cx="745729" cy="216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2" name="Straight Connector 248"/>
            <p:cNvCxnSpPr>
              <a:cxnSpLocks noChangeShapeType="1"/>
            </p:cNvCxnSpPr>
            <p:nvPr/>
          </p:nvCxnSpPr>
          <p:spPr bwMode="auto">
            <a:xfrm flipH="1">
              <a:off x="2052880" y="2251902"/>
              <a:ext cx="1141349" cy="460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3" name="Straight Connector 249"/>
            <p:cNvCxnSpPr>
              <a:cxnSpLocks noChangeShapeType="1"/>
            </p:cNvCxnSpPr>
            <p:nvPr/>
          </p:nvCxnSpPr>
          <p:spPr bwMode="auto">
            <a:xfrm flipH="1">
              <a:off x="2018321" y="2332076"/>
              <a:ext cx="2284094" cy="398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4" name="Straight Connector 250"/>
            <p:cNvCxnSpPr>
              <a:cxnSpLocks noChangeShapeType="1"/>
            </p:cNvCxnSpPr>
            <p:nvPr/>
          </p:nvCxnSpPr>
          <p:spPr bwMode="auto">
            <a:xfrm flipH="1" flipV="1">
              <a:off x="2035602" y="2721528"/>
              <a:ext cx="4016700" cy="14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5" name="Straight Connector 251"/>
            <p:cNvCxnSpPr>
              <a:cxnSpLocks noChangeShapeType="1"/>
            </p:cNvCxnSpPr>
            <p:nvPr/>
          </p:nvCxnSpPr>
          <p:spPr bwMode="auto">
            <a:xfrm flipH="1" flipV="1">
              <a:off x="2044240" y="2738808"/>
              <a:ext cx="4755057" cy="529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6" name="Straight Connector 252"/>
            <p:cNvCxnSpPr>
              <a:cxnSpLocks noChangeShapeType="1"/>
            </p:cNvCxnSpPr>
            <p:nvPr/>
          </p:nvCxnSpPr>
          <p:spPr bwMode="auto">
            <a:xfrm flipH="1" flipV="1">
              <a:off x="2018321" y="2730168"/>
              <a:ext cx="5710381" cy="15549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7" name="Straight Connector 253"/>
            <p:cNvCxnSpPr>
              <a:cxnSpLocks noChangeShapeType="1"/>
            </p:cNvCxnSpPr>
            <p:nvPr/>
          </p:nvCxnSpPr>
          <p:spPr bwMode="auto">
            <a:xfrm flipH="1" flipV="1">
              <a:off x="2036178" y="2736924"/>
              <a:ext cx="5921124" cy="2462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8" name="Straight Connector 254"/>
            <p:cNvCxnSpPr>
              <a:cxnSpLocks noChangeShapeType="1"/>
            </p:cNvCxnSpPr>
            <p:nvPr/>
          </p:nvCxnSpPr>
          <p:spPr bwMode="auto">
            <a:xfrm flipH="1" flipV="1">
              <a:off x="2016335" y="2736924"/>
              <a:ext cx="5165304" cy="3000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497138" y="3403600"/>
            <a:ext cx="4268787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/>
              <a:t>connecting each access ISP to each other directly </a:t>
            </a:r>
            <a:r>
              <a:rPr lang="en-US" i="1">
                <a:solidFill>
                  <a:srgbClr val="CC0000"/>
                </a:solidFill>
              </a:rPr>
              <a:t>doesn</a:t>
            </a:r>
            <a:r>
              <a:rPr lang="en-US" altLang="en-US" i="1">
                <a:solidFill>
                  <a:srgbClr val="CC0000"/>
                </a:solidFill>
              </a:rPr>
              <a:t>’</a:t>
            </a:r>
            <a:r>
              <a:rPr lang="en-US" i="1">
                <a:solidFill>
                  <a:srgbClr val="CC0000"/>
                </a:solidFill>
              </a:rPr>
              <a:t>t scale: </a:t>
            </a:r>
            <a:r>
              <a:rPr lang="en-US"/>
              <a:t>O(</a:t>
            </a:r>
            <a:r>
              <a:rPr lang="en-US" i="1"/>
              <a:t>N</a:t>
            </a:r>
            <a:r>
              <a:rPr lang="en-US" baseline="30000"/>
              <a:t>2</a:t>
            </a:r>
            <a:r>
              <a:rPr lang="en-US"/>
              <a:t>) connections.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3011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012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3112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316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5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3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316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3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4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316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1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5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315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9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6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315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7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7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315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5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8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315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3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9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315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1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0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314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9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1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314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7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2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314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5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3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314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3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4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314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1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5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313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9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6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313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7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7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313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5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3128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29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30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31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32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33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3013" name="Rectangle 3"/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Option: </a:t>
            </a:r>
            <a:r>
              <a:rPr lang="en-US" i="1">
                <a:latin typeface="Gill Sans MT" pitchFamily="34" charset="0"/>
              </a:rPr>
              <a:t>connect each access ISP to a global transit ISP? </a:t>
            </a:r>
            <a:r>
              <a:rPr lang="en-US" i="1">
                <a:solidFill>
                  <a:srgbClr val="C00000"/>
                </a:solidFill>
              </a:rPr>
              <a:t>Customer</a:t>
            </a:r>
            <a:r>
              <a:rPr lang="en-US" i="1"/>
              <a:t> and </a:t>
            </a:r>
            <a:r>
              <a:rPr lang="en-US" i="1">
                <a:solidFill>
                  <a:srgbClr val="C00000"/>
                </a:solidFill>
              </a:rPr>
              <a:t>provider </a:t>
            </a:r>
            <a:r>
              <a:rPr lang="en-US" i="1"/>
              <a:t>ISPs have economic agreement.</a:t>
            </a:r>
            <a:endParaRPr lang="en-US">
              <a:latin typeface="Gill Sans MT" pitchFamily="34" charset="0"/>
            </a:endParaRPr>
          </a:p>
        </p:txBody>
      </p:sp>
      <p:sp>
        <p:nvSpPr>
          <p:cNvPr id="43014" name="Oval 3"/>
          <p:cNvSpPr>
            <a:spLocks noChangeArrowheads="1"/>
          </p:cNvSpPr>
          <p:nvPr/>
        </p:nvSpPr>
        <p:spPr bwMode="auto">
          <a:xfrm>
            <a:off x="2716213" y="3192463"/>
            <a:ext cx="3709987" cy="1862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3015" name="Group 133"/>
          <p:cNvGrpSpPr>
            <a:grpSpLocks/>
          </p:cNvGrpSpPr>
          <p:nvPr/>
        </p:nvGrpSpPr>
        <p:grpSpPr bwMode="auto">
          <a:xfrm>
            <a:off x="3138488" y="4392613"/>
            <a:ext cx="617537" cy="250825"/>
            <a:chOff x="2356" y="1300"/>
            <a:chExt cx="555" cy="194"/>
          </a:xfrm>
        </p:grpSpPr>
        <p:sp>
          <p:nvSpPr>
            <p:cNvPr id="4310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10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10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107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110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1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108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09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6" name="Group 133"/>
          <p:cNvGrpSpPr>
            <a:grpSpLocks/>
          </p:cNvGrpSpPr>
          <p:nvPr/>
        </p:nvGrpSpPr>
        <p:grpSpPr bwMode="auto">
          <a:xfrm>
            <a:off x="4132263" y="3706813"/>
            <a:ext cx="617537" cy="250825"/>
            <a:chOff x="2356" y="1300"/>
            <a:chExt cx="555" cy="194"/>
          </a:xfrm>
        </p:grpSpPr>
        <p:sp>
          <p:nvSpPr>
            <p:cNvPr id="43096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97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98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99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102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3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100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01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7" name="Group 133"/>
          <p:cNvGrpSpPr>
            <a:grpSpLocks/>
          </p:cNvGrpSpPr>
          <p:nvPr/>
        </p:nvGrpSpPr>
        <p:grpSpPr bwMode="auto">
          <a:xfrm>
            <a:off x="4706938" y="4013200"/>
            <a:ext cx="617537" cy="250825"/>
            <a:chOff x="2356" y="1300"/>
            <a:chExt cx="555" cy="194"/>
          </a:xfrm>
        </p:grpSpPr>
        <p:sp>
          <p:nvSpPr>
            <p:cNvPr id="4308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8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9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91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94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5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92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3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8" name="Group 133"/>
          <p:cNvGrpSpPr>
            <a:grpSpLocks/>
          </p:cNvGrpSpPr>
          <p:nvPr/>
        </p:nvGrpSpPr>
        <p:grpSpPr bwMode="auto">
          <a:xfrm>
            <a:off x="5245100" y="3538538"/>
            <a:ext cx="617538" cy="250825"/>
            <a:chOff x="2356" y="1300"/>
            <a:chExt cx="555" cy="194"/>
          </a:xfrm>
        </p:grpSpPr>
        <p:sp>
          <p:nvSpPr>
            <p:cNvPr id="43080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81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82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83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86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7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84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5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9" name="Group 133"/>
          <p:cNvGrpSpPr>
            <a:grpSpLocks/>
          </p:cNvGrpSpPr>
          <p:nvPr/>
        </p:nvGrpSpPr>
        <p:grpSpPr bwMode="auto">
          <a:xfrm>
            <a:off x="3813175" y="4121150"/>
            <a:ext cx="617538" cy="250825"/>
            <a:chOff x="2356" y="1300"/>
            <a:chExt cx="555" cy="194"/>
          </a:xfrm>
        </p:grpSpPr>
        <p:sp>
          <p:nvSpPr>
            <p:cNvPr id="43072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73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74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75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78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9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76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77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20" name="Group 133"/>
          <p:cNvGrpSpPr>
            <a:grpSpLocks/>
          </p:cNvGrpSpPr>
          <p:nvPr/>
        </p:nvGrpSpPr>
        <p:grpSpPr bwMode="auto">
          <a:xfrm>
            <a:off x="4368800" y="4610100"/>
            <a:ext cx="617538" cy="250825"/>
            <a:chOff x="2356" y="1300"/>
            <a:chExt cx="555" cy="194"/>
          </a:xfrm>
        </p:grpSpPr>
        <p:sp>
          <p:nvSpPr>
            <p:cNvPr id="4306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6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6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67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70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1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68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9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21" name="Group 133"/>
          <p:cNvGrpSpPr>
            <a:grpSpLocks/>
          </p:cNvGrpSpPr>
          <p:nvPr/>
        </p:nvGrpSpPr>
        <p:grpSpPr bwMode="auto">
          <a:xfrm>
            <a:off x="5389563" y="4411663"/>
            <a:ext cx="617537" cy="250825"/>
            <a:chOff x="2356" y="1300"/>
            <a:chExt cx="555" cy="194"/>
          </a:xfrm>
        </p:grpSpPr>
        <p:sp>
          <p:nvSpPr>
            <p:cNvPr id="43056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57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58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59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62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3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60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1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22" name="Group 133"/>
          <p:cNvGrpSpPr>
            <a:grpSpLocks/>
          </p:cNvGrpSpPr>
          <p:nvPr/>
        </p:nvGrpSpPr>
        <p:grpSpPr bwMode="auto">
          <a:xfrm>
            <a:off x="3502025" y="3351213"/>
            <a:ext cx="617538" cy="250825"/>
            <a:chOff x="2356" y="1300"/>
            <a:chExt cx="555" cy="194"/>
          </a:xfrm>
        </p:grpSpPr>
        <p:sp>
          <p:nvSpPr>
            <p:cNvPr id="4304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4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5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51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54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5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52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53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43023" name="Straight Connector 10"/>
          <p:cNvCxnSpPr>
            <a:cxnSpLocks noChangeShapeType="1"/>
            <a:stCxn id="43053" idx="0"/>
            <a:endCxn id="43084" idx="0"/>
          </p:cNvCxnSpPr>
          <p:nvPr/>
        </p:nvCxnSpPr>
        <p:spPr bwMode="auto">
          <a:xfrm>
            <a:off x="4114800" y="3432175"/>
            <a:ext cx="1131888" cy="18573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4" name="Straight Connector 297"/>
          <p:cNvCxnSpPr>
            <a:cxnSpLocks noChangeShapeType="1"/>
            <a:endCxn id="43090" idx="1"/>
          </p:cNvCxnSpPr>
          <p:nvPr/>
        </p:nvCxnSpPr>
        <p:spPr bwMode="auto">
          <a:xfrm>
            <a:off x="4656138" y="3924300"/>
            <a:ext cx="139700" cy="11271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5" name="Straight Connector 298"/>
          <p:cNvCxnSpPr>
            <a:cxnSpLocks noChangeShapeType="1"/>
            <a:endCxn id="43092" idx="1"/>
          </p:cNvCxnSpPr>
          <p:nvPr/>
        </p:nvCxnSpPr>
        <p:spPr bwMode="auto">
          <a:xfrm flipV="1">
            <a:off x="4425950" y="4200525"/>
            <a:ext cx="280988" cy="6191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6" name="Straight Connector 299"/>
          <p:cNvCxnSpPr>
            <a:cxnSpLocks noChangeShapeType="1"/>
          </p:cNvCxnSpPr>
          <p:nvPr/>
        </p:nvCxnSpPr>
        <p:spPr bwMode="auto">
          <a:xfrm flipV="1">
            <a:off x="4083050" y="3962400"/>
            <a:ext cx="223838" cy="1492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7" name="Straight Connector 300"/>
          <p:cNvCxnSpPr>
            <a:cxnSpLocks noChangeShapeType="1"/>
          </p:cNvCxnSpPr>
          <p:nvPr/>
        </p:nvCxnSpPr>
        <p:spPr bwMode="auto">
          <a:xfrm flipV="1">
            <a:off x="3738563" y="4367213"/>
            <a:ext cx="222250" cy="14763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8" name="Straight Connector 301"/>
          <p:cNvCxnSpPr>
            <a:cxnSpLocks noChangeShapeType="1"/>
            <a:stCxn id="43066" idx="0"/>
          </p:cNvCxnSpPr>
          <p:nvPr/>
        </p:nvCxnSpPr>
        <p:spPr bwMode="auto">
          <a:xfrm flipV="1">
            <a:off x="4675188" y="4267200"/>
            <a:ext cx="292100" cy="3429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9" name="Straight Connector 302"/>
          <p:cNvCxnSpPr>
            <a:cxnSpLocks noChangeShapeType="1"/>
          </p:cNvCxnSpPr>
          <p:nvPr/>
        </p:nvCxnSpPr>
        <p:spPr bwMode="auto">
          <a:xfrm flipH="1" flipV="1">
            <a:off x="5243513" y="4248150"/>
            <a:ext cx="412750" cy="1682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0" name="Straight Connector 303"/>
          <p:cNvCxnSpPr>
            <a:cxnSpLocks noChangeShapeType="1"/>
          </p:cNvCxnSpPr>
          <p:nvPr/>
        </p:nvCxnSpPr>
        <p:spPr bwMode="auto">
          <a:xfrm flipV="1">
            <a:off x="5227638" y="3776663"/>
            <a:ext cx="328612" cy="2667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1" name="Straight Connector 304"/>
          <p:cNvCxnSpPr>
            <a:cxnSpLocks noChangeShapeType="1"/>
            <a:endCxn id="43048" idx="4"/>
          </p:cNvCxnSpPr>
          <p:nvPr/>
        </p:nvCxnSpPr>
        <p:spPr bwMode="auto">
          <a:xfrm flipH="1" flipV="1">
            <a:off x="3810000" y="3602038"/>
            <a:ext cx="476250" cy="1174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2" name="Straight Connector 22"/>
          <p:cNvCxnSpPr>
            <a:cxnSpLocks noChangeShapeType="1"/>
            <a:endCxn id="43050" idx="1"/>
          </p:cNvCxnSpPr>
          <p:nvPr/>
        </p:nvCxnSpPr>
        <p:spPr bwMode="auto">
          <a:xfrm>
            <a:off x="2362200" y="2578100"/>
            <a:ext cx="1230313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3" name="Straight Connector 305"/>
          <p:cNvCxnSpPr>
            <a:cxnSpLocks noChangeShapeType="1"/>
            <a:endCxn id="43052" idx="0"/>
          </p:cNvCxnSpPr>
          <p:nvPr/>
        </p:nvCxnSpPr>
        <p:spPr bwMode="auto">
          <a:xfrm>
            <a:off x="1617663" y="2909888"/>
            <a:ext cx="1885950" cy="51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4" name="Straight Connector 306"/>
          <p:cNvCxnSpPr>
            <a:cxnSpLocks noChangeShapeType="1"/>
            <a:endCxn id="43052" idx="1"/>
          </p:cNvCxnSpPr>
          <p:nvPr/>
        </p:nvCxnSpPr>
        <p:spPr bwMode="auto">
          <a:xfrm>
            <a:off x="1230313" y="3278188"/>
            <a:ext cx="227330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5" name="Straight Connector 307"/>
          <p:cNvCxnSpPr>
            <a:cxnSpLocks noChangeShapeType="1"/>
            <a:endCxn id="43108" idx="0"/>
          </p:cNvCxnSpPr>
          <p:nvPr/>
        </p:nvCxnSpPr>
        <p:spPr bwMode="auto">
          <a:xfrm>
            <a:off x="1166813" y="4260850"/>
            <a:ext cx="1971675" cy="211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6" name="Straight Connector 308"/>
          <p:cNvCxnSpPr>
            <a:cxnSpLocks noChangeShapeType="1"/>
            <a:endCxn id="43104" idx="2"/>
          </p:cNvCxnSpPr>
          <p:nvPr/>
        </p:nvCxnSpPr>
        <p:spPr bwMode="auto">
          <a:xfrm flipV="1">
            <a:off x="1393825" y="4573588"/>
            <a:ext cx="1744663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7" name="Straight Connector 309"/>
          <p:cNvCxnSpPr>
            <a:cxnSpLocks noChangeShapeType="1"/>
            <a:endCxn id="43104" idx="3"/>
          </p:cNvCxnSpPr>
          <p:nvPr/>
        </p:nvCxnSpPr>
        <p:spPr bwMode="auto">
          <a:xfrm flipV="1">
            <a:off x="1797050" y="4622800"/>
            <a:ext cx="1431925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8" name="Straight Connector 310"/>
          <p:cNvCxnSpPr>
            <a:cxnSpLocks noChangeShapeType="1"/>
            <a:stCxn id="43135" idx="0"/>
            <a:endCxn id="43104" idx="4"/>
          </p:cNvCxnSpPr>
          <p:nvPr/>
        </p:nvCxnSpPr>
        <p:spPr bwMode="auto">
          <a:xfrm flipV="1">
            <a:off x="3389313" y="4643438"/>
            <a:ext cx="57150" cy="1211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9" name="Straight Connector 311"/>
          <p:cNvCxnSpPr>
            <a:cxnSpLocks noChangeShapeType="1"/>
          </p:cNvCxnSpPr>
          <p:nvPr/>
        </p:nvCxnSpPr>
        <p:spPr bwMode="auto">
          <a:xfrm flipV="1">
            <a:off x="4616450" y="4872038"/>
            <a:ext cx="6350" cy="1135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0" name="Straight Connector 312"/>
          <p:cNvCxnSpPr>
            <a:cxnSpLocks noChangeShapeType="1"/>
            <a:stCxn id="43138" idx="1"/>
          </p:cNvCxnSpPr>
          <p:nvPr/>
        </p:nvCxnSpPr>
        <p:spPr bwMode="auto">
          <a:xfrm flipH="1" flipV="1">
            <a:off x="4924425" y="4821238"/>
            <a:ext cx="506413" cy="1058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1" name="Straight Connector 313"/>
          <p:cNvCxnSpPr>
            <a:cxnSpLocks noChangeShapeType="1"/>
          </p:cNvCxnSpPr>
          <p:nvPr/>
        </p:nvCxnSpPr>
        <p:spPr bwMode="auto">
          <a:xfrm flipH="1" flipV="1">
            <a:off x="5832475" y="4648200"/>
            <a:ext cx="1722438" cy="1020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2" name="Straight Connector 314"/>
          <p:cNvCxnSpPr>
            <a:cxnSpLocks noChangeShapeType="1"/>
            <a:endCxn id="43061" idx="1"/>
          </p:cNvCxnSpPr>
          <p:nvPr/>
        </p:nvCxnSpPr>
        <p:spPr bwMode="auto">
          <a:xfrm flipH="1" flipV="1">
            <a:off x="6002338" y="4600575"/>
            <a:ext cx="224472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3" name="Straight Connector 315"/>
          <p:cNvCxnSpPr>
            <a:cxnSpLocks noChangeShapeType="1"/>
            <a:endCxn id="43061" idx="0"/>
          </p:cNvCxnSpPr>
          <p:nvPr/>
        </p:nvCxnSpPr>
        <p:spPr bwMode="auto">
          <a:xfrm flipH="1">
            <a:off x="6002338" y="4295775"/>
            <a:ext cx="2017712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4" name="Straight Connector 316"/>
          <p:cNvCxnSpPr>
            <a:cxnSpLocks noChangeShapeType="1"/>
          </p:cNvCxnSpPr>
          <p:nvPr/>
        </p:nvCxnSpPr>
        <p:spPr bwMode="auto">
          <a:xfrm flipH="1">
            <a:off x="5861050" y="3227388"/>
            <a:ext cx="1422400" cy="454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5" name="Straight Connector 317"/>
          <p:cNvCxnSpPr>
            <a:cxnSpLocks noChangeShapeType="1"/>
          </p:cNvCxnSpPr>
          <p:nvPr/>
        </p:nvCxnSpPr>
        <p:spPr bwMode="auto">
          <a:xfrm flipH="1">
            <a:off x="5684838" y="2803525"/>
            <a:ext cx="898525" cy="72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6" name="Straight Connector 318"/>
          <p:cNvCxnSpPr>
            <a:cxnSpLocks noChangeShapeType="1"/>
            <a:stCxn id="43146" idx="9"/>
          </p:cNvCxnSpPr>
          <p:nvPr/>
        </p:nvCxnSpPr>
        <p:spPr bwMode="auto">
          <a:xfrm>
            <a:off x="4849813" y="2381250"/>
            <a:ext cx="555625" cy="1125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47" name="TextBox 39958"/>
          <p:cNvSpPr txBox="1">
            <a:spLocks noChangeArrowheads="1"/>
          </p:cNvSpPr>
          <p:nvPr/>
        </p:nvSpPr>
        <p:spPr bwMode="auto">
          <a:xfrm>
            <a:off x="2887663" y="3584575"/>
            <a:ext cx="10080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/>
              <a:t>global</a:t>
            </a:r>
            <a:br>
              <a:rPr lang="en-US" i="1"/>
            </a:br>
            <a:r>
              <a:rPr lang="en-US" i="1"/>
              <a:t>ISP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4035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036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4306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435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9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07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435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7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08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435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5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09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435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3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0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435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1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1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434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9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2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434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7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3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434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5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4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434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3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5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434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1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6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433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9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7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433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7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8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433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5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9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433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3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20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433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1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21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432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29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4322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3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4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5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6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7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4037" name="Rectangle 3"/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But if one global ISP is viable business, there will be competitors ….</a:t>
            </a:r>
          </a:p>
        </p:txBody>
      </p:sp>
      <p:grpSp>
        <p:nvGrpSpPr>
          <p:cNvPr id="44038" name="Group 8"/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44223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224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429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9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30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30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30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0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302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03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4225" name="Straight Connector 10"/>
            <p:cNvCxnSpPr>
              <a:cxnSpLocks noChangeShapeType="1"/>
              <a:stCxn id="44303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26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27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28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29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30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31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32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33" name="Straight Connector 304"/>
            <p:cNvCxnSpPr>
              <a:cxnSpLocks noChangeShapeType="1"/>
              <a:endCxn id="44298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234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4235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429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9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9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9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9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9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9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9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36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428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8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8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8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8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8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86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87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37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427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7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7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7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8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8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78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79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38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426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6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6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6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7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7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70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71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39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425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5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6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6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6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6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62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6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40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425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5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5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5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5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5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5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55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41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424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4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4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4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4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4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4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47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039" name="Group 331"/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44140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141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421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1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1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1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2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2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1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20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4142" name="Straight Connector 334"/>
            <p:cNvCxnSpPr>
              <a:cxnSpLocks noChangeShapeType="1"/>
              <a:stCxn id="4422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3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4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5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6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7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8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9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50" name="Straight Connector 342"/>
            <p:cNvCxnSpPr>
              <a:cxnSpLocks noChangeShapeType="1"/>
              <a:endCxn id="4421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151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A</a:t>
              </a:r>
            </a:p>
          </p:txBody>
        </p:sp>
        <p:grpSp>
          <p:nvGrpSpPr>
            <p:cNvPr id="44152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420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1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12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3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41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03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04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4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41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95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96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5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41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87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88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6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41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7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80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7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41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71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72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8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415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6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6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6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6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6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6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64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040" name="Group 416"/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44057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058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4132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3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3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3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3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3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36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37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4059" name="Straight Connector 419"/>
            <p:cNvCxnSpPr>
              <a:cxnSpLocks noChangeShapeType="1"/>
              <a:stCxn id="44137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0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1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2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3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4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5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6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7" name="Straight Connector 427"/>
            <p:cNvCxnSpPr>
              <a:cxnSpLocks noChangeShapeType="1"/>
              <a:endCxn id="44132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68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C</a:t>
              </a:r>
            </a:p>
          </p:txBody>
        </p:sp>
        <p:grpSp>
          <p:nvGrpSpPr>
            <p:cNvPr id="44069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412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2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2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2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3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3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28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29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0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411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1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1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1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2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2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20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21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1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410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0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1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1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1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1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1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1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2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410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0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0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0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0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0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0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0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3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409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9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9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09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09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09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97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4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408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8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8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08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09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08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9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5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407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7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7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07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08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8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08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1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44041" name="Straight Connector 12"/>
          <p:cNvCxnSpPr>
            <a:cxnSpLocks noChangeShapeType="1"/>
            <a:endCxn id="44217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2" name="Straight Connector 500"/>
          <p:cNvCxnSpPr>
            <a:cxnSpLocks noChangeShapeType="1"/>
            <a:endCxn id="44219" idx="1"/>
          </p:cNvCxnSpPr>
          <p:nvPr/>
        </p:nvCxnSpPr>
        <p:spPr bwMode="auto">
          <a:xfrm>
            <a:off x="1638300" y="2849563"/>
            <a:ext cx="900113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3" name="Straight Connector 501"/>
          <p:cNvCxnSpPr>
            <a:cxnSpLocks noChangeShapeType="1"/>
            <a:endCxn id="44215" idx="2"/>
          </p:cNvCxnSpPr>
          <p:nvPr/>
        </p:nvCxnSpPr>
        <p:spPr bwMode="auto">
          <a:xfrm flipV="1">
            <a:off x="1235075" y="2973388"/>
            <a:ext cx="1303338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4" name="Straight Connector 502"/>
          <p:cNvCxnSpPr>
            <a:cxnSpLocks noChangeShapeType="1"/>
            <a:endCxn id="44185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5" name="Straight Connector 503"/>
          <p:cNvCxnSpPr>
            <a:cxnSpLocks noChangeShapeType="1"/>
            <a:endCxn id="44185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6" name="Straight Connector 504"/>
          <p:cNvCxnSpPr>
            <a:cxnSpLocks noChangeShapeType="1"/>
            <a:endCxn id="44268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7" name="Straight Connector 505"/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8" name="Straight Connector 506"/>
          <p:cNvCxnSpPr>
            <a:cxnSpLocks noChangeShapeType="1"/>
            <a:stCxn id="44334" idx="4"/>
            <a:endCxn id="44263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Straight Connector 507"/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0" name="Straight Connector 508"/>
          <p:cNvCxnSpPr>
            <a:cxnSpLocks noChangeShapeType="1"/>
            <a:endCxn id="44250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1" name="Straight Connector 509"/>
          <p:cNvCxnSpPr>
            <a:cxnSpLocks noChangeShapeType="1"/>
            <a:stCxn id="44332" idx="0"/>
          </p:cNvCxnSpPr>
          <p:nvPr/>
        </p:nvCxnSpPr>
        <p:spPr bwMode="auto">
          <a:xfrm flipH="1" flipV="1">
            <a:off x="5319713" y="4694238"/>
            <a:ext cx="285750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2" name="Straight Connector 510"/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3" name="Straight Connector 511"/>
          <p:cNvCxnSpPr>
            <a:cxnSpLocks noChangeShapeType="1"/>
            <a:stCxn id="44329" idx="0"/>
          </p:cNvCxnSpPr>
          <p:nvPr/>
        </p:nvCxnSpPr>
        <p:spPr bwMode="auto">
          <a:xfrm flipH="1" flipV="1">
            <a:off x="3144838" y="5192713"/>
            <a:ext cx="2444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4" name="Straight Connector 512"/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5" name="Straight Connector 513"/>
          <p:cNvCxnSpPr>
            <a:cxnSpLocks noChangeShapeType="1"/>
            <a:endCxn id="44080" idx="0"/>
          </p:cNvCxnSpPr>
          <p:nvPr/>
        </p:nvCxnSpPr>
        <p:spPr bwMode="auto">
          <a:xfrm flipV="1">
            <a:off x="1362075" y="5045075"/>
            <a:ext cx="706438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6" name="Straight Connector 514"/>
          <p:cNvCxnSpPr>
            <a:cxnSpLocks noChangeShapeType="1"/>
            <a:endCxn id="44136" idx="1"/>
          </p:cNvCxnSpPr>
          <p:nvPr/>
        </p:nvCxnSpPr>
        <p:spPr bwMode="auto">
          <a:xfrm>
            <a:off x="1155700" y="4376738"/>
            <a:ext cx="99695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5059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060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5353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540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06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4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540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04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5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540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02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6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539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00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7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539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8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8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539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6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9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539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4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0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539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2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1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538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0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2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538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8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3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538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6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4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538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4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5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538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2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6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537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0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7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537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78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8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537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76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5369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0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1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2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3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4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5061" name="Rectangle 3"/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But if one global ISP is viable business, there will be competitors ….  which must be interconnected</a:t>
            </a:r>
          </a:p>
        </p:txBody>
      </p:sp>
      <p:grpSp>
        <p:nvGrpSpPr>
          <p:cNvPr id="45062" name="Group 8"/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45270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271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534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4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4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4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5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5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49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50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5272" name="Straight Connector 10"/>
            <p:cNvCxnSpPr>
              <a:cxnSpLocks noChangeShapeType="1"/>
              <a:stCxn id="4535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3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4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5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6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7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8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9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80" name="Straight Connector 304"/>
            <p:cNvCxnSpPr>
              <a:cxnSpLocks noChangeShapeType="1"/>
              <a:endCxn id="4534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281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5282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533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3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3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4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4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4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4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4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3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532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3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3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3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3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3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33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34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4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532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2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2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2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2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2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25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26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5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531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1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1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1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1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2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17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18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6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530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0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0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0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1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1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0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1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7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529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9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9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0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0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0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01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02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8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528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9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9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29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9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9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9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94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5063" name="Group 331"/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45187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188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526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6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6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6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6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66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67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5189" name="Straight Connector 334"/>
            <p:cNvCxnSpPr>
              <a:cxnSpLocks noChangeShapeType="1"/>
              <a:stCxn id="45267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0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1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2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3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4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5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6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7" name="Straight Connector 342"/>
            <p:cNvCxnSpPr>
              <a:cxnSpLocks noChangeShapeType="1"/>
              <a:endCxn id="45262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198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A</a:t>
              </a:r>
            </a:p>
          </p:txBody>
        </p:sp>
        <p:grpSp>
          <p:nvGrpSpPr>
            <p:cNvPr id="45199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525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5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5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6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6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58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59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0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524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4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4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5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5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5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51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1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523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3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4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24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4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4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4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43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2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523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3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3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3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3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34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35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3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522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2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2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22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2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2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26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27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4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521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1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1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2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2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18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19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5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520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0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0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20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1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1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10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11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5064" name="Group 416"/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45104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105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5179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8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8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8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8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8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83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84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5106" name="Straight Connector 419"/>
            <p:cNvCxnSpPr>
              <a:cxnSpLocks noChangeShapeType="1"/>
              <a:stCxn id="45184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7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8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9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0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1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2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3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4" name="Straight Connector 427"/>
            <p:cNvCxnSpPr>
              <a:cxnSpLocks noChangeShapeType="1"/>
              <a:endCxn id="45179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115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C</a:t>
              </a:r>
            </a:p>
          </p:txBody>
        </p:sp>
        <p:grpSp>
          <p:nvGrpSpPr>
            <p:cNvPr id="45116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517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7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7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7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7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7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75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76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17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516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6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6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6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6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7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67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68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18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515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5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5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5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6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6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59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6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19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514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4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4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5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5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5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5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5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20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513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4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4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4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4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4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4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4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21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513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3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3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3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3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3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35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3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22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512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2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2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2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2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3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27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2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45065" name="Straight Connector 12"/>
          <p:cNvCxnSpPr>
            <a:cxnSpLocks noChangeShapeType="1"/>
            <a:endCxn id="45264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6" name="Straight Connector 500"/>
          <p:cNvCxnSpPr>
            <a:cxnSpLocks noChangeShapeType="1"/>
            <a:endCxn id="45266" idx="1"/>
          </p:cNvCxnSpPr>
          <p:nvPr/>
        </p:nvCxnSpPr>
        <p:spPr bwMode="auto">
          <a:xfrm>
            <a:off x="1638300" y="2849563"/>
            <a:ext cx="900113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7" name="Straight Connector 501"/>
          <p:cNvCxnSpPr>
            <a:cxnSpLocks noChangeShapeType="1"/>
            <a:endCxn id="45262" idx="2"/>
          </p:cNvCxnSpPr>
          <p:nvPr/>
        </p:nvCxnSpPr>
        <p:spPr bwMode="auto">
          <a:xfrm flipV="1">
            <a:off x="1235075" y="2973388"/>
            <a:ext cx="1303338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8" name="Straight Connector 502"/>
          <p:cNvCxnSpPr>
            <a:cxnSpLocks noChangeShapeType="1"/>
            <a:endCxn id="45232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9" name="Straight Connector 503"/>
          <p:cNvCxnSpPr>
            <a:cxnSpLocks noChangeShapeType="1"/>
            <a:endCxn id="45232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0" name="Straight Connector 504"/>
          <p:cNvCxnSpPr>
            <a:cxnSpLocks noChangeShapeType="1"/>
            <a:endCxn id="45315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1" name="Straight Connector 505"/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2" name="Straight Connector 506"/>
          <p:cNvCxnSpPr>
            <a:cxnSpLocks noChangeShapeType="1"/>
            <a:stCxn id="45381" idx="4"/>
            <a:endCxn id="45310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Straight Connector 507"/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4" name="Straight Connector 508"/>
          <p:cNvCxnSpPr>
            <a:cxnSpLocks noChangeShapeType="1"/>
            <a:endCxn id="45297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5" name="Straight Connector 509"/>
          <p:cNvCxnSpPr>
            <a:cxnSpLocks noChangeShapeType="1"/>
            <a:stCxn id="45379" idx="0"/>
          </p:cNvCxnSpPr>
          <p:nvPr/>
        </p:nvCxnSpPr>
        <p:spPr bwMode="auto">
          <a:xfrm flipH="1" flipV="1">
            <a:off x="5319713" y="4694238"/>
            <a:ext cx="285750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6" name="Straight Connector 510"/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7" name="Straight Connector 511"/>
          <p:cNvCxnSpPr>
            <a:cxnSpLocks noChangeShapeType="1"/>
            <a:stCxn id="45376" idx="0"/>
          </p:cNvCxnSpPr>
          <p:nvPr/>
        </p:nvCxnSpPr>
        <p:spPr bwMode="auto">
          <a:xfrm flipH="1" flipV="1">
            <a:off x="3144838" y="5192713"/>
            <a:ext cx="2444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8" name="Straight Connector 512"/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Straight Connector 513"/>
          <p:cNvCxnSpPr>
            <a:cxnSpLocks noChangeShapeType="1"/>
            <a:endCxn id="45127" idx="0"/>
          </p:cNvCxnSpPr>
          <p:nvPr/>
        </p:nvCxnSpPr>
        <p:spPr bwMode="auto">
          <a:xfrm flipV="1">
            <a:off x="1362075" y="5045075"/>
            <a:ext cx="706438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Straight Connector 514"/>
          <p:cNvCxnSpPr>
            <a:cxnSpLocks noChangeShapeType="1"/>
            <a:endCxn id="45183" idx="1"/>
          </p:cNvCxnSpPr>
          <p:nvPr/>
        </p:nvCxnSpPr>
        <p:spPr bwMode="auto">
          <a:xfrm>
            <a:off x="1155700" y="4376738"/>
            <a:ext cx="99695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5217" name="Group 20"/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45099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45102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03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5100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1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33" name="Group 39937"/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45093" name="Straight Connector 515"/>
            <p:cNvCxnSpPr>
              <a:cxnSpLocks noChangeShapeType="1"/>
              <a:stCxn id="45149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5094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45097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98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5095" name="Straight Connector 519"/>
            <p:cNvCxnSpPr>
              <a:cxnSpLocks noChangeShapeType="1"/>
              <a:stCxn id="45097" idx="6"/>
              <a:endCxn id="45349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6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49" name="Group 39939"/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45090" name="Straight Connector 7"/>
            <p:cNvCxnSpPr>
              <a:cxnSpLocks noChangeShapeType="1"/>
              <a:stCxn id="45222" idx="5"/>
              <a:endCxn id="45347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1" name="Straight Connector 415"/>
            <p:cNvCxnSpPr>
              <a:cxnSpLocks noChangeShapeType="1"/>
              <a:endCxn id="45181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2" name="Straight Connector 523"/>
            <p:cNvCxnSpPr>
              <a:cxnSpLocks noChangeShapeType="1"/>
              <a:stCxn id="45144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57" name="Group 39945"/>
          <p:cNvGrpSpPr>
            <a:grpSpLocks/>
          </p:cNvGrpSpPr>
          <p:nvPr/>
        </p:nvGrpSpPr>
        <p:grpSpPr bwMode="auto">
          <a:xfrm>
            <a:off x="4686300" y="4864100"/>
            <a:ext cx="1914525" cy="741363"/>
            <a:chOff x="4686300" y="4864100"/>
            <a:chExt cx="1914118" cy="740879"/>
          </a:xfrm>
        </p:grpSpPr>
        <p:sp>
          <p:nvSpPr>
            <p:cNvPr id="45088" name="TextBox 39940"/>
            <p:cNvSpPr txBox="1">
              <a:spLocks noChangeArrowheads="1"/>
            </p:cNvSpPr>
            <p:nvPr/>
          </p:nvSpPr>
          <p:spPr bwMode="auto">
            <a:xfrm>
              <a:off x="4838700" y="5143500"/>
              <a:ext cx="1761718" cy="461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i="1">
                  <a:solidFill>
                    <a:srgbClr val="CC0000"/>
                  </a:solidFill>
                </a:rPr>
                <a:t>peering link</a:t>
              </a:r>
            </a:p>
          </p:txBody>
        </p:sp>
        <p:cxnSp>
          <p:nvCxnSpPr>
            <p:cNvPr id="45089" name="Straight Connector 39943"/>
            <p:cNvCxnSpPr>
              <a:cxnSpLocks noChangeShapeType="1"/>
            </p:cNvCxnSpPr>
            <p:nvPr/>
          </p:nvCxnSpPr>
          <p:spPr bwMode="auto">
            <a:xfrm>
              <a:off x="4686300" y="4864100"/>
              <a:ext cx="266700" cy="4191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65" name="Group 39950"/>
          <p:cNvGrpSpPr>
            <a:grpSpLocks/>
          </p:cNvGrpSpPr>
          <p:nvPr/>
        </p:nvGrpSpPr>
        <p:grpSpPr bwMode="auto">
          <a:xfrm>
            <a:off x="5270500" y="1701800"/>
            <a:ext cx="3403600" cy="1169988"/>
            <a:chOff x="5270500" y="1701800"/>
            <a:chExt cx="3402978" cy="1169232"/>
          </a:xfrm>
        </p:grpSpPr>
        <p:sp>
          <p:nvSpPr>
            <p:cNvPr id="45086" name="TextBox 39946"/>
            <p:cNvSpPr txBox="1">
              <a:spLocks noChangeArrowheads="1"/>
            </p:cNvSpPr>
            <p:nvPr/>
          </p:nvSpPr>
          <p:spPr bwMode="auto">
            <a:xfrm>
              <a:off x="5270500" y="1701800"/>
              <a:ext cx="3402978" cy="461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i="1">
                  <a:solidFill>
                    <a:srgbClr val="CC0000"/>
                  </a:solidFill>
                </a:rPr>
                <a:t>Internet exchange point</a:t>
              </a:r>
            </a:p>
          </p:txBody>
        </p:sp>
        <p:cxnSp>
          <p:nvCxnSpPr>
            <p:cNvPr id="45087" name="Straight Connector 39948"/>
            <p:cNvCxnSpPr>
              <a:cxnSpLocks noChangeShapeType="1"/>
              <a:endCxn id="45103" idx="0"/>
            </p:cNvCxnSpPr>
            <p:nvPr/>
          </p:nvCxnSpPr>
          <p:spPr bwMode="auto">
            <a:xfrm flipH="1">
              <a:off x="5952289" y="2159000"/>
              <a:ext cx="219911" cy="71203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6083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084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6376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642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9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77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642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7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78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642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5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79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642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3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0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642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1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1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641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9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2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641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7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3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641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5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4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641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3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5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641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1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6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640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9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7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640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7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8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640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5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9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640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3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90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640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1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91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639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99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6392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3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4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5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6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7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6085" name="Rectangle 3"/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… and regional networks may arise to connect access nets to ISPS </a:t>
            </a:r>
          </a:p>
        </p:txBody>
      </p:sp>
      <p:grpSp>
        <p:nvGrpSpPr>
          <p:cNvPr id="46086" name="Group 8"/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46293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6294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636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6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7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7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7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7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72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73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6295" name="Straight Connector 10"/>
            <p:cNvCxnSpPr>
              <a:cxnSpLocks noChangeShapeType="1"/>
              <a:stCxn id="46373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96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97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98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99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00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01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02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03" name="Straight Connector 304"/>
            <p:cNvCxnSpPr>
              <a:cxnSpLocks noChangeShapeType="1"/>
              <a:endCxn id="46368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304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6305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636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6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6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6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6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6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6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6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06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635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5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5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5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5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5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56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57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07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634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4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4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4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5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5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48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49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08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633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3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3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3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4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4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40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41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09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632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2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3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3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3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3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32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3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10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632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2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2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2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2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2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2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25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11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631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1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1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1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1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1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1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17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6087" name="Group 331"/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46210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6211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628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8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8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8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9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9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8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90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6212" name="Straight Connector 334"/>
            <p:cNvCxnSpPr>
              <a:cxnSpLocks noChangeShapeType="1"/>
              <a:stCxn id="4629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3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4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5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6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7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8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9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20" name="Straight Connector 342"/>
            <p:cNvCxnSpPr>
              <a:cxnSpLocks noChangeShapeType="1"/>
              <a:endCxn id="4628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221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A</a:t>
              </a:r>
            </a:p>
          </p:txBody>
        </p:sp>
        <p:grpSp>
          <p:nvGrpSpPr>
            <p:cNvPr id="46222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627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7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7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8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8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8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8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82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3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626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7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7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7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7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7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73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74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4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626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6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6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6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6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6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65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66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5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625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5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5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5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5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6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57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58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6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624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4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4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4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5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5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4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50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7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623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3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3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4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4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4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41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42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8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622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3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3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3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3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3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3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34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6088" name="Group 416"/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46127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6128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6202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0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0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0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0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0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06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07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6129" name="Straight Connector 419"/>
            <p:cNvCxnSpPr>
              <a:cxnSpLocks noChangeShapeType="1"/>
              <a:stCxn id="46207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0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1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2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3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4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5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6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7" name="Straight Connector 427"/>
            <p:cNvCxnSpPr>
              <a:cxnSpLocks noChangeShapeType="1"/>
              <a:endCxn id="46202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138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C</a:t>
              </a:r>
            </a:p>
          </p:txBody>
        </p:sp>
        <p:grpSp>
          <p:nvGrpSpPr>
            <p:cNvPr id="46139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619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9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9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9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0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0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98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99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0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618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8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8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8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9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9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90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91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1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617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7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8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8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8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8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8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8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2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617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7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7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7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7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7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7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7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3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616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6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6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6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6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6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6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67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4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615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5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5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5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6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6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5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59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5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614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4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4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4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5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5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5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51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46089" name="Straight Connector 12"/>
          <p:cNvCxnSpPr>
            <a:cxnSpLocks noChangeShapeType="1"/>
            <a:endCxn id="46287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0" name="Straight Connector 500"/>
          <p:cNvCxnSpPr>
            <a:cxnSpLocks noChangeShapeType="1"/>
            <a:stCxn id="46412" idx="8"/>
            <a:endCxn id="46110" idx="2"/>
          </p:cNvCxnSpPr>
          <p:nvPr/>
        </p:nvCxnSpPr>
        <p:spPr bwMode="auto">
          <a:xfrm>
            <a:off x="1455738" y="2990850"/>
            <a:ext cx="38100" cy="309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1" name="Straight Connector 501"/>
          <p:cNvCxnSpPr>
            <a:cxnSpLocks noChangeShapeType="1"/>
            <a:endCxn id="46110" idx="3"/>
          </p:cNvCxnSpPr>
          <p:nvPr/>
        </p:nvCxnSpPr>
        <p:spPr bwMode="auto">
          <a:xfrm>
            <a:off x="1235075" y="3271838"/>
            <a:ext cx="123825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2" name="Straight Connector 502"/>
          <p:cNvCxnSpPr>
            <a:cxnSpLocks noChangeShapeType="1"/>
            <a:endCxn id="46255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3" name="Straight Connector 503"/>
          <p:cNvCxnSpPr>
            <a:cxnSpLocks noChangeShapeType="1"/>
            <a:endCxn id="46255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4" name="Straight Connector 504"/>
          <p:cNvCxnSpPr>
            <a:cxnSpLocks noChangeShapeType="1"/>
            <a:endCxn id="46338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5" name="Straight Connector 505"/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6" name="Straight Connector 506"/>
          <p:cNvCxnSpPr>
            <a:cxnSpLocks noChangeShapeType="1"/>
            <a:stCxn id="46404" idx="4"/>
            <a:endCxn id="46333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7" name="Straight Connector 507"/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8" name="Straight Connector 508"/>
          <p:cNvCxnSpPr>
            <a:cxnSpLocks noChangeShapeType="1"/>
            <a:endCxn id="46320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9" name="Straight Connector 509"/>
          <p:cNvCxnSpPr>
            <a:cxnSpLocks noChangeShapeType="1"/>
            <a:stCxn id="46402" idx="0"/>
            <a:endCxn id="46108" idx="5"/>
          </p:cNvCxnSpPr>
          <p:nvPr/>
        </p:nvCxnSpPr>
        <p:spPr bwMode="auto">
          <a:xfrm flipH="1" flipV="1">
            <a:off x="5084763" y="5684838"/>
            <a:ext cx="520700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0" name="Straight Connector 510"/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1" name="Straight Connector 511"/>
          <p:cNvCxnSpPr>
            <a:cxnSpLocks noChangeShapeType="1"/>
            <a:stCxn id="46399" idx="0"/>
          </p:cNvCxnSpPr>
          <p:nvPr/>
        </p:nvCxnSpPr>
        <p:spPr bwMode="auto">
          <a:xfrm flipV="1">
            <a:off x="3389313" y="5689600"/>
            <a:ext cx="306387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2" name="Straight Connector 512"/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3" name="Straight Connector 513"/>
          <p:cNvCxnSpPr>
            <a:cxnSpLocks noChangeShapeType="1"/>
            <a:stCxn id="46421" idx="0"/>
          </p:cNvCxnSpPr>
          <p:nvPr/>
        </p:nvCxnSpPr>
        <p:spPr bwMode="auto">
          <a:xfrm flipV="1">
            <a:off x="1179513" y="4467225"/>
            <a:ext cx="227012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4" name="Straight Connector 514"/>
          <p:cNvCxnSpPr>
            <a:cxnSpLocks noChangeShapeType="1"/>
            <a:endCxn id="46110" idx="5"/>
          </p:cNvCxnSpPr>
          <p:nvPr/>
        </p:nvCxnSpPr>
        <p:spPr bwMode="auto">
          <a:xfrm flipV="1">
            <a:off x="1155700" y="4368800"/>
            <a:ext cx="2032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6105" name="Group 20"/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46122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46125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6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6123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24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6106" name="Group 39937"/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46116" name="Straight Connector 515"/>
            <p:cNvCxnSpPr>
              <a:cxnSpLocks noChangeShapeType="1"/>
              <a:stCxn id="46172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6117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46120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1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6118" name="Straight Connector 519"/>
            <p:cNvCxnSpPr>
              <a:cxnSpLocks noChangeShapeType="1"/>
              <a:stCxn id="46120" idx="6"/>
              <a:endCxn id="46372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9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6107" name="Group 39939"/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46113" name="Straight Connector 7"/>
            <p:cNvCxnSpPr>
              <a:cxnSpLocks noChangeShapeType="1"/>
              <a:stCxn id="46245" idx="5"/>
              <a:endCxn id="46370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4" name="Straight Connector 415"/>
            <p:cNvCxnSpPr>
              <a:cxnSpLocks noChangeShapeType="1"/>
              <a:endCxn id="46204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5" name="Straight Connector 523"/>
            <p:cNvCxnSpPr>
              <a:cxnSpLocks noChangeShapeType="1"/>
              <a:stCxn id="46167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108" name="Oval 6"/>
          <p:cNvSpPr>
            <a:spLocks noChangeArrowheads="1"/>
          </p:cNvSpPr>
          <p:nvPr/>
        </p:nvSpPr>
        <p:spPr bwMode="auto">
          <a:xfrm>
            <a:off x="3340100" y="5359400"/>
            <a:ext cx="20447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9" name="TextBox 9"/>
          <p:cNvSpPr txBox="1">
            <a:spLocks noChangeArrowheads="1"/>
          </p:cNvSpPr>
          <p:nvPr/>
        </p:nvSpPr>
        <p:spPr bwMode="auto">
          <a:xfrm>
            <a:off x="3556000" y="5334000"/>
            <a:ext cx="158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 i="1"/>
              <a:t>regional net</a:t>
            </a:r>
          </a:p>
        </p:txBody>
      </p:sp>
      <p:sp>
        <p:nvSpPr>
          <p:cNvPr id="46110" name="Oval 517"/>
          <p:cNvSpPr>
            <a:spLocks noChangeArrowheads="1"/>
          </p:cNvSpPr>
          <p:nvPr/>
        </p:nvSpPr>
        <p:spPr bwMode="auto">
          <a:xfrm rot="5400000">
            <a:off x="867569" y="3736182"/>
            <a:ext cx="1252537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6111" name="Straight Connector 39941"/>
          <p:cNvCxnSpPr>
            <a:cxnSpLocks noChangeShapeType="1"/>
            <a:stCxn id="46110" idx="0"/>
            <a:endCxn id="46233" idx="0"/>
          </p:cNvCxnSpPr>
          <p:nvPr/>
        </p:nvCxnSpPr>
        <p:spPr bwMode="auto">
          <a:xfrm flipV="1">
            <a:off x="1684338" y="3654425"/>
            <a:ext cx="758825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2" name="Straight Connector 524"/>
          <p:cNvCxnSpPr>
            <a:cxnSpLocks noChangeShapeType="1"/>
            <a:endCxn id="46206" idx="1"/>
          </p:cNvCxnSpPr>
          <p:nvPr/>
        </p:nvCxnSpPr>
        <p:spPr bwMode="auto">
          <a:xfrm>
            <a:off x="1685925" y="4111625"/>
            <a:ext cx="46672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7107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08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7411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746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64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2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746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62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3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745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60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4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745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8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5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745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6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6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745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4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7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745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2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8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744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0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9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744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8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0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744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6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1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744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4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2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744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2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3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743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0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4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743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38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5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743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36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6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74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34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7427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28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29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30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31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32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7109" name="Rectangle 3"/>
          <p:cNvSpPr txBox="1">
            <a:spLocks noChangeArrowheads="1"/>
          </p:cNvSpPr>
          <p:nvPr/>
        </p:nvSpPr>
        <p:spPr bwMode="auto">
          <a:xfrm>
            <a:off x="485775" y="1011238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… and content provider networks  (e.g., Google, Microsoft,   Akamai ) may run their own network, to bring services, content close to end users</a:t>
            </a:r>
          </a:p>
        </p:txBody>
      </p:sp>
      <p:grpSp>
        <p:nvGrpSpPr>
          <p:cNvPr id="47110" name="Group 8"/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47328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329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740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40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40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40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40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1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407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08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7330" name="Straight Connector 10"/>
            <p:cNvCxnSpPr>
              <a:cxnSpLocks noChangeShapeType="1"/>
              <a:stCxn id="47408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1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2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3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4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5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6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7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8" name="Straight Connector 304"/>
            <p:cNvCxnSpPr>
              <a:cxnSpLocks noChangeShapeType="1"/>
              <a:endCxn id="47403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339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7340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739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9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9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9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40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0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9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0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1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738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8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8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9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9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9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91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92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2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737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8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8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8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8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8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83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84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3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737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7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7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7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7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7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75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76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4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736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6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6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6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6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7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67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6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5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735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5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5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5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6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6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5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60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6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734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4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4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5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5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5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5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52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7111" name="Group 331"/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47245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246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732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2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2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2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2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2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2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5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7247" name="Straight Connector 334"/>
            <p:cNvCxnSpPr>
              <a:cxnSpLocks noChangeShapeType="1"/>
              <a:stCxn id="47325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48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49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0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1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2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3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4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5" name="Straight Connector 342"/>
            <p:cNvCxnSpPr>
              <a:cxnSpLocks noChangeShapeType="1"/>
              <a:endCxn id="47320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256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A</a:t>
              </a:r>
            </a:p>
          </p:txBody>
        </p:sp>
        <p:grpSp>
          <p:nvGrpSpPr>
            <p:cNvPr id="47257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731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1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1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1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1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1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16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17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58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730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0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0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0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1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1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08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09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59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729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9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9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9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0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0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00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01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60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728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8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9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9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9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9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92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93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61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728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8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8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8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8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8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8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85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62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727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7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7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7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7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7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76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77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63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726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6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6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6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7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7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6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69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7112" name="Group 416"/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47162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163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7237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3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3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4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4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4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41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42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7164" name="Straight Connector 419"/>
            <p:cNvCxnSpPr>
              <a:cxnSpLocks noChangeShapeType="1"/>
              <a:stCxn id="47242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5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6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7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8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9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70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71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72" name="Straight Connector 427"/>
            <p:cNvCxnSpPr>
              <a:cxnSpLocks noChangeShapeType="1"/>
              <a:endCxn id="47237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73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926532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7174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722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3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3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3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3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3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33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34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5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722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2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2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2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2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2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25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26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6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721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1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1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1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1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2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1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7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720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0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0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0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1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0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8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719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9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9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0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0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0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0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9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718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9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9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19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19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9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19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80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718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8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8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18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18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8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18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47113" name="Straight Connector 12"/>
          <p:cNvCxnSpPr>
            <a:cxnSpLocks noChangeShapeType="1"/>
            <a:endCxn id="47322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4" name="Straight Connector 500"/>
          <p:cNvCxnSpPr>
            <a:cxnSpLocks noChangeShapeType="1"/>
            <a:stCxn id="47447" idx="8"/>
            <a:endCxn id="47134" idx="2"/>
          </p:cNvCxnSpPr>
          <p:nvPr/>
        </p:nvCxnSpPr>
        <p:spPr bwMode="auto">
          <a:xfrm>
            <a:off x="1455738" y="2990850"/>
            <a:ext cx="38100" cy="309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5" name="Straight Connector 501"/>
          <p:cNvCxnSpPr>
            <a:cxnSpLocks noChangeShapeType="1"/>
            <a:endCxn id="47134" idx="3"/>
          </p:cNvCxnSpPr>
          <p:nvPr/>
        </p:nvCxnSpPr>
        <p:spPr bwMode="auto">
          <a:xfrm>
            <a:off x="1235075" y="3271838"/>
            <a:ext cx="123825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6" name="Straight Connector 502"/>
          <p:cNvCxnSpPr>
            <a:cxnSpLocks noChangeShapeType="1"/>
            <a:endCxn id="47290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Straight Connector 503"/>
          <p:cNvCxnSpPr>
            <a:cxnSpLocks noChangeShapeType="1"/>
            <a:endCxn id="47290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Straight Connector 504"/>
          <p:cNvCxnSpPr>
            <a:cxnSpLocks noChangeShapeType="1"/>
            <a:endCxn id="47373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Straight Connector 505"/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Straight Connector 506"/>
          <p:cNvCxnSpPr>
            <a:cxnSpLocks noChangeShapeType="1"/>
            <a:stCxn id="47439" idx="4"/>
            <a:endCxn id="47368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Straight Connector 507"/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Straight Connector 508"/>
          <p:cNvCxnSpPr>
            <a:cxnSpLocks noChangeShapeType="1"/>
            <a:endCxn id="47355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Straight Connector 509"/>
          <p:cNvCxnSpPr>
            <a:cxnSpLocks noChangeShapeType="1"/>
            <a:stCxn id="47437" idx="0"/>
            <a:endCxn id="47132" idx="5"/>
          </p:cNvCxnSpPr>
          <p:nvPr/>
        </p:nvCxnSpPr>
        <p:spPr bwMode="auto">
          <a:xfrm flipH="1" flipV="1">
            <a:off x="5084763" y="5684838"/>
            <a:ext cx="520700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Straight Connector 510"/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5" name="Straight Connector 511"/>
          <p:cNvCxnSpPr>
            <a:cxnSpLocks noChangeShapeType="1"/>
            <a:stCxn id="47434" idx="0"/>
          </p:cNvCxnSpPr>
          <p:nvPr/>
        </p:nvCxnSpPr>
        <p:spPr bwMode="auto">
          <a:xfrm flipV="1">
            <a:off x="3389313" y="5689600"/>
            <a:ext cx="306387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6" name="Straight Connector 512"/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7" name="Straight Connector 513"/>
          <p:cNvCxnSpPr>
            <a:cxnSpLocks noChangeShapeType="1"/>
            <a:stCxn id="47456" idx="0"/>
          </p:cNvCxnSpPr>
          <p:nvPr/>
        </p:nvCxnSpPr>
        <p:spPr bwMode="auto">
          <a:xfrm flipV="1">
            <a:off x="1179513" y="4467225"/>
            <a:ext cx="227012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8" name="Straight Connector 514"/>
          <p:cNvCxnSpPr>
            <a:cxnSpLocks noChangeShapeType="1"/>
            <a:endCxn id="47134" idx="5"/>
          </p:cNvCxnSpPr>
          <p:nvPr/>
        </p:nvCxnSpPr>
        <p:spPr bwMode="auto">
          <a:xfrm flipV="1">
            <a:off x="1155700" y="4368800"/>
            <a:ext cx="2032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7129" name="Group 20"/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47157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47160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1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7158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9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7130" name="Group 39937"/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47151" name="Straight Connector 515"/>
            <p:cNvCxnSpPr>
              <a:cxnSpLocks noChangeShapeType="1"/>
              <a:stCxn id="47207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7152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47155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6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7153" name="Straight Connector 519"/>
            <p:cNvCxnSpPr>
              <a:cxnSpLocks noChangeShapeType="1"/>
              <a:stCxn id="47155" idx="6"/>
              <a:endCxn id="47407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4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7131" name="Group 39939"/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47148" name="Straight Connector 7"/>
            <p:cNvCxnSpPr>
              <a:cxnSpLocks noChangeShapeType="1"/>
              <a:stCxn id="47280" idx="5"/>
              <a:endCxn id="47405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9" name="Straight Connector 415"/>
            <p:cNvCxnSpPr>
              <a:cxnSpLocks noChangeShapeType="1"/>
              <a:endCxn id="47239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0" name="Straight Connector 523"/>
            <p:cNvCxnSpPr>
              <a:cxnSpLocks noChangeShapeType="1"/>
              <a:stCxn id="47202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7132" name="Oval 6"/>
          <p:cNvSpPr>
            <a:spLocks noChangeArrowheads="1"/>
          </p:cNvSpPr>
          <p:nvPr/>
        </p:nvSpPr>
        <p:spPr bwMode="auto">
          <a:xfrm>
            <a:off x="3340100" y="5359400"/>
            <a:ext cx="20447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133" name="TextBox 9"/>
          <p:cNvSpPr txBox="1">
            <a:spLocks noChangeArrowheads="1"/>
          </p:cNvSpPr>
          <p:nvPr/>
        </p:nvSpPr>
        <p:spPr bwMode="auto">
          <a:xfrm>
            <a:off x="3556000" y="5334000"/>
            <a:ext cx="158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 i="1"/>
              <a:t>regional net</a:t>
            </a:r>
          </a:p>
        </p:txBody>
      </p:sp>
      <p:sp>
        <p:nvSpPr>
          <p:cNvPr id="47134" name="Oval 517"/>
          <p:cNvSpPr>
            <a:spLocks noChangeArrowheads="1"/>
          </p:cNvSpPr>
          <p:nvPr/>
        </p:nvSpPr>
        <p:spPr bwMode="auto">
          <a:xfrm rot="5400000">
            <a:off x="867569" y="3736182"/>
            <a:ext cx="1252537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7135" name="Straight Connector 39941"/>
          <p:cNvCxnSpPr>
            <a:cxnSpLocks noChangeShapeType="1"/>
            <a:stCxn id="47134" idx="0"/>
            <a:endCxn id="47268" idx="0"/>
          </p:cNvCxnSpPr>
          <p:nvPr/>
        </p:nvCxnSpPr>
        <p:spPr bwMode="auto">
          <a:xfrm flipV="1">
            <a:off x="1684338" y="3654425"/>
            <a:ext cx="758825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6" name="Straight Connector 524"/>
          <p:cNvCxnSpPr>
            <a:cxnSpLocks noChangeShapeType="1"/>
            <a:endCxn id="47241" idx="1"/>
          </p:cNvCxnSpPr>
          <p:nvPr/>
        </p:nvCxnSpPr>
        <p:spPr bwMode="auto">
          <a:xfrm>
            <a:off x="1685925" y="4111625"/>
            <a:ext cx="46672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7" name="Oval 11"/>
          <p:cNvSpPr>
            <a:spLocks noChangeArrowheads="1"/>
          </p:cNvSpPr>
          <p:nvPr/>
        </p:nvSpPr>
        <p:spPr bwMode="auto">
          <a:xfrm>
            <a:off x="1866900" y="3429000"/>
            <a:ext cx="6096000" cy="673100"/>
          </a:xfrm>
          <a:prstGeom prst="ellipse">
            <a:avLst/>
          </a:prstGeom>
          <a:solidFill>
            <a:srgbClr val="FF6600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138" name="TextBox 13"/>
          <p:cNvSpPr txBox="1">
            <a:spLocks noChangeArrowheads="1"/>
          </p:cNvSpPr>
          <p:nvPr/>
        </p:nvSpPr>
        <p:spPr bwMode="auto">
          <a:xfrm>
            <a:off x="3113088" y="3541713"/>
            <a:ext cx="3627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>
                <a:solidFill>
                  <a:schemeClr val="bg1"/>
                </a:solidFill>
              </a:rPr>
              <a:t>Content provider network</a:t>
            </a:r>
          </a:p>
        </p:txBody>
      </p:sp>
      <p:cxnSp>
        <p:nvCxnSpPr>
          <p:cNvPr id="47139" name="Straight Connector 19"/>
          <p:cNvCxnSpPr>
            <a:cxnSpLocks noChangeShapeType="1"/>
            <a:stCxn id="47460" idx="2"/>
          </p:cNvCxnSpPr>
          <p:nvPr/>
        </p:nvCxnSpPr>
        <p:spPr bwMode="auto">
          <a:xfrm flipH="1">
            <a:off x="6540500" y="2867025"/>
            <a:ext cx="150813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0" name="Straight Connector 525"/>
          <p:cNvCxnSpPr>
            <a:cxnSpLocks noChangeShapeType="1"/>
            <a:endCxn id="47137" idx="7"/>
          </p:cNvCxnSpPr>
          <p:nvPr/>
        </p:nvCxnSpPr>
        <p:spPr bwMode="auto">
          <a:xfrm flipH="1">
            <a:off x="7070725" y="3221038"/>
            <a:ext cx="142875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1" name="Straight Connector 526"/>
          <p:cNvCxnSpPr>
            <a:cxnSpLocks noChangeShapeType="1"/>
          </p:cNvCxnSpPr>
          <p:nvPr/>
        </p:nvCxnSpPr>
        <p:spPr bwMode="auto">
          <a:xfrm flipH="1">
            <a:off x="5773738" y="3205163"/>
            <a:ext cx="111125" cy="2444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2" name="Straight Connector 527"/>
          <p:cNvCxnSpPr>
            <a:cxnSpLocks noChangeShapeType="1"/>
            <a:endCxn id="47137" idx="1"/>
          </p:cNvCxnSpPr>
          <p:nvPr/>
        </p:nvCxnSpPr>
        <p:spPr bwMode="auto">
          <a:xfrm>
            <a:off x="2682875" y="3008313"/>
            <a:ext cx="76200" cy="5191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3" name="Straight Connector 528"/>
          <p:cNvCxnSpPr>
            <a:cxnSpLocks noChangeShapeType="1"/>
            <a:endCxn id="47207" idx="1"/>
          </p:cNvCxnSpPr>
          <p:nvPr/>
        </p:nvCxnSpPr>
        <p:spPr bwMode="auto">
          <a:xfrm>
            <a:off x="3413125" y="4049713"/>
            <a:ext cx="239713" cy="3397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4" name="Straight Connector 529"/>
          <p:cNvCxnSpPr>
            <a:cxnSpLocks noChangeShapeType="1"/>
          </p:cNvCxnSpPr>
          <p:nvPr/>
        </p:nvCxnSpPr>
        <p:spPr bwMode="auto">
          <a:xfrm>
            <a:off x="2303463" y="2651125"/>
            <a:ext cx="14287" cy="941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5" name="Straight Connector 530"/>
          <p:cNvCxnSpPr>
            <a:cxnSpLocks noChangeShapeType="1"/>
          </p:cNvCxnSpPr>
          <p:nvPr/>
        </p:nvCxnSpPr>
        <p:spPr bwMode="auto">
          <a:xfrm flipH="1">
            <a:off x="1693863" y="3935413"/>
            <a:ext cx="528637" cy="117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6" name="Straight Connector 531"/>
          <p:cNvCxnSpPr>
            <a:cxnSpLocks noChangeShapeType="1"/>
            <a:stCxn id="47439" idx="3"/>
          </p:cNvCxnSpPr>
          <p:nvPr/>
        </p:nvCxnSpPr>
        <p:spPr bwMode="auto">
          <a:xfrm flipH="1" flipV="1">
            <a:off x="7713663" y="3903663"/>
            <a:ext cx="400050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7" name="Straight Connector 532"/>
          <p:cNvCxnSpPr>
            <a:cxnSpLocks noChangeShapeType="1"/>
            <a:stCxn id="47441" idx="4"/>
          </p:cNvCxnSpPr>
          <p:nvPr/>
        </p:nvCxnSpPr>
        <p:spPr bwMode="auto">
          <a:xfrm flipH="1" flipV="1">
            <a:off x="7624763" y="3929063"/>
            <a:ext cx="628650" cy="1214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5149850"/>
            <a:ext cx="8440738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at center: small # of well-connected large networks</a:t>
            </a:r>
          </a:p>
          <a:p>
            <a:pPr lvl="1" eaLnBrk="1" hangingPunct="1"/>
            <a:r>
              <a:rPr lang="ja-JP" altLang="en-US" sz="2000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sz="2000" smtClean="0">
                <a:solidFill>
                  <a:srgbClr val="CC0000"/>
                </a:solidFill>
                <a:ea typeface="ＭＳ Ｐゴシック" pitchFamily="34" charset="-128"/>
              </a:rPr>
              <a:t>tier-1</a:t>
            </a:r>
            <a:r>
              <a:rPr lang="ja-JP" altLang="en-US" sz="2000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r>
              <a:rPr lang="en-US" altLang="ja-JP" sz="2000" smtClean="0">
                <a:solidFill>
                  <a:srgbClr val="CC0000"/>
                </a:solidFill>
                <a:ea typeface="ＭＳ Ｐゴシック" pitchFamily="34" charset="-128"/>
              </a:rPr>
              <a:t> commercial ISPs</a:t>
            </a:r>
            <a:r>
              <a:rPr lang="en-US" altLang="ja-JP" sz="2000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altLang="ja-JP" sz="2000" smtClean="0">
                <a:ea typeface="ＭＳ Ｐゴシック" pitchFamily="34" charset="-128"/>
              </a:rPr>
              <a:t>(e.g., Level 3, Sprint, AT&amp;T, NTT), national &amp; international coverage</a:t>
            </a:r>
          </a:p>
          <a:p>
            <a:pPr lvl="1" eaLnBrk="1" hangingPunct="1"/>
            <a:r>
              <a:rPr lang="en-US" sz="2000" smtClean="0">
                <a:solidFill>
                  <a:srgbClr val="CC0000"/>
                </a:solidFill>
              </a:rPr>
              <a:t>content provider network </a:t>
            </a:r>
            <a:r>
              <a:rPr lang="en-US" sz="2000" smtClean="0"/>
              <a:t>(e.g, Google): private network that connects it data centers to Internet, often bypassing tier-1, regional ISPs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000" smtClean="0"/>
          </a:p>
        </p:txBody>
      </p:sp>
      <p:pic>
        <p:nvPicPr>
          <p:cNvPr id="48133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2379F952-2F70-4EF3-9B20-76B65957E2E1}" type="slidenum">
              <a:rPr lang="en-US" sz="1200" smtClean="0">
                <a:latin typeface="Tahoma" pitchFamily="34" charset="0"/>
              </a:rPr>
              <a:pPr/>
              <a:t>40</a:t>
            </a:fld>
            <a:endParaRPr lang="en-US" sz="1200" smtClean="0">
              <a:latin typeface="Tahoma" pitchFamily="34" charset="0"/>
            </a:endParaRPr>
          </a:p>
        </p:txBody>
      </p:sp>
      <p:grpSp>
        <p:nvGrpSpPr>
          <p:cNvPr id="48135" name="Group 67"/>
          <p:cNvGrpSpPr>
            <a:grpSpLocks/>
          </p:cNvGrpSpPr>
          <p:nvPr/>
        </p:nvGrpSpPr>
        <p:grpSpPr bwMode="auto">
          <a:xfrm>
            <a:off x="1054100" y="1038225"/>
            <a:ext cx="7658100" cy="3984625"/>
            <a:chOff x="1066800" y="1371600"/>
            <a:chExt cx="7194549" cy="3984625"/>
          </a:xfrm>
        </p:grpSpPr>
        <p:sp>
          <p:nvSpPr>
            <p:cNvPr id="48136" name="Oval 76"/>
            <p:cNvSpPr>
              <a:spLocks noChangeArrowheads="1"/>
            </p:cNvSpPr>
            <p:nvPr/>
          </p:nvSpPr>
          <p:spPr bwMode="auto">
            <a:xfrm>
              <a:off x="1981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37" name="Oval 76"/>
            <p:cNvSpPr>
              <a:spLocks noChangeArrowheads="1"/>
            </p:cNvSpPr>
            <p:nvPr/>
          </p:nvSpPr>
          <p:spPr bwMode="auto">
            <a:xfrm>
              <a:off x="1066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38" name="Oval 76"/>
            <p:cNvSpPr>
              <a:spLocks noChangeArrowheads="1"/>
            </p:cNvSpPr>
            <p:nvPr/>
          </p:nvSpPr>
          <p:spPr bwMode="auto">
            <a:xfrm>
              <a:off x="5638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39" name="Oval 76"/>
            <p:cNvSpPr>
              <a:spLocks noChangeArrowheads="1"/>
            </p:cNvSpPr>
            <p:nvPr/>
          </p:nvSpPr>
          <p:spPr bwMode="auto">
            <a:xfrm>
              <a:off x="47244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0" name="Oval 76"/>
            <p:cNvSpPr>
              <a:spLocks noChangeArrowheads="1"/>
            </p:cNvSpPr>
            <p:nvPr/>
          </p:nvSpPr>
          <p:spPr bwMode="auto">
            <a:xfrm>
              <a:off x="38100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1" name="Oval 76"/>
            <p:cNvSpPr>
              <a:spLocks noChangeArrowheads="1"/>
            </p:cNvSpPr>
            <p:nvPr/>
          </p:nvSpPr>
          <p:spPr bwMode="auto">
            <a:xfrm>
              <a:off x="2895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2" name="Oval 76"/>
            <p:cNvSpPr>
              <a:spLocks noChangeArrowheads="1"/>
            </p:cNvSpPr>
            <p:nvPr/>
          </p:nvSpPr>
          <p:spPr bwMode="auto">
            <a:xfrm>
              <a:off x="6553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3" name="Oval 76"/>
            <p:cNvSpPr>
              <a:spLocks noChangeArrowheads="1"/>
            </p:cNvSpPr>
            <p:nvPr/>
          </p:nvSpPr>
          <p:spPr bwMode="auto">
            <a:xfrm>
              <a:off x="7467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4" name="Oval 33"/>
            <p:cNvSpPr>
              <a:spLocks noChangeArrowheads="1"/>
            </p:cNvSpPr>
            <p:nvPr/>
          </p:nvSpPr>
          <p:spPr bwMode="auto">
            <a:xfrm>
              <a:off x="2438400" y="3429000"/>
              <a:ext cx="1863725" cy="79057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808080"/>
                  </a:solidFill>
                </a:rPr>
                <a:t>Regional ISP</a:t>
              </a:r>
            </a:p>
          </p:txBody>
        </p:sp>
        <p:sp>
          <p:nvSpPr>
            <p:cNvPr id="48145" name="Oval 33"/>
            <p:cNvSpPr>
              <a:spLocks noChangeArrowheads="1"/>
            </p:cNvSpPr>
            <p:nvPr/>
          </p:nvSpPr>
          <p:spPr bwMode="auto">
            <a:xfrm>
              <a:off x="4800600" y="3429000"/>
              <a:ext cx="1863725" cy="79057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808080"/>
                  </a:solidFill>
                </a:rPr>
                <a:t>Regional ISP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133157" y="2819400"/>
              <a:ext cx="609985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801284" y="27432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sp>
          <p:nvSpPr>
            <p:cNvPr id="48148" name="Oval 34"/>
            <p:cNvSpPr>
              <a:spLocks noChangeArrowheads="1"/>
            </p:cNvSpPr>
            <p:nvPr/>
          </p:nvSpPr>
          <p:spPr bwMode="auto">
            <a:xfrm>
              <a:off x="11430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Tier 1 ISP</a:t>
              </a:r>
              <a:endParaRPr lang="en-US"/>
            </a:p>
          </p:txBody>
        </p:sp>
        <p:sp>
          <p:nvSpPr>
            <p:cNvPr id="48149" name="Oval 34"/>
            <p:cNvSpPr>
              <a:spLocks noChangeArrowheads="1"/>
            </p:cNvSpPr>
            <p:nvPr/>
          </p:nvSpPr>
          <p:spPr bwMode="auto">
            <a:xfrm>
              <a:off x="33528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Tier 1 ISP</a:t>
              </a:r>
              <a:endParaRPr lang="en-US"/>
            </a:p>
          </p:txBody>
        </p:sp>
        <p:sp>
          <p:nvSpPr>
            <p:cNvPr id="48150" name="Oval 34"/>
            <p:cNvSpPr>
              <a:spLocks noChangeArrowheads="1"/>
            </p:cNvSpPr>
            <p:nvPr/>
          </p:nvSpPr>
          <p:spPr bwMode="auto">
            <a:xfrm>
              <a:off x="5638800" y="1600200"/>
              <a:ext cx="1981200" cy="838200"/>
            </a:xfrm>
            <a:prstGeom prst="ellipse">
              <a:avLst/>
            </a:prstGeom>
            <a:solidFill>
              <a:srgbClr val="00206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Google</a:t>
              </a:r>
              <a:endParaRPr lang="en-US"/>
            </a:p>
          </p:txBody>
        </p:sp>
        <p:cxnSp>
          <p:nvCxnSpPr>
            <p:cNvPr id="84" name="Straight Connector 83"/>
            <p:cNvCxnSpPr>
              <a:endCxn id="48137" idx="0"/>
            </p:cNvCxnSpPr>
            <p:nvPr/>
          </p:nvCxnSpPr>
          <p:spPr>
            <a:xfrm rot="5400000">
              <a:off x="427081" y="3398633"/>
              <a:ext cx="2362200" cy="28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48144" idx="4"/>
            </p:cNvCxnSpPr>
            <p:nvPr/>
          </p:nvCxnSpPr>
          <p:spPr>
            <a:xfrm rot="5400000">
              <a:off x="3070887" y="4425754"/>
              <a:ext cx="504825" cy="92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48144" idx="3"/>
            </p:cNvCxnSpPr>
            <p:nvPr/>
          </p:nvCxnSpPr>
          <p:spPr>
            <a:xfrm rot="5400000">
              <a:off x="2265003" y="4277579"/>
              <a:ext cx="620712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808066" y="3459105"/>
              <a:ext cx="2438400" cy="2445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79" idx="2"/>
            </p:cNvCxnSpPr>
            <p:nvPr/>
          </p:nvCxnSpPr>
          <p:spPr>
            <a:xfrm rot="5400000">
              <a:off x="1333803" y="3771707"/>
              <a:ext cx="1600200" cy="6099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/>
            <p:cNvSpPr/>
            <p:nvPr/>
          </p:nvSpPr>
          <p:spPr>
            <a:xfrm>
              <a:off x="7315797" y="28194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cxnSp>
          <p:nvCxnSpPr>
            <p:cNvPr id="90" name="Straight Connector 89"/>
            <p:cNvCxnSpPr/>
            <p:nvPr/>
          </p:nvCxnSpPr>
          <p:spPr>
            <a:xfrm rot="16200000" flipH="1">
              <a:off x="3747986" y="42525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48145" idx="2"/>
              <a:endCxn id="48144" idx="6"/>
            </p:cNvCxnSpPr>
            <p:nvPr/>
          </p:nvCxnSpPr>
          <p:spPr>
            <a:xfrm rot="10800000">
              <a:off x="4301663" y="3824288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5400000">
              <a:off x="4931639" y="4288692"/>
              <a:ext cx="620713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rot="16200000" flipH="1">
              <a:off x="5633414" y="4425226"/>
              <a:ext cx="544513" cy="760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48145" idx="5"/>
            </p:cNvCxnSpPr>
            <p:nvPr/>
          </p:nvCxnSpPr>
          <p:spPr>
            <a:xfrm rot="16200000" flipH="1">
              <a:off x="6276143" y="4218669"/>
              <a:ext cx="620712" cy="3907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48150" idx="4"/>
            </p:cNvCxnSpPr>
            <p:nvPr/>
          </p:nvCxnSpPr>
          <p:spPr>
            <a:xfrm rot="16200000" flipH="1">
              <a:off x="5747409" y="3320741"/>
              <a:ext cx="2297113" cy="532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0800000">
              <a:off x="2971328" y="1981200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10800000">
              <a:off x="5181593" y="1981200"/>
              <a:ext cx="4981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Arc 97"/>
            <p:cNvSpPr/>
            <p:nvPr/>
          </p:nvSpPr>
          <p:spPr>
            <a:xfrm>
              <a:off x="2133157" y="1371600"/>
              <a:ext cx="4190855" cy="457200"/>
            </a:xfrm>
            <a:prstGeom prst="arc">
              <a:avLst>
                <a:gd name="adj1" fmla="val 10681875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99" name="Straight Connector 98"/>
            <p:cNvCxnSpPr/>
            <p:nvPr/>
          </p:nvCxnSpPr>
          <p:spPr>
            <a:xfrm rot="16200000" flipH="1">
              <a:off x="6972290" y="2399831"/>
              <a:ext cx="533400" cy="3057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endCxn id="79" idx="0"/>
            </p:cNvCxnSpPr>
            <p:nvPr/>
          </p:nvCxnSpPr>
          <p:spPr>
            <a:xfrm rot="16200000" flipH="1">
              <a:off x="2095457" y="2475961"/>
              <a:ext cx="457200" cy="2296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rot="16200000" flipH="1">
              <a:off x="2628635" y="3238707"/>
              <a:ext cx="457200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10800000" flipV="1">
              <a:off x="2743142" y="2209800"/>
              <a:ext cx="2972375" cy="7731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4662218" y="24237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rot="5400000">
              <a:off x="3314806" y="2856893"/>
              <a:ext cx="1143000" cy="153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rot="16200000" flipH="1">
              <a:off x="5105256" y="3276738"/>
              <a:ext cx="304800" cy="1521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rot="10800000" flipV="1">
              <a:off x="4039175" y="3124200"/>
              <a:ext cx="762109" cy="5445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48148" idx="5"/>
            </p:cNvCxnSpPr>
            <p:nvPr/>
          </p:nvCxnSpPr>
          <p:spPr>
            <a:xfrm rot="16200000" flipH="1">
              <a:off x="3070757" y="1938325"/>
              <a:ext cx="1470025" cy="21431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89" idx="2"/>
            </p:cNvCxnSpPr>
            <p:nvPr/>
          </p:nvCxnSpPr>
          <p:spPr>
            <a:xfrm rot="16200000" flipH="1">
              <a:off x="7004680" y="3891964"/>
              <a:ext cx="1458913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rot="5400000">
              <a:off x="6052348" y="3472202"/>
              <a:ext cx="1535113" cy="11439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89" idx="1"/>
            </p:cNvCxnSpPr>
            <p:nvPr/>
          </p:nvCxnSpPr>
          <p:spPr>
            <a:xfrm rot="10800000" flipV="1">
              <a:off x="6095826" y="3048000"/>
              <a:ext cx="1219971" cy="4683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endCxn id="80" idx="3"/>
            </p:cNvCxnSpPr>
            <p:nvPr/>
          </p:nvCxnSpPr>
          <p:spPr>
            <a:xfrm rot="10800000" flipV="1">
              <a:off x="5409778" y="2362200"/>
              <a:ext cx="780007" cy="609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5053332" y="2217738"/>
              <a:ext cx="2286327" cy="685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49155" name="Picture 12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914400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3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452563"/>
            <a:ext cx="8385175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3363" y="1143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Tier-1 ISP: e.g., Sprint</a:t>
            </a:r>
          </a:p>
        </p:txBody>
      </p:sp>
      <p:grpSp>
        <p:nvGrpSpPr>
          <p:cNvPr id="2" name="Group 187"/>
          <p:cNvGrpSpPr>
            <a:grpSpLocks/>
          </p:cNvGrpSpPr>
          <p:nvPr/>
        </p:nvGrpSpPr>
        <p:grpSpPr bwMode="auto">
          <a:xfrm>
            <a:off x="1371600" y="1662113"/>
            <a:ext cx="3179763" cy="3081337"/>
            <a:chOff x="864" y="1047"/>
            <a:chExt cx="2003" cy="1941"/>
          </a:xfrm>
        </p:grpSpPr>
        <p:sp>
          <p:nvSpPr>
            <p:cNvPr id="49160" name="Rectangle 202"/>
            <p:cNvSpPr>
              <a:spLocks noChangeArrowheads="1"/>
            </p:cNvSpPr>
            <p:nvPr/>
          </p:nvSpPr>
          <p:spPr bwMode="auto">
            <a:xfrm>
              <a:off x="1307" y="1103"/>
              <a:ext cx="1560" cy="18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9161" name="Line 205"/>
            <p:cNvSpPr>
              <a:spLocks noChangeShapeType="1"/>
            </p:cNvSpPr>
            <p:nvPr/>
          </p:nvSpPr>
          <p:spPr bwMode="auto">
            <a:xfrm flipH="1">
              <a:off x="1408" y="1945"/>
              <a:ext cx="2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2" name="Line 206"/>
            <p:cNvSpPr>
              <a:spLocks noChangeShapeType="1"/>
            </p:cNvSpPr>
            <p:nvPr/>
          </p:nvSpPr>
          <p:spPr bwMode="auto">
            <a:xfrm flipH="1">
              <a:off x="1408" y="2028"/>
              <a:ext cx="2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3" name="Text Box 207"/>
            <p:cNvSpPr txBox="1">
              <a:spLocks noChangeArrowheads="1"/>
            </p:cNvSpPr>
            <p:nvPr/>
          </p:nvSpPr>
          <p:spPr bwMode="auto">
            <a:xfrm flipH="1">
              <a:off x="1336" y="1789"/>
              <a:ext cx="22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49164" name="Group 208"/>
            <p:cNvGrpSpPr>
              <a:grpSpLocks/>
            </p:cNvGrpSpPr>
            <p:nvPr/>
          </p:nvGrpSpPr>
          <p:grpSpPr bwMode="auto">
            <a:xfrm flipH="1">
              <a:off x="1617" y="2063"/>
              <a:ext cx="775" cy="284"/>
              <a:chOff x="2927" y="2500"/>
              <a:chExt cx="949" cy="332"/>
            </a:xfrm>
          </p:grpSpPr>
          <p:sp>
            <p:nvSpPr>
              <p:cNvPr id="49236" name="Line 209"/>
              <p:cNvSpPr>
                <a:spLocks noChangeShapeType="1"/>
              </p:cNvSpPr>
              <p:nvPr/>
            </p:nvSpPr>
            <p:spPr bwMode="auto">
              <a:xfrm flipH="1">
                <a:off x="2927" y="2515"/>
                <a:ext cx="236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7" name="Line 210"/>
              <p:cNvSpPr>
                <a:spLocks noChangeShapeType="1"/>
              </p:cNvSpPr>
              <p:nvPr/>
            </p:nvSpPr>
            <p:spPr bwMode="auto">
              <a:xfrm>
                <a:off x="3209" y="2500"/>
                <a:ext cx="201" cy="3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8" name="Line 211"/>
              <p:cNvSpPr>
                <a:spLocks noChangeShapeType="1"/>
              </p:cNvSpPr>
              <p:nvPr/>
            </p:nvSpPr>
            <p:spPr bwMode="auto">
              <a:xfrm>
                <a:off x="3315" y="2500"/>
                <a:ext cx="561" cy="3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65" name="Line 212"/>
            <p:cNvSpPr>
              <a:spLocks noChangeShapeType="1"/>
            </p:cNvSpPr>
            <p:nvPr/>
          </p:nvSpPr>
          <p:spPr bwMode="auto">
            <a:xfrm flipH="1" flipV="1">
              <a:off x="1819" y="1533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6" name="Line 213"/>
            <p:cNvSpPr>
              <a:spLocks noChangeShapeType="1"/>
            </p:cNvSpPr>
            <p:nvPr/>
          </p:nvSpPr>
          <p:spPr bwMode="auto">
            <a:xfrm flipH="1">
              <a:off x="1587" y="2081"/>
              <a:ext cx="193" cy="2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7" name="Line 214"/>
            <p:cNvSpPr>
              <a:spLocks noChangeShapeType="1"/>
            </p:cNvSpPr>
            <p:nvPr/>
          </p:nvSpPr>
          <p:spPr bwMode="auto">
            <a:xfrm>
              <a:off x="1818" y="2068"/>
              <a:ext cx="164" cy="2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8" name="Line 215"/>
            <p:cNvSpPr>
              <a:spLocks noChangeShapeType="1"/>
            </p:cNvSpPr>
            <p:nvPr/>
          </p:nvSpPr>
          <p:spPr bwMode="auto">
            <a:xfrm>
              <a:off x="1904" y="2068"/>
              <a:ext cx="459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9" name="Text Box 272"/>
            <p:cNvSpPr txBox="1">
              <a:spLocks noChangeArrowheads="1"/>
            </p:cNvSpPr>
            <p:nvPr/>
          </p:nvSpPr>
          <p:spPr bwMode="auto">
            <a:xfrm>
              <a:off x="1583" y="2691"/>
              <a:ext cx="114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/>
                <a:t>to/from customers</a:t>
              </a:r>
            </a:p>
          </p:txBody>
        </p:sp>
        <p:sp>
          <p:nvSpPr>
            <p:cNvPr id="49170" name="Text Box 273"/>
            <p:cNvSpPr txBox="1">
              <a:spLocks noChangeArrowheads="1"/>
            </p:cNvSpPr>
            <p:nvPr/>
          </p:nvSpPr>
          <p:spPr bwMode="auto">
            <a:xfrm>
              <a:off x="2262" y="1699"/>
              <a:ext cx="5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/>
                <a:t>peering</a:t>
              </a:r>
            </a:p>
          </p:txBody>
        </p:sp>
        <p:sp>
          <p:nvSpPr>
            <p:cNvPr id="49171" name="Text Box 274"/>
            <p:cNvSpPr txBox="1">
              <a:spLocks noChangeArrowheads="1"/>
            </p:cNvSpPr>
            <p:nvPr/>
          </p:nvSpPr>
          <p:spPr bwMode="auto">
            <a:xfrm>
              <a:off x="1636" y="1367"/>
              <a:ext cx="114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/>
                <a:t> to/from backbone</a:t>
              </a:r>
            </a:p>
          </p:txBody>
        </p:sp>
        <p:sp>
          <p:nvSpPr>
            <p:cNvPr id="49172" name="Rectangle 275"/>
            <p:cNvSpPr>
              <a:spLocks noChangeArrowheads="1"/>
            </p:cNvSpPr>
            <p:nvPr/>
          </p:nvSpPr>
          <p:spPr bwMode="auto">
            <a:xfrm>
              <a:off x="1355" y="1139"/>
              <a:ext cx="1447" cy="177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9173" name="Line 290"/>
            <p:cNvSpPr>
              <a:spLocks noChangeShapeType="1"/>
            </p:cNvSpPr>
            <p:nvPr/>
          </p:nvSpPr>
          <p:spPr bwMode="auto">
            <a:xfrm flipH="1" flipV="1">
              <a:off x="2226" y="1559"/>
              <a:ext cx="0" cy="3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4" name="Line 292"/>
            <p:cNvSpPr>
              <a:spLocks noChangeShapeType="1"/>
            </p:cNvSpPr>
            <p:nvPr/>
          </p:nvSpPr>
          <p:spPr bwMode="auto">
            <a:xfrm>
              <a:off x="2360" y="1948"/>
              <a:ext cx="3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5" name="Line 293"/>
            <p:cNvSpPr>
              <a:spLocks noChangeShapeType="1"/>
            </p:cNvSpPr>
            <p:nvPr/>
          </p:nvSpPr>
          <p:spPr bwMode="auto">
            <a:xfrm>
              <a:off x="2360" y="2030"/>
              <a:ext cx="3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6" name="Text Box 294"/>
            <p:cNvSpPr txBox="1">
              <a:spLocks noChangeArrowheads="1"/>
            </p:cNvSpPr>
            <p:nvPr/>
          </p:nvSpPr>
          <p:spPr bwMode="auto">
            <a:xfrm>
              <a:off x="2410" y="1790"/>
              <a:ext cx="2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49177" name="Group 296"/>
            <p:cNvGrpSpPr>
              <a:grpSpLocks/>
            </p:cNvGrpSpPr>
            <p:nvPr/>
          </p:nvGrpSpPr>
          <p:grpSpPr bwMode="auto">
            <a:xfrm>
              <a:off x="2376" y="2519"/>
              <a:ext cx="83" cy="167"/>
              <a:chOff x="4467" y="2745"/>
              <a:chExt cx="96" cy="345"/>
            </a:xfrm>
          </p:grpSpPr>
          <p:sp>
            <p:nvSpPr>
              <p:cNvPr id="49234" name="Line 297"/>
              <p:cNvSpPr>
                <a:spLocks noChangeShapeType="1"/>
              </p:cNvSpPr>
              <p:nvPr/>
            </p:nvSpPr>
            <p:spPr bwMode="auto">
              <a:xfrm rot="16200000" flipH="1">
                <a:off x="4294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5" name="Line 298"/>
              <p:cNvSpPr>
                <a:spLocks noChangeShapeType="1"/>
              </p:cNvSpPr>
              <p:nvPr/>
            </p:nvSpPr>
            <p:spPr bwMode="auto">
              <a:xfrm rot="16200000" flipH="1">
                <a:off x="4390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78" name="Text Box 299"/>
            <p:cNvSpPr txBox="1">
              <a:spLocks noChangeArrowheads="1"/>
            </p:cNvSpPr>
            <p:nvPr/>
          </p:nvSpPr>
          <p:spPr bwMode="auto">
            <a:xfrm rot="16200000" flipH="1">
              <a:off x="2242" y="2497"/>
              <a:ext cx="238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49179" name="Group 301"/>
            <p:cNvGrpSpPr>
              <a:grpSpLocks/>
            </p:cNvGrpSpPr>
            <p:nvPr/>
          </p:nvGrpSpPr>
          <p:grpSpPr bwMode="auto">
            <a:xfrm>
              <a:off x="1977" y="2528"/>
              <a:ext cx="84" cy="167"/>
              <a:chOff x="4467" y="2745"/>
              <a:chExt cx="96" cy="345"/>
            </a:xfrm>
          </p:grpSpPr>
          <p:sp>
            <p:nvSpPr>
              <p:cNvPr id="49232" name="Line 302"/>
              <p:cNvSpPr>
                <a:spLocks noChangeShapeType="1"/>
              </p:cNvSpPr>
              <p:nvPr/>
            </p:nvSpPr>
            <p:spPr bwMode="auto">
              <a:xfrm rot="16200000" flipH="1">
                <a:off x="4294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3" name="Line 303"/>
              <p:cNvSpPr>
                <a:spLocks noChangeShapeType="1"/>
              </p:cNvSpPr>
              <p:nvPr/>
            </p:nvSpPr>
            <p:spPr bwMode="auto">
              <a:xfrm rot="16200000" flipH="1">
                <a:off x="4390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80" name="Text Box 304"/>
            <p:cNvSpPr txBox="1">
              <a:spLocks noChangeArrowheads="1"/>
            </p:cNvSpPr>
            <p:nvPr/>
          </p:nvSpPr>
          <p:spPr bwMode="auto">
            <a:xfrm rot="16200000" flipH="1">
              <a:off x="1837" y="2491"/>
              <a:ext cx="2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49181" name="Group 306"/>
            <p:cNvGrpSpPr>
              <a:grpSpLocks/>
            </p:cNvGrpSpPr>
            <p:nvPr/>
          </p:nvGrpSpPr>
          <p:grpSpPr bwMode="auto">
            <a:xfrm>
              <a:off x="1545" y="2526"/>
              <a:ext cx="92" cy="167"/>
              <a:chOff x="4467" y="2745"/>
              <a:chExt cx="96" cy="345"/>
            </a:xfrm>
          </p:grpSpPr>
          <p:sp>
            <p:nvSpPr>
              <p:cNvPr id="49230" name="Line 307"/>
              <p:cNvSpPr>
                <a:spLocks noChangeShapeType="1"/>
              </p:cNvSpPr>
              <p:nvPr/>
            </p:nvSpPr>
            <p:spPr bwMode="auto">
              <a:xfrm rot="16200000" flipH="1">
                <a:off x="4294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1" name="Line 308"/>
              <p:cNvSpPr>
                <a:spLocks noChangeShapeType="1"/>
              </p:cNvSpPr>
              <p:nvPr/>
            </p:nvSpPr>
            <p:spPr bwMode="auto">
              <a:xfrm rot="16200000" flipH="1">
                <a:off x="4390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82" name="Text Box 309"/>
            <p:cNvSpPr txBox="1">
              <a:spLocks noChangeArrowheads="1"/>
            </p:cNvSpPr>
            <p:nvPr/>
          </p:nvSpPr>
          <p:spPr bwMode="auto">
            <a:xfrm rot="16200000" flipH="1">
              <a:off x="1407" y="2492"/>
              <a:ext cx="2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49183" name="Text Box 310"/>
            <p:cNvSpPr txBox="1">
              <a:spLocks noChangeArrowheads="1"/>
            </p:cNvSpPr>
            <p:nvPr/>
          </p:nvSpPr>
          <p:spPr bwMode="auto">
            <a:xfrm>
              <a:off x="1415" y="1047"/>
              <a:ext cx="128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FF0000"/>
                  </a:solidFill>
                </a:rPr>
                <a:t>POP: point-of-presence</a:t>
              </a:r>
            </a:p>
          </p:txBody>
        </p:sp>
        <p:grpSp>
          <p:nvGrpSpPr>
            <p:cNvPr id="49184" name="Group 131"/>
            <p:cNvGrpSpPr>
              <a:grpSpLocks/>
            </p:cNvGrpSpPr>
            <p:nvPr/>
          </p:nvGrpSpPr>
          <p:grpSpPr bwMode="auto">
            <a:xfrm>
              <a:off x="1575" y="1880"/>
              <a:ext cx="415" cy="197"/>
              <a:chOff x="2356" y="1300"/>
              <a:chExt cx="555" cy="194"/>
            </a:xfrm>
          </p:grpSpPr>
          <p:sp>
            <p:nvSpPr>
              <p:cNvPr id="4922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2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2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225" name="Group 135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228" name="Freeform 13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29" name="Freeform 13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26" name="Line 138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27" name="Line 139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185" name="Group 140"/>
            <p:cNvGrpSpPr>
              <a:grpSpLocks/>
            </p:cNvGrpSpPr>
            <p:nvPr/>
          </p:nvGrpSpPr>
          <p:grpSpPr bwMode="auto">
            <a:xfrm>
              <a:off x="2038" y="1886"/>
              <a:ext cx="413" cy="199"/>
              <a:chOff x="2356" y="1300"/>
              <a:chExt cx="555" cy="194"/>
            </a:xfrm>
          </p:grpSpPr>
          <p:sp>
            <p:nvSpPr>
              <p:cNvPr id="4921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1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1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217" name="Group 144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220" name="Freeform 14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21" name="Freeform 14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18" name="Line 147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19" name="Line 148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186" name="Group 149"/>
            <p:cNvGrpSpPr>
              <a:grpSpLocks/>
            </p:cNvGrpSpPr>
            <p:nvPr/>
          </p:nvGrpSpPr>
          <p:grpSpPr bwMode="auto">
            <a:xfrm>
              <a:off x="1425" y="2322"/>
              <a:ext cx="343" cy="204"/>
              <a:chOff x="2356" y="1300"/>
              <a:chExt cx="555" cy="194"/>
            </a:xfrm>
          </p:grpSpPr>
          <p:sp>
            <p:nvSpPr>
              <p:cNvPr id="4920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0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0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209" name="Group 153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212" name="Freeform 15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13" name="Freeform 15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10" name="Line 156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11" name="Line 157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187" name="Group 167"/>
            <p:cNvGrpSpPr>
              <a:grpSpLocks/>
            </p:cNvGrpSpPr>
            <p:nvPr/>
          </p:nvGrpSpPr>
          <p:grpSpPr bwMode="auto">
            <a:xfrm>
              <a:off x="2242" y="2332"/>
              <a:ext cx="343" cy="204"/>
              <a:chOff x="2356" y="1300"/>
              <a:chExt cx="555" cy="194"/>
            </a:xfrm>
          </p:grpSpPr>
          <p:sp>
            <p:nvSpPr>
              <p:cNvPr id="4919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19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0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201" name="Group 171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204" name="Freeform 1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05" name="Freeform 1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02" name="Line 174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03" name="Line 175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188" name="Group 176"/>
            <p:cNvGrpSpPr>
              <a:grpSpLocks/>
            </p:cNvGrpSpPr>
            <p:nvPr/>
          </p:nvGrpSpPr>
          <p:grpSpPr bwMode="auto">
            <a:xfrm>
              <a:off x="1847" y="2327"/>
              <a:ext cx="343" cy="204"/>
              <a:chOff x="2356" y="1300"/>
              <a:chExt cx="555" cy="194"/>
            </a:xfrm>
          </p:grpSpPr>
          <p:sp>
            <p:nvSpPr>
              <p:cNvPr id="4919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19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19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193" name="Group 180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196" name="Freeform 18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97" name="Freeform 18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194" name="Line 183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95" name="Line 184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89" name="Freeform 186"/>
            <p:cNvSpPr>
              <a:spLocks/>
            </p:cNvSpPr>
            <p:nvPr/>
          </p:nvSpPr>
          <p:spPr bwMode="auto">
            <a:xfrm>
              <a:off x="864" y="1087"/>
              <a:ext cx="475" cy="1879"/>
            </a:xfrm>
            <a:custGeom>
              <a:avLst/>
              <a:gdLst>
                <a:gd name="T0" fmla="*/ 0 w 475"/>
                <a:gd name="T1" fmla="*/ 1224 h 1879"/>
                <a:gd name="T2" fmla="*/ 475 w 475"/>
                <a:gd name="T3" fmla="*/ 0 h 1879"/>
                <a:gd name="T4" fmla="*/ 468 w 475"/>
                <a:gd name="T5" fmla="*/ 1879 h 1879"/>
                <a:gd name="T6" fmla="*/ 0 w 475"/>
                <a:gd name="T7" fmla="*/ 1224 h 18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5"/>
                <a:gd name="T13" fmla="*/ 0 h 1879"/>
                <a:gd name="T14" fmla="*/ 475 w 475"/>
                <a:gd name="T15" fmla="*/ 1879 h 18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5" h="1879">
                  <a:moveTo>
                    <a:pt x="0" y="1224"/>
                  </a:moveTo>
                  <a:lnTo>
                    <a:pt x="475" y="0"/>
                  </a:lnTo>
                  <a:lnTo>
                    <a:pt x="468" y="1879"/>
                  </a:lnTo>
                  <a:lnTo>
                    <a:pt x="0" y="1224"/>
                  </a:ln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1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CD9E4824-2FE2-4CFB-B07B-FCF5F347E677}" type="slidenum">
              <a:rPr lang="en-US" sz="1200" smtClean="0">
                <a:latin typeface="Tahoma" pitchFamily="34" charset="0"/>
              </a:rPr>
              <a:pPr/>
              <a:t>41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0179" name="Picture 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1.1 what </a:t>
            </a:r>
            <a:r>
              <a:rPr lang="en-US" sz="2800" i="1" smtClean="0">
                <a:solidFill>
                  <a:srgbClr val="000099"/>
                </a:solidFill>
              </a:rPr>
              <a:t>is</a:t>
            </a:r>
            <a:r>
              <a:rPr lang="en-US" sz="2800" smtClean="0">
                <a:solidFill>
                  <a:srgbClr val="000099"/>
                </a:solidFill>
              </a:rPr>
              <a:t> the Internet?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1.2</a:t>
            </a:r>
            <a:r>
              <a:rPr lang="en-US" sz="2800" smtClean="0"/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1.3 </a:t>
            </a:r>
            <a:r>
              <a:rPr lang="en-US" sz="2800" smtClean="0"/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packet switching, circuit switching, network structure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1.4 delay, loss, throughput in networks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1.5</a:t>
            </a:r>
            <a:r>
              <a:rPr lang="en-US" sz="2800" smtClean="0"/>
              <a:t> protocol layers, service models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5018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8248FCA-5269-4604-A639-6D0AE004A47F}" type="slidenum">
              <a:rPr lang="en-US" sz="1200" smtClean="0">
                <a:latin typeface="Tahoma" pitchFamily="34" charset="0"/>
              </a:rPr>
              <a:pPr/>
              <a:t>42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pic>
        <p:nvPicPr>
          <p:cNvPr id="51203" name="Picture 6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863600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7663" y="80963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How do loss and delay occur?</a:t>
            </a:r>
            <a:endParaRPr lang="en-US" sz="4800" smtClean="0">
              <a:ea typeface="ＭＳ Ｐゴシック" pitchFamily="34" charset="-128"/>
            </a:endParaRP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438" y="1371600"/>
            <a:ext cx="8564562" cy="21145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ea typeface="ＭＳ Ｐゴシック" pitchFamily="34" charset="-128"/>
              </a:rPr>
              <a:t>packets </a:t>
            </a:r>
            <a:r>
              <a:rPr lang="en-US" i="1" smtClean="0">
                <a:ea typeface="ＭＳ Ｐゴシック" pitchFamily="34" charset="-128"/>
              </a:rPr>
              <a:t>queue</a:t>
            </a:r>
            <a:r>
              <a:rPr lang="en-US" smtClean="0">
                <a:ea typeface="ＭＳ Ｐゴシック" pitchFamily="34" charset="-128"/>
              </a:rPr>
              <a:t> in router buffers</a:t>
            </a:r>
            <a:r>
              <a:rPr lang="en-US" sz="2400" smtClean="0">
                <a:ea typeface="ＭＳ Ｐゴシック" pitchFamily="34" charset="-128"/>
              </a:rPr>
              <a:t> </a:t>
            </a:r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packet arrival rate to link (temporarily) exceeds output link capacity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packets queue, wait for turn</a:t>
            </a:r>
          </a:p>
        </p:txBody>
      </p:sp>
      <p:sp>
        <p:nvSpPr>
          <p:cNvPr id="51206" name="Oval 6"/>
          <p:cNvSpPr>
            <a:spLocks noChangeArrowheads="1"/>
          </p:cNvSpPr>
          <p:nvPr/>
        </p:nvSpPr>
        <p:spPr bwMode="auto">
          <a:xfrm>
            <a:off x="2339975" y="4614863"/>
            <a:ext cx="1198563" cy="369887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2339975" y="4546600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08" name="Oval 8"/>
          <p:cNvSpPr>
            <a:spLocks noChangeArrowheads="1"/>
          </p:cNvSpPr>
          <p:nvPr/>
        </p:nvSpPr>
        <p:spPr bwMode="auto">
          <a:xfrm>
            <a:off x="2349500" y="4318000"/>
            <a:ext cx="1198563" cy="430213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1209" name="Group 9"/>
          <p:cNvGrpSpPr>
            <a:grpSpLocks/>
          </p:cNvGrpSpPr>
          <p:nvPr/>
        </p:nvGrpSpPr>
        <p:grpSpPr bwMode="auto">
          <a:xfrm>
            <a:off x="2695575" y="4348163"/>
            <a:ext cx="498475" cy="119062"/>
            <a:chOff x="2208" y="2184"/>
            <a:chExt cx="176" cy="69"/>
          </a:xfrm>
        </p:grpSpPr>
        <p:grpSp>
          <p:nvGrpSpPr>
            <p:cNvPr id="51256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1261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62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63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257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1258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9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60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210" name="Oval 18"/>
          <p:cNvSpPr>
            <a:spLocks noChangeArrowheads="1"/>
          </p:cNvSpPr>
          <p:nvPr/>
        </p:nvSpPr>
        <p:spPr bwMode="auto">
          <a:xfrm>
            <a:off x="5435600" y="4633913"/>
            <a:ext cx="1198563" cy="369887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11" name="Line 19"/>
          <p:cNvSpPr>
            <a:spLocks noChangeShapeType="1"/>
          </p:cNvSpPr>
          <p:nvPr/>
        </p:nvSpPr>
        <p:spPr bwMode="auto">
          <a:xfrm>
            <a:off x="5445125" y="4613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2" name="Rectangle 20"/>
          <p:cNvSpPr>
            <a:spLocks noChangeArrowheads="1"/>
          </p:cNvSpPr>
          <p:nvPr/>
        </p:nvSpPr>
        <p:spPr bwMode="auto">
          <a:xfrm>
            <a:off x="5445125" y="4575175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13" name="Oval 21"/>
          <p:cNvSpPr>
            <a:spLocks noChangeArrowheads="1"/>
          </p:cNvSpPr>
          <p:nvPr/>
        </p:nvSpPr>
        <p:spPr bwMode="auto">
          <a:xfrm>
            <a:off x="5454650" y="4346575"/>
            <a:ext cx="1198563" cy="430213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14" name="Line 24"/>
          <p:cNvSpPr>
            <a:spLocks noChangeShapeType="1"/>
          </p:cNvSpPr>
          <p:nvPr/>
        </p:nvSpPr>
        <p:spPr bwMode="auto">
          <a:xfrm>
            <a:off x="1609725" y="4252913"/>
            <a:ext cx="735013" cy="365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5" name="Line 25"/>
          <p:cNvSpPr>
            <a:spLocks noChangeShapeType="1"/>
          </p:cNvSpPr>
          <p:nvPr/>
        </p:nvSpPr>
        <p:spPr bwMode="auto">
          <a:xfrm flipV="1">
            <a:off x="1812925" y="4786313"/>
            <a:ext cx="528638" cy="539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Line 26"/>
          <p:cNvSpPr>
            <a:spLocks noChangeShapeType="1"/>
          </p:cNvSpPr>
          <p:nvPr/>
        </p:nvSpPr>
        <p:spPr bwMode="auto">
          <a:xfrm>
            <a:off x="3533775" y="4672013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7" name="Rectangle 40"/>
          <p:cNvSpPr>
            <a:spLocks noChangeArrowheads="1"/>
          </p:cNvSpPr>
          <p:nvPr/>
        </p:nvSpPr>
        <p:spPr bwMode="auto">
          <a:xfrm>
            <a:off x="3200400" y="454342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18" name="Rectangle 41"/>
          <p:cNvSpPr>
            <a:spLocks noChangeArrowheads="1"/>
          </p:cNvSpPr>
          <p:nvPr/>
        </p:nvSpPr>
        <p:spPr bwMode="auto">
          <a:xfrm>
            <a:off x="3362325" y="4543425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19" name="Rectangle 42"/>
          <p:cNvSpPr>
            <a:spLocks noChangeArrowheads="1"/>
          </p:cNvSpPr>
          <p:nvPr/>
        </p:nvSpPr>
        <p:spPr bwMode="auto">
          <a:xfrm>
            <a:off x="2341563" y="4722813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20" name="Line 44"/>
          <p:cNvSpPr>
            <a:spLocks noChangeShapeType="1"/>
          </p:cNvSpPr>
          <p:nvPr/>
        </p:nvSpPr>
        <p:spPr bwMode="auto">
          <a:xfrm>
            <a:off x="2354263" y="4673600"/>
            <a:ext cx="242887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1" name="Line 45"/>
          <p:cNvSpPr>
            <a:spLocks noChangeShapeType="1"/>
          </p:cNvSpPr>
          <p:nvPr/>
        </p:nvSpPr>
        <p:spPr bwMode="auto">
          <a:xfrm flipV="1">
            <a:off x="2112963" y="5016500"/>
            <a:ext cx="117475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2" name="Text Box 47"/>
          <p:cNvSpPr txBox="1">
            <a:spLocks noChangeArrowheads="1"/>
          </p:cNvSpPr>
          <p:nvPr/>
        </p:nvSpPr>
        <p:spPr bwMode="auto">
          <a:xfrm>
            <a:off x="776288" y="38481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51223" name="Text Box 48"/>
          <p:cNvSpPr txBox="1">
            <a:spLocks noChangeArrowheads="1"/>
          </p:cNvSpPr>
          <p:nvPr/>
        </p:nvSpPr>
        <p:spPr bwMode="auto">
          <a:xfrm>
            <a:off x="1052513" y="48339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51224" name="Rectangle 63"/>
          <p:cNvSpPr>
            <a:spLocks noChangeArrowheads="1"/>
          </p:cNvSpPr>
          <p:nvPr/>
        </p:nvSpPr>
        <p:spPr bwMode="auto">
          <a:xfrm>
            <a:off x="3490913" y="4481513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" name="Group 93"/>
          <p:cNvGrpSpPr>
            <a:grpSpLocks/>
          </p:cNvGrpSpPr>
          <p:nvPr/>
        </p:nvGrpSpPr>
        <p:grpSpPr bwMode="auto">
          <a:xfrm>
            <a:off x="3621088" y="2982913"/>
            <a:ext cx="3979862" cy="1454150"/>
            <a:chOff x="2259" y="2090"/>
            <a:chExt cx="2507" cy="916"/>
          </a:xfrm>
        </p:grpSpPr>
        <p:sp>
          <p:nvSpPr>
            <p:cNvPr id="51254" name="Text Box 66"/>
            <p:cNvSpPr txBox="1">
              <a:spLocks noChangeArrowheads="1"/>
            </p:cNvSpPr>
            <p:nvPr/>
          </p:nvSpPr>
          <p:spPr bwMode="auto">
            <a:xfrm>
              <a:off x="2602" y="2090"/>
              <a:ext cx="2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>
                  <a:solidFill>
                    <a:srgbClr val="000000"/>
                  </a:solidFill>
                </a:rPr>
                <a:t>packet being transmitted </a:t>
              </a:r>
              <a:r>
                <a:rPr lang="en-US" sz="1800">
                  <a:solidFill>
                    <a:srgbClr val="CC0000"/>
                  </a:solidFill>
                </a:rPr>
                <a:t>(delay)</a:t>
              </a:r>
            </a:p>
          </p:txBody>
        </p:sp>
        <p:sp>
          <p:nvSpPr>
            <p:cNvPr id="51255" name="Line 67"/>
            <p:cNvSpPr>
              <a:spLocks noChangeShapeType="1"/>
            </p:cNvSpPr>
            <p:nvPr/>
          </p:nvSpPr>
          <p:spPr bwMode="auto">
            <a:xfrm rot="10800000" flipV="1">
              <a:off x="2259" y="2294"/>
              <a:ext cx="105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94"/>
          <p:cNvGrpSpPr>
            <a:grpSpLocks/>
          </p:cNvGrpSpPr>
          <p:nvPr/>
        </p:nvGrpSpPr>
        <p:grpSpPr bwMode="auto">
          <a:xfrm>
            <a:off x="3338513" y="4802188"/>
            <a:ext cx="3414712" cy="804862"/>
            <a:chOff x="2103" y="3214"/>
            <a:chExt cx="2151" cy="507"/>
          </a:xfrm>
        </p:grpSpPr>
        <p:sp>
          <p:nvSpPr>
            <p:cNvPr id="51252" name="Text Box 72"/>
            <p:cNvSpPr txBox="1">
              <a:spLocks noChangeArrowheads="1"/>
            </p:cNvSpPr>
            <p:nvPr/>
          </p:nvSpPr>
          <p:spPr bwMode="auto">
            <a:xfrm>
              <a:off x="2530" y="3490"/>
              <a:ext cx="17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>
                  <a:solidFill>
                    <a:srgbClr val="000000"/>
                  </a:solidFill>
                </a:rPr>
                <a:t>packets queueing</a:t>
              </a:r>
              <a:r>
                <a:rPr lang="en-US" sz="1800">
                  <a:solidFill>
                    <a:srgbClr val="FF0000"/>
                  </a:solidFill>
                </a:rPr>
                <a:t> </a:t>
              </a:r>
              <a:r>
                <a:rPr lang="en-US" sz="1800">
                  <a:solidFill>
                    <a:srgbClr val="CC0000"/>
                  </a:solidFill>
                </a:rPr>
                <a:t>(delay)</a:t>
              </a:r>
            </a:p>
          </p:txBody>
        </p:sp>
        <p:sp>
          <p:nvSpPr>
            <p:cNvPr id="51253" name="Line 73"/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27" name="Group 74"/>
          <p:cNvGrpSpPr>
            <a:grpSpLocks/>
          </p:cNvGrpSpPr>
          <p:nvPr/>
        </p:nvGrpSpPr>
        <p:grpSpPr bwMode="auto">
          <a:xfrm>
            <a:off x="5781675" y="4405313"/>
            <a:ext cx="498475" cy="119062"/>
            <a:chOff x="2208" y="2184"/>
            <a:chExt cx="176" cy="69"/>
          </a:xfrm>
        </p:grpSpPr>
        <p:grpSp>
          <p:nvGrpSpPr>
            <p:cNvPr id="51244" name="Group 75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1249" name="Line 7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0" name="Line 7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1" name="Line 7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245" name="Group 79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1246" name="Line 8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7" name="Line 8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8" name="Line 8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228" name="Rectangle 84"/>
          <p:cNvSpPr>
            <a:spLocks noChangeArrowheads="1"/>
          </p:cNvSpPr>
          <p:nvPr/>
        </p:nvSpPr>
        <p:spPr bwMode="auto">
          <a:xfrm>
            <a:off x="1719263" y="40798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29" name="Line 85"/>
          <p:cNvSpPr>
            <a:spLocks noChangeShapeType="1"/>
          </p:cNvSpPr>
          <p:nvPr/>
        </p:nvSpPr>
        <p:spPr bwMode="auto">
          <a:xfrm>
            <a:off x="1898650" y="4265613"/>
            <a:ext cx="212725" cy="103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0" name="Rectangle 86"/>
          <p:cNvSpPr>
            <a:spLocks noChangeArrowheads="1"/>
          </p:cNvSpPr>
          <p:nvPr/>
        </p:nvSpPr>
        <p:spPr bwMode="auto">
          <a:xfrm>
            <a:off x="1968500" y="51593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31" name="Rectangle 88"/>
          <p:cNvSpPr>
            <a:spLocks noChangeArrowheads="1"/>
          </p:cNvSpPr>
          <p:nvPr/>
        </p:nvSpPr>
        <p:spPr bwMode="auto">
          <a:xfrm>
            <a:off x="30607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32" name="Rectangle 89"/>
          <p:cNvSpPr>
            <a:spLocks noChangeArrowheads="1"/>
          </p:cNvSpPr>
          <p:nvPr/>
        </p:nvSpPr>
        <p:spPr bwMode="auto">
          <a:xfrm>
            <a:off x="29210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33" name="Rectangle 90"/>
          <p:cNvSpPr>
            <a:spLocks noChangeArrowheads="1"/>
          </p:cNvSpPr>
          <p:nvPr/>
        </p:nvSpPr>
        <p:spPr bwMode="auto">
          <a:xfrm>
            <a:off x="27813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0" name="Group 95"/>
          <p:cNvGrpSpPr>
            <a:grpSpLocks/>
          </p:cNvGrpSpPr>
          <p:nvPr/>
        </p:nvGrpSpPr>
        <p:grpSpPr bwMode="auto">
          <a:xfrm>
            <a:off x="2517775" y="4764088"/>
            <a:ext cx="4248150" cy="1511300"/>
            <a:chOff x="1586" y="3190"/>
            <a:chExt cx="2676" cy="952"/>
          </a:xfrm>
        </p:grpSpPr>
        <p:sp>
          <p:nvSpPr>
            <p:cNvPr id="51242" name="Line 91"/>
            <p:cNvSpPr>
              <a:spLocks noChangeShapeType="1"/>
            </p:cNvSpPr>
            <p:nvPr/>
          </p:nvSpPr>
          <p:spPr bwMode="auto">
            <a:xfrm rot="10800000" flipH="1">
              <a:off x="1798" y="3190"/>
              <a:ext cx="105" cy="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43" name="Text Box 92"/>
            <p:cNvSpPr txBox="1">
              <a:spLocks noChangeArrowheads="1"/>
            </p:cNvSpPr>
            <p:nvPr/>
          </p:nvSpPr>
          <p:spPr bwMode="auto">
            <a:xfrm>
              <a:off x="1586" y="3738"/>
              <a:ext cx="267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>
                  <a:solidFill>
                    <a:srgbClr val="000000"/>
                  </a:solidFill>
                </a:rPr>
                <a:t>free (available) buffers: arriving packets </a:t>
              </a:r>
            </a:p>
            <a:p>
              <a:r>
                <a:rPr lang="en-US" sz="1800">
                  <a:solidFill>
                    <a:srgbClr val="000000"/>
                  </a:solidFill>
                </a:rPr>
                <a:t>dropped (</a:t>
              </a:r>
              <a:r>
                <a:rPr lang="en-US" sz="1800">
                  <a:solidFill>
                    <a:srgbClr val="CC0000"/>
                  </a:solidFill>
                </a:rPr>
                <a:t>loss</a:t>
              </a:r>
              <a:r>
                <a:rPr lang="en-US" sz="1800">
                  <a:solidFill>
                    <a:srgbClr val="000000"/>
                  </a:solidFill>
                </a:rPr>
                <a:t>) if no free buffers</a:t>
              </a:r>
            </a:p>
          </p:txBody>
        </p:sp>
      </p:grpSp>
      <p:grpSp>
        <p:nvGrpSpPr>
          <p:cNvPr id="51235" name="Group 64"/>
          <p:cNvGrpSpPr>
            <a:grpSpLocks/>
          </p:cNvGrpSpPr>
          <p:nvPr/>
        </p:nvGrpSpPr>
        <p:grpSpPr bwMode="auto">
          <a:xfrm>
            <a:off x="898525" y="3873500"/>
            <a:ext cx="779463" cy="679450"/>
            <a:chOff x="-44" y="1473"/>
            <a:chExt cx="981" cy="1105"/>
          </a:xfrm>
        </p:grpSpPr>
        <p:pic>
          <p:nvPicPr>
            <p:cNvPr id="51240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41" name="Freeform 6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1236" name="Group 67"/>
          <p:cNvGrpSpPr>
            <a:grpSpLocks/>
          </p:cNvGrpSpPr>
          <p:nvPr/>
        </p:nvGrpSpPr>
        <p:grpSpPr bwMode="auto">
          <a:xfrm>
            <a:off x="1131888" y="4870450"/>
            <a:ext cx="779462" cy="679450"/>
            <a:chOff x="-44" y="1473"/>
            <a:chExt cx="981" cy="1105"/>
          </a:xfrm>
        </p:grpSpPr>
        <p:pic>
          <p:nvPicPr>
            <p:cNvPr id="51238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39" name="Freeform 6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123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1-</a:t>
            </a:r>
            <a:fld id="{C558D23C-D2D6-410B-B9B7-9C1ED66DF2F7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43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pic>
        <p:nvPicPr>
          <p:cNvPr id="52227" name="Picture 6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8286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2438" y="200025"/>
            <a:ext cx="7772400" cy="811213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Four sources of packet delay</a:t>
            </a:r>
            <a:endParaRPr lang="en-US" sz="4800" smtClean="0">
              <a:ea typeface="ＭＳ Ｐゴシック" pitchFamily="34" charset="-128"/>
            </a:endParaRPr>
          </a:p>
        </p:txBody>
      </p:sp>
      <p:sp>
        <p:nvSpPr>
          <p:cNvPr id="52229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62013" y="4491038"/>
            <a:ext cx="3810000" cy="16367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d</a:t>
            </a:r>
            <a:r>
              <a:rPr lang="en-US" baseline="-25000" smtClean="0">
                <a:solidFill>
                  <a:srgbClr val="CC0000"/>
                </a:solidFill>
                <a:ea typeface="ＭＳ Ｐゴシック" pitchFamily="34" charset="-128"/>
              </a:rPr>
              <a:t>proc</a:t>
            </a:r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: nodal processing</a:t>
            </a:r>
            <a:r>
              <a:rPr lang="en-US" smtClean="0">
                <a:ea typeface="ＭＳ Ｐゴシック" pitchFamily="34" charset="-128"/>
              </a:rPr>
              <a:t> 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check bit errors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determine output link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typically &lt; msec</a:t>
            </a:r>
          </a:p>
        </p:txBody>
      </p:sp>
      <p:sp>
        <p:nvSpPr>
          <p:cNvPr id="52230" name="Oval 7"/>
          <p:cNvSpPr>
            <a:spLocks noChangeArrowheads="1"/>
          </p:cNvSpPr>
          <p:nvPr/>
        </p:nvSpPr>
        <p:spPr bwMode="auto">
          <a:xfrm>
            <a:off x="3351213" y="221932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31" name="Rectangle 8"/>
          <p:cNvSpPr>
            <a:spLocks noChangeArrowheads="1"/>
          </p:cNvSpPr>
          <p:nvPr/>
        </p:nvSpPr>
        <p:spPr bwMode="auto">
          <a:xfrm>
            <a:off x="3351213" y="2151063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2232" name="Oval 9"/>
          <p:cNvSpPr>
            <a:spLocks noChangeArrowheads="1"/>
          </p:cNvSpPr>
          <p:nvPr/>
        </p:nvSpPr>
        <p:spPr bwMode="auto">
          <a:xfrm>
            <a:off x="3360738" y="1922463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2233" name="Group 10"/>
          <p:cNvGrpSpPr>
            <a:grpSpLocks/>
          </p:cNvGrpSpPr>
          <p:nvPr/>
        </p:nvGrpSpPr>
        <p:grpSpPr bwMode="auto">
          <a:xfrm>
            <a:off x="3706813" y="1952625"/>
            <a:ext cx="498475" cy="119063"/>
            <a:chOff x="2208" y="2184"/>
            <a:chExt cx="176" cy="69"/>
          </a:xfrm>
        </p:grpSpPr>
        <p:grpSp>
          <p:nvGrpSpPr>
            <p:cNvPr id="52277" name="Group 11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2282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3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4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2278" name="Group 15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2279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0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1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2234" name="Oval 19"/>
          <p:cNvSpPr>
            <a:spLocks noChangeArrowheads="1"/>
          </p:cNvSpPr>
          <p:nvPr/>
        </p:nvSpPr>
        <p:spPr bwMode="auto">
          <a:xfrm>
            <a:off x="6446838" y="223837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35" name="Line 20"/>
          <p:cNvSpPr>
            <a:spLocks noChangeShapeType="1"/>
          </p:cNvSpPr>
          <p:nvPr/>
        </p:nvSpPr>
        <p:spPr bwMode="auto">
          <a:xfrm>
            <a:off x="6456363" y="221773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6" name="Rectangle 21"/>
          <p:cNvSpPr>
            <a:spLocks noChangeArrowheads="1"/>
          </p:cNvSpPr>
          <p:nvPr/>
        </p:nvSpPr>
        <p:spPr bwMode="auto">
          <a:xfrm>
            <a:off x="6456363" y="2179638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2237" name="Oval 22"/>
          <p:cNvSpPr>
            <a:spLocks noChangeArrowheads="1"/>
          </p:cNvSpPr>
          <p:nvPr/>
        </p:nvSpPr>
        <p:spPr bwMode="auto">
          <a:xfrm>
            <a:off x="6465888" y="1951038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38" name="Line 24"/>
          <p:cNvSpPr>
            <a:spLocks noChangeShapeType="1"/>
          </p:cNvSpPr>
          <p:nvPr/>
        </p:nvSpPr>
        <p:spPr bwMode="auto">
          <a:xfrm>
            <a:off x="2620963" y="1857375"/>
            <a:ext cx="741362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Line 25"/>
          <p:cNvSpPr>
            <a:spLocks noChangeShapeType="1"/>
          </p:cNvSpPr>
          <p:nvPr/>
        </p:nvSpPr>
        <p:spPr bwMode="auto">
          <a:xfrm flipV="1">
            <a:off x="2925763" y="2397125"/>
            <a:ext cx="428625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Line 26"/>
          <p:cNvSpPr>
            <a:spLocks noChangeShapeType="1"/>
          </p:cNvSpPr>
          <p:nvPr/>
        </p:nvSpPr>
        <p:spPr bwMode="auto">
          <a:xfrm>
            <a:off x="4545013" y="2276475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Rectangle 29"/>
          <p:cNvSpPr>
            <a:spLocks noChangeArrowheads="1"/>
          </p:cNvSpPr>
          <p:nvPr/>
        </p:nvSpPr>
        <p:spPr bwMode="auto">
          <a:xfrm>
            <a:off x="5464175" y="2076450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42" name="Rectangle 30"/>
          <p:cNvSpPr>
            <a:spLocks noChangeArrowheads="1"/>
          </p:cNvSpPr>
          <p:nvPr/>
        </p:nvSpPr>
        <p:spPr bwMode="auto">
          <a:xfrm>
            <a:off x="4211638" y="21478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43" name="Rectangle 31"/>
          <p:cNvSpPr>
            <a:spLocks noChangeArrowheads="1"/>
          </p:cNvSpPr>
          <p:nvPr/>
        </p:nvSpPr>
        <p:spPr bwMode="auto">
          <a:xfrm>
            <a:off x="4373563" y="21478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44" name="Rectangle 32"/>
          <p:cNvSpPr>
            <a:spLocks noChangeArrowheads="1"/>
          </p:cNvSpPr>
          <p:nvPr/>
        </p:nvSpPr>
        <p:spPr bwMode="auto">
          <a:xfrm>
            <a:off x="3159125" y="20478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45" name="Line 33"/>
          <p:cNvSpPr>
            <a:spLocks noChangeShapeType="1"/>
          </p:cNvSpPr>
          <p:nvPr/>
        </p:nvSpPr>
        <p:spPr bwMode="auto">
          <a:xfrm>
            <a:off x="3109913" y="1984375"/>
            <a:ext cx="21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6" name="Line 35"/>
          <p:cNvSpPr>
            <a:spLocks noChangeShapeType="1"/>
          </p:cNvSpPr>
          <p:nvPr/>
        </p:nvSpPr>
        <p:spPr bwMode="auto">
          <a:xfrm flipV="1">
            <a:off x="6235700" y="1876425"/>
            <a:ext cx="366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7" name="Text Box 36"/>
          <p:cNvSpPr txBox="1">
            <a:spLocks noChangeArrowheads="1"/>
          </p:cNvSpPr>
          <p:nvPr/>
        </p:nvSpPr>
        <p:spPr bwMode="auto">
          <a:xfrm>
            <a:off x="1743075" y="15414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52248" name="Text Box 37"/>
          <p:cNvSpPr txBox="1">
            <a:spLocks noChangeArrowheads="1"/>
          </p:cNvSpPr>
          <p:nvPr/>
        </p:nvSpPr>
        <p:spPr bwMode="auto">
          <a:xfrm>
            <a:off x="1919288" y="24939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52249" name="Rectangle 38"/>
          <p:cNvSpPr>
            <a:spLocks noChangeArrowheads="1"/>
          </p:cNvSpPr>
          <p:nvPr/>
        </p:nvSpPr>
        <p:spPr bwMode="auto">
          <a:xfrm>
            <a:off x="4502150" y="20859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50" name="Text Box 39"/>
          <p:cNvSpPr txBox="1">
            <a:spLocks noChangeArrowheads="1"/>
          </p:cNvSpPr>
          <p:nvPr/>
        </p:nvSpPr>
        <p:spPr bwMode="auto">
          <a:xfrm>
            <a:off x="4891088" y="1689100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propagation</a:t>
            </a:r>
          </a:p>
        </p:txBody>
      </p:sp>
      <p:sp>
        <p:nvSpPr>
          <p:cNvPr id="52251" name="Line 40"/>
          <p:cNvSpPr>
            <a:spLocks noChangeShapeType="1"/>
          </p:cNvSpPr>
          <p:nvPr/>
        </p:nvSpPr>
        <p:spPr bwMode="auto">
          <a:xfrm rot="10800000">
            <a:off x="4645025" y="1876425"/>
            <a:ext cx="319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2" name="Text Box 41"/>
          <p:cNvSpPr txBox="1">
            <a:spLocks noChangeArrowheads="1"/>
          </p:cNvSpPr>
          <p:nvPr/>
        </p:nvSpPr>
        <p:spPr bwMode="auto">
          <a:xfrm>
            <a:off x="2987675" y="1249363"/>
            <a:ext cx="146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transmission</a:t>
            </a:r>
          </a:p>
        </p:txBody>
      </p:sp>
      <p:sp>
        <p:nvSpPr>
          <p:cNvPr id="52253" name="Line 42"/>
          <p:cNvSpPr>
            <a:spLocks noChangeShapeType="1"/>
          </p:cNvSpPr>
          <p:nvPr/>
        </p:nvSpPr>
        <p:spPr bwMode="auto">
          <a:xfrm rot="10800000" flipH="1" flipV="1">
            <a:off x="4038600" y="1517650"/>
            <a:ext cx="5286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4" name="Text Box 43"/>
          <p:cNvSpPr txBox="1">
            <a:spLocks noChangeArrowheads="1"/>
          </p:cNvSpPr>
          <p:nvPr/>
        </p:nvSpPr>
        <p:spPr bwMode="auto">
          <a:xfrm>
            <a:off x="3127375" y="2803525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800">
                <a:solidFill>
                  <a:srgbClr val="CC0000"/>
                </a:solidFill>
              </a:rPr>
              <a:t>nodal</a:t>
            </a:r>
          </a:p>
          <a:p>
            <a:pPr algn="ctr"/>
            <a:r>
              <a:rPr lang="en-US" sz="1800">
                <a:solidFill>
                  <a:srgbClr val="CC0000"/>
                </a:solidFill>
              </a:rPr>
              <a:t>processing</a:t>
            </a:r>
          </a:p>
        </p:txBody>
      </p:sp>
      <p:sp>
        <p:nvSpPr>
          <p:cNvPr id="52255" name="Line 44"/>
          <p:cNvSpPr>
            <a:spLocks noChangeShapeType="1"/>
          </p:cNvSpPr>
          <p:nvPr/>
        </p:nvSpPr>
        <p:spPr bwMode="auto">
          <a:xfrm rot="10800000">
            <a:off x="3378200" y="2847975"/>
            <a:ext cx="833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6" name="Line 45"/>
          <p:cNvSpPr>
            <a:spLocks noChangeShapeType="1"/>
          </p:cNvSpPr>
          <p:nvPr/>
        </p:nvSpPr>
        <p:spPr bwMode="auto">
          <a:xfrm rot="10800000" flipV="1">
            <a:off x="4187825" y="2609850"/>
            <a:ext cx="38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7" name="Text Box 46"/>
          <p:cNvSpPr txBox="1">
            <a:spLocks noChangeArrowheads="1"/>
          </p:cNvSpPr>
          <p:nvPr/>
        </p:nvSpPr>
        <p:spPr bwMode="auto">
          <a:xfrm>
            <a:off x="4595813" y="30607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queueing</a:t>
            </a:r>
          </a:p>
        </p:txBody>
      </p:sp>
      <p:sp>
        <p:nvSpPr>
          <p:cNvPr id="52258" name="Line 47"/>
          <p:cNvSpPr>
            <a:spLocks noChangeShapeType="1"/>
          </p:cNvSpPr>
          <p:nvPr/>
        </p:nvSpPr>
        <p:spPr bwMode="auto">
          <a:xfrm rot="10800000">
            <a:off x="4349750" y="2609850"/>
            <a:ext cx="595313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59" name="Group 48"/>
          <p:cNvGrpSpPr>
            <a:grpSpLocks/>
          </p:cNvGrpSpPr>
          <p:nvPr/>
        </p:nvGrpSpPr>
        <p:grpSpPr bwMode="auto">
          <a:xfrm>
            <a:off x="6792913" y="2009775"/>
            <a:ext cx="498475" cy="119063"/>
            <a:chOff x="2208" y="2184"/>
            <a:chExt cx="176" cy="69"/>
          </a:xfrm>
        </p:grpSpPr>
        <p:grpSp>
          <p:nvGrpSpPr>
            <p:cNvPr id="52269" name="Group 49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2274" name="Line 5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5" name="Line 5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6" name="Line 5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2270" name="Group 53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2271" name="Line 5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2" name="Line 5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3" name="Line 5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2260" name="Rectangle 58"/>
          <p:cNvSpPr>
            <a:spLocks noChangeArrowheads="1"/>
          </p:cNvSpPr>
          <p:nvPr/>
        </p:nvSpPr>
        <p:spPr bwMode="auto">
          <a:xfrm>
            <a:off x="4802188" y="4492625"/>
            <a:ext cx="3810000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4488" indent="-344488"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85000"/>
              <a:buFont typeface="Wingdings" pitchFamily="2" charset="2"/>
              <a:buNone/>
            </a:pPr>
            <a:r>
              <a:rPr lang="en-US">
                <a:solidFill>
                  <a:srgbClr val="FF0000"/>
                </a:solidFill>
                <a:latin typeface="Gill Sans MT" pitchFamily="34" charset="0"/>
              </a:rPr>
              <a:t>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sz="2800" baseline="-25000">
                <a:solidFill>
                  <a:srgbClr val="CC0000"/>
                </a:solidFill>
                <a:latin typeface="Gill Sans MT" pitchFamily="34" charset="0"/>
              </a:rPr>
              <a:t>queue</a:t>
            </a:r>
            <a:r>
              <a:rPr lang="en-US" sz="2800">
                <a:solidFill>
                  <a:srgbClr val="CC0000"/>
                </a:solidFill>
                <a:latin typeface="Gill Sans MT" pitchFamily="34" charset="0"/>
              </a:rPr>
              <a:t>: queueing delay</a:t>
            </a:r>
          </a:p>
          <a:p>
            <a:pPr marL="344488" indent="-3444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time waiting at output link for transmission </a:t>
            </a:r>
          </a:p>
          <a:p>
            <a:pPr marL="344488" indent="-3444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depends on congestion level of router</a:t>
            </a:r>
          </a:p>
        </p:txBody>
      </p:sp>
      <p:sp>
        <p:nvSpPr>
          <p:cNvPr id="52261" name="Rectangle 3"/>
          <p:cNvSpPr>
            <a:spLocks noChangeArrowheads="1"/>
          </p:cNvSpPr>
          <p:nvPr/>
        </p:nvSpPr>
        <p:spPr bwMode="auto">
          <a:xfrm>
            <a:off x="2116138" y="3630613"/>
            <a:ext cx="4943475" cy="5540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285750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nodal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=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proc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queue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trans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prop</a:t>
            </a:r>
            <a:endParaRPr lang="en-US">
              <a:solidFill>
                <a:srgbClr val="000000"/>
              </a:solidFill>
              <a:latin typeface="Gill Sans MT" pitchFamily="34" charset="0"/>
            </a:endParaRPr>
          </a:p>
        </p:txBody>
      </p:sp>
      <p:grpSp>
        <p:nvGrpSpPr>
          <p:cNvPr id="52262" name="Group 66"/>
          <p:cNvGrpSpPr>
            <a:grpSpLocks/>
          </p:cNvGrpSpPr>
          <p:nvPr/>
        </p:nvGrpSpPr>
        <p:grpSpPr bwMode="auto">
          <a:xfrm>
            <a:off x="1893888" y="1541463"/>
            <a:ext cx="779462" cy="679450"/>
            <a:chOff x="-44" y="1473"/>
            <a:chExt cx="981" cy="1105"/>
          </a:xfrm>
        </p:grpSpPr>
        <p:pic>
          <p:nvPicPr>
            <p:cNvPr id="52267" name="Picture 6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68" name="Freeform 6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2263" name="Group 69"/>
          <p:cNvGrpSpPr>
            <a:grpSpLocks/>
          </p:cNvGrpSpPr>
          <p:nvPr/>
        </p:nvGrpSpPr>
        <p:grpSpPr bwMode="auto">
          <a:xfrm>
            <a:off x="2168525" y="2524125"/>
            <a:ext cx="779463" cy="679450"/>
            <a:chOff x="-44" y="1473"/>
            <a:chExt cx="981" cy="1105"/>
          </a:xfrm>
        </p:grpSpPr>
        <p:pic>
          <p:nvPicPr>
            <p:cNvPr id="52265" name="Picture 7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66" name="Freeform 7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22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1-</a:t>
            </a:r>
            <a:fld id="{A161A3C2-18ED-4FDB-8EAF-7AB651A6A919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44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627063" y="4459288"/>
            <a:ext cx="3810000" cy="207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CC0000"/>
                </a:solidFill>
                <a:latin typeface="Gill Sans MT" pitchFamily="34" charset="0"/>
              </a:rPr>
              <a:t>trans</a:t>
            </a:r>
            <a:r>
              <a:rPr lang="en-US">
                <a:solidFill>
                  <a:srgbClr val="CC0000"/>
                </a:solidFill>
                <a:latin typeface="Gill Sans MT" pitchFamily="34" charset="0"/>
              </a:rPr>
              <a:t>: transmission delay: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L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: packet length (bits) 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R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: link </a:t>
            </a: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bandwidth (bps)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sz="2000" i="1" baseline="-25000">
                <a:solidFill>
                  <a:srgbClr val="CC0000"/>
                </a:solidFill>
                <a:latin typeface="Gill Sans MT" pitchFamily="34" charset="0"/>
              </a:rPr>
              <a:t>trans</a:t>
            </a:r>
            <a:r>
              <a:rPr lang="en-US" sz="2000" i="1">
                <a:solidFill>
                  <a:srgbClr val="CC0000"/>
                </a:solidFill>
                <a:latin typeface="Gill Sans MT" pitchFamily="34" charset="0"/>
              </a:rPr>
              <a:t> </a:t>
            </a: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= L/R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4718050" y="4449763"/>
            <a:ext cx="41529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CC0000"/>
                </a:solidFill>
                <a:latin typeface="Gill Sans MT" pitchFamily="34" charset="0"/>
              </a:rPr>
              <a:t>prop</a:t>
            </a:r>
            <a:r>
              <a:rPr lang="en-US">
                <a:solidFill>
                  <a:srgbClr val="CC0000"/>
                </a:solidFill>
                <a:latin typeface="Gill Sans MT" pitchFamily="34" charset="0"/>
              </a:rPr>
              <a:t>: propagation delay: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: length of physical link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s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: propagation speed in medium (~2x10</a:t>
            </a:r>
            <a:r>
              <a:rPr lang="en-US" sz="2000" baseline="30000">
                <a:solidFill>
                  <a:srgbClr val="000000"/>
                </a:solidFill>
                <a:latin typeface="Gill Sans MT" pitchFamily="34" charset="0"/>
              </a:rPr>
              <a:t>8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m/sec)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sz="2000" baseline="-25000">
                <a:solidFill>
                  <a:srgbClr val="CC0000"/>
                </a:solidFill>
                <a:latin typeface="Gill Sans MT" pitchFamily="34" charset="0"/>
              </a:rPr>
              <a:t>prop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= </a:t>
            </a: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/</a:t>
            </a: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s</a:t>
            </a:r>
          </a:p>
        </p:txBody>
      </p:sp>
      <p:grpSp>
        <p:nvGrpSpPr>
          <p:cNvPr id="2" name="Group 122"/>
          <p:cNvGrpSpPr>
            <a:grpSpLocks/>
          </p:cNvGrpSpPr>
          <p:nvPr/>
        </p:nvGrpSpPr>
        <p:grpSpPr bwMode="auto">
          <a:xfrm>
            <a:off x="2255838" y="5600700"/>
            <a:ext cx="2528887" cy="800100"/>
            <a:chOff x="1421" y="3528"/>
            <a:chExt cx="1593" cy="504"/>
          </a:xfrm>
        </p:grpSpPr>
        <p:sp>
          <p:nvSpPr>
            <p:cNvPr id="182333" name="AutoShape 61"/>
            <p:cNvSpPr>
              <a:spLocks noChangeArrowheads="1"/>
            </p:cNvSpPr>
            <p:nvPr/>
          </p:nvSpPr>
          <p:spPr bwMode="auto">
            <a:xfrm rot="381619">
              <a:off x="1421" y="3528"/>
              <a:ext cx="1593" cy="201"/>
            </a:xfrm>
            <a:prstGeom prst="leftRightArrow">
              <a:avLst>
                <a:gd name="adj1" fmla="val 35324"/>
                <a:gd name="adj2" fmla="val 94994"/>
              </a:avLst>
            </a:prstGeom>
            <a:gradFill rotWithShape="1">
              <a:gsLst>
                <a:gs pos="0">
                  <a:srgbClr val="CC0000"/>
                </a:gs>
                <a:gs pos="5000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312" name="Text Box 62"/>
            <p:cNvSpPr txBox="1">
              <a:spLocks noChangeArrowheads="1"/>
            </p:cNvSpPr>
            <p:nvPr/>
          </p:nvSpPr>
          <p:spPr bwMode="auto">
            <a:xfrm>
              <a:off x="1533" y="3590"/>
              <a:ext cx="132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 i="1">
                  <a:solidFill>
                    <a:srgbClr val="CC0000"/>
                  </a:solidFill>
                </a:rPr>
                <a:t>d</a:t>
              </a:r>
              <a:r>
                <a:rPr lang="en-US" sz="2000" baseline="-25000">
                  <a:solidFill>
                    <a:srgbClr val="CC0000"/>
                  </a:solidFill>
                </a:rPr>
                <a:t>trans </a:t>
              </a:r>
              <a:r>
                <a:rPr lang="en-US" sz="2000">
                  <a:solidFill>
                    <a:srgbClr val="CC0000"/>
                  </a:solidFill>
                </a:rPr>
                <a:t>and </a:t>
              </a:r>
              <a:r>
                <a:rPr lang="en-US" sz="2000" i="1">
                  <a:solidFill>
                    <a:srgbClr val="CC0000"/>
                  </a:solidFill>
                </a:rPr>
                <a:t>d</a:t>
              </a:r>
              <a:r>
                <a:rPr lang="en-US" sz="2000" baseline="-25000">
                  <a:solidFill>
                    <a:srgbClr val="CC0000"/>
                  </a:solidFill>
                </a:rPr>
                <a:t>prop</a:t>
              </a:r>
            </a:p>
            <a:p>
              <a:pPr algn="ctr"/>
              <a:r>
                <a:rPr lang="en-US" sz="2000" i="1">
                  <a:solidFill>
                    <a:srgbClr val="CC0000"/>
                  </a:solidFill>
                </a:rPr>
                <a:t>very </a:t>
              </a:r>
              <a:r>
                <a:rPr lang="en-US" sz="2000">
                  <a:solidFill>
                    <a:srgbClr val="CC0000"/>
                  </a:solidFill>
                </a:rPr>
                <a:t>different</a:t>
              </a:r>
            </a:p>
          </p:txBody>
        </p:sp>
      </p:grpSp>
      <p:pic>
        <p:nvPicPr>
          <p:cNvPr id="53254" name="Picture 6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8286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5" name="Rectangle 2"/>
          <p:cNvSpPr>
            <a:spLocks noChangeArrowheads="1"/>
          </p:cNvSpPr>
          <p:nvPr/>
        </p:nvSpPr>
        <p:spPr bwMode="auto">
          <a:xfrm>
            <a:off x="452438" y="200025"/>
            <a:ext cx="7772400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4400">
                <a:solidFill>
                  <a:srgbClr val="000099"/>
                </a:solidFill>
                <a:latin typeface="Gill Sans MT" pitchFamily="34" charset="0"/>
              </a:rPr>
              <a:t>Four sources of packet delay</a:t>
            </a:r>
            <a:endParaRPr lang="en-US" sz="4800">
              <a:solidFill>
                <a:srgbClr val="000099"/>
              </a:solidFill>
              <a:latin typeface="Gill Sans MT" pitchFamily="34" charset="0"/>
            </a:endParaRPr>
          </a:p>
        </p:txBody>
      </p:sp>
      <p:sp>
        <p:nvSpPr>
          <p:cNvPr id="53256" name="Oval 7"/>
          <p:cNvSpPr>
            <a:spLocks noChangeArrowheads="1"/>
          </p:cNvSpPr>
          <p:nvPr/>
        </p:nvSpPr>
        <p:spPr bwMode="auto">
          <a:xfrm>
            <a:off x="3351213" y="221932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3351213" y="2151063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3258" name="Oval 9"/>
          <p:cNvSpPr>
            <a:spLocks noChangeArrowheads="1"/>
          </p:cNvSpPr>
          <p:nvPr/>
        </p:nvSpPr>
        <p:spPr bwMode="auto">
          <a:xfrm>
            <a:off x="3360738" y="1922463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3259" name="Group 10"/>
          <p:cNvGrpSpPr>
            <a:grpSpLocks/>
          </p:cNvGrpSpPr>
          <p:nvPr/>
        </p:nvGrpSpPr>
        <p:grpSpPr bwMode="auto">
          <a:xfrm>
            <a:off x="3706813" y="1952625"/>
            <a:ext cx="498475" cy="119063"/>
            <a:chOff x="2208" y="2184"/>
            <a:chExt cx="176" cy="69"/>
          </a:xfrm>
        </p:grpSpPr>
        <p:grpSp>
          <p:nvGrpSpPr>
            <p:cNvPr id="53303" name="Group 11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3308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9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10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3304" name="Group 15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3305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6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7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3260" name="Oval 19"/>
          <p:cNvSpPr>
            <a:spLocks noChangeArrowheads="1"/>
          </p:cNvSpPr>
          <p:nvPr/>
        </p:nvSpPr>
        <p:spPr bwMode="auto">
          <a:xfrm>
            <a:off x="6446838" y="223837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1" name="Line 20"/>
          <p:cNvSpPr>
            <a:spLocks noChangeShapeType="1"/>
          </p:cNvSpPr>
          <p:nvPr/>
        </p:nvSpPr>
        <p:spPr bwMode="auto">
          <a:xfrm>
            <a:off x="6456363" y="221773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2" name="Rectangle 21"/>
          <p:cNvSpPr>
            <a:spLocks noChangeArrowheads="1"/>
          </p:cNvSpPr>
          <p:nvPr/>
        </p:nvSpPr>
        <p:spPr bwMode="auto">
          <a:xfrm>
            <a:off x="6456363" y="2179638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3263" name="Oval 22"/>
          <p:cNvSpPr>
            <a:spLocks noChangeArrowheads="1"/>
          </p:cNvSpPr>
          <p:nvPr/>
        </p:nvSpPr>
        <p:spPr bwMode="auto">
          <a:xfrm>
            <a:off x="6465888" y="1951038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4" name="Line 26"/>
          <p:cNvSpPr>
            <a:spLocks noChangeShapeType="1"/>
          </p:cNvSpPr>
          <p:nvPr/>
        </p:nvSpPr>
        <p:spPr bwMode="auto">
          <a:xfrm>
            <a:off x="4545013" y="2276475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5" name="Rectangle 29"/>
          <p:cNvSpPr>
            <a:spLocks noChangeArrowheads="1"/>
          </p:cNvSpPr>
          <p:nvPr/>
        </p:nvSpPr>
        <p:spPr bwMode="auto">
          <a:xfrm>
            <a:off x="5464175" y="2076450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6" name="Rectangle 30"/>
          <p:cNvSpPr>
            <a:spLocks noChangeArrowheads="1"/>
          </p:cNvSpPr>
          <p:nvPr/>
        </p:nvSpPr>
        <p:spPr bwMode="auto">
          <a:xfrm>
            <a:off x="4211638" y="21478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7" name="Rectangle 31"/>
          <p:cNvSpPr>
            <a:spLocks noChangeArrowheads="1"/>
          </p:cNvSpPr>
          <p:nvPr/>
        </p:nvSpPr>
        <p:spPr bwMode="auto">
          <a:xfrm>
            <a:off x="4373563" y="21478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8" name="Line 35"/>
          <p:cNvSpPr>
            <a:spLocks noChangeShapeType="1"/>
          </p:cNvSpPr>
          <p:nvPr/>
        </p:nvSpPr>
        <p:spPr bwMode="auto">
          <a:xfrm flipV="1">
            <a:off x="6235700" y="1876425"/>
            <a:ext cx="366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9" name="Rectangle 38"/>
          <p:cNvSpPr>
            <a:spLocks noChangeArrowheads="1"/>
          </p:cNvSpPr>
          <p:nvPr/>
        </p:nvSpPr>
        <p:spPr bwMode="auto">
          <a:xfrm>
            <a:off x="4502150" y="20859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70" name="Text Box 39"/>
          <p:cNvSpPr txBox="1">
            <a:spLocks noChangeArrowheads="1"/>
          </p:cNvSpPr>
          <p:nvPr/>
        </p:nvSpPr>
        <p:spPr bwMode="auto">
          <a:xfrm>
            <a:off x="4891088" y="1689100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propagation</a:t>
            </a:r>
          </a:p>
        </p:txBody>
      </p:sp>
      <p:sp>
        <p:nvSpPr>
          <p:cNvPr id="53271" name="Line 40"/>
          <p:cNvSpPr>
            <a:spLocks noChangeShapeType="1"/>
          </p:cNvSpPr>
          <p:nvPr/>
        </p:nvSpPr>
        <p:spPr bwMode="auto">
          <a:xfrm rot="10800000">
            <a:off x="4645025" y="1876425"/>
            <a:ext cx="319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2" name="Text Box 43"/>
          <p:cNvSpPr txBox="1">
            <a:spLocks noChangeArrowheads="1"/>
          </p:cNvSpPr>
          <p:nvPr/>
        </p:nvSpPr>
        <p:spPr bwMode="auto">
          <a:xfrm>
            <a:off x="3127375" y="2803525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800">
                <a:solidFill>
                  <a:srgbClr val="CC0000"/>
                </a:solidFill>
              </a:rPr>
              <a:t>nodal</a:t>
            </a:r>
          </a:p>
          <a:p>
            <a:pPr algn="ctr"/>
            <a:r>
              <a:rPr lang="en-US" sz="1800">
                <a:solidFill>
                  <a:srgbClr val="CC0000"/>
                </a:solidFill>
              </a:rPr>
              <a:t>processing</a:t>
            </a:r>
          </a:p>
        </p:txBody>
      </p:sp>
      <p:sp>
        <p:nvSpPr>
          <p:cNvPr id="53273" name="Line 44"/>
          <p:cNvSpPr>
            <a:spLocks noChangeShapeType="1"/>
          </p:cNvSpPr>
          <p:nvPr/>
        </p:nvSpPr>
        <p:spPr bwMode="auto">
          <a:xfrm rot="10800000">
            <a:off x="3378200" y="2847975"/>
            <a:ext cx="833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4" name="Line 45"/>
          <p:cNvSpPr>
            <a:spLocks noChangeShapeType="1"/>
          </p:cNvSpPr>
          <p:nvPr/>
        </p:nvSpPr>
        <p:spPr bwMode="auto">
          <a:xfrm rot="10800000" flipV="1">
            <a:off x="4187825" y="2609850"/>
            <a:ext cx="38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5" name="Text Box 46"/>
          <p:cNvSpPr txBox="1">
            <a:spLocks noChangeArrowheads="1"/>
          </p:cNvSpPr>
          <p:nvPr/>
        </p:nvSpPr>
        <p:spPr bwMode="auto">
          <a:xfrm>
            <a:off x="4595813" y="30607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queueing</a:t>
            </a:r>
          </a:p>
        </p:txBody>
      </p:sp>
      <p:sp>
        <p:nvSpPr>
          <p:cNvPr id="53276" name="Line 47"/>
          <p:cNvSpPr>
            <a:spLocks noChangeShapeType="1"/>
          </p:cNvSpPr>
          <p:nvPr/>
        </p:nvSpPr>
        <p:spPr bwMode="auto">
          <a:xfrm rot="10800000">
            <a:off x="4349750" y="2609850"/>
            <a:ext cx="595313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3277" name="Group 48"/>
          <p:cNvGrpSpPr>
            <a:grpSpLocks/>
          </p:cNvGrpSpPr>
          <p:nvPr/>
        </p:nvGrpSpPr>
        <p:grpSpPr bwMode="auto">
          <a:xfrm>
            <a:off x="6792913" y="2009775"/>
            <a:ext cx="498475" cy="119063"/>
            <a:chOff x="2208" y="2184"/>
            <a:chExt cx="176" cy="69"/>
          </a:xfrm>
        </p:grpSpPr>
        <p:grpSp>
          <p:nvGrpSpPr>
            <p:cNvPr id="53295" name="Group 49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3300" name="Line 5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1" name="Line 5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2" name="Line 5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3296" name="Group 53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3297" name="Line 5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8" name="Line 5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9" name="Line 5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3278" name="Rectangle 3"/>
          <p:cNvSpPr>
            <a:spLocks noChangeArrowheads="1"/>
          </p:cNvSpPr>
          <p:nvPr/>
        </p:nvSpPr>
        <p:spPr bwMode="auto">
          <a:xfrm>
            <a:off x="2116138" y="3630613"/>
            <a:ext cx="4943475" cy="5540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285750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nodal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=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proc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queue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trans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prop</a:t>
            </a:r>
            <a:endParaRPr lang="en-US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32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1-</a:t>
            </a:r>
            <a:fld id="{8641B3DB-73A3-48E2-9560-1323BC8C00E7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45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3280" name="Line 24"/>
          <p:cNvSpPr>
            <a:spLocks noChangeShapeType="1"/>
          </p:cNvSpPr>
          <p:nvPr/>
        </p:nvSpPr>
        <p:spPr bwMode="auto">
          <a:xfrm>
            <a:off x="2620963" y="1857375"/>
            <a:ext cx="741362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1" name="Line 25"/>
          <p:cNvSpPr>
            <a:spLocks noChangeShapeType="1"/>
          </p:cNvSpPr>
          <p:nvPr/>
        </p:nvSpPr>
        <p:spPr bwMode="auto">
          <a:xfrm flipV="1">
            <a:off x="2925763" y="2397125"/>
            <a:ext cx="428625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2" name="Rectangle 32"/>
          <p:cNvSpPr>
            <a:spLocks noChangeArrowheads="1"/>
          </p:cNvSpPr>
          <p:nvPr/>
        </p:nvSpPr>
        <p:spPr bwMode="auto">
          <a:xfrm>
            <a:off x="3159125" y="20478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83" name="Line 33"/>
          <p:cNvSpPr>
            <a:spLocks noChangeShapeType="1"/>
          </p:cNvSpPr>
          <p:nvPr/>
        </p:nvSpPr>
        <p:spPr bwMode="auto">
          <a:xfrm>
            <a:off x="3109913" y="1984375"/>
            <a:ext cx="21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4" name="Text Box 36"/>
          <p:cNvSpPr txBox="1">
            <a:spLocks noChangeArrowheads="1"/>
          </p:cNvSpPr>
          <p:nvPr/>
        </p:nvSpPr>
        <p:spPr bwMode="auto">
          <a:xfrm>
            <a:off x="1743075" y="15414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53285" name="Text Box 37"/>
          <p:cNvSpPr txBox="1">
            <a:spLocks noChangeArrowheads="1"/>
          </p:cNvSpPr>
          <p:nvPr/>
        </p:nvSpPr>
        <p:spPr bwMode="auto">
          <a:xfrm>
            <a:off x="1919288" y="24939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grpSp>
        <p:nvGrpSpPr>
          <p:cNvPr id="53286" name="Group 66"/>
          <p:cNvGrpSpPr>
            <a:grpSpLocks/>
          </p:cNvGrpSpPr>
          <p:nvPr/>
        </p:nvGrpSpPr>
        <p:grpSpPr bwMode="auto">
          <a:xfrm>
            <a:off x="1893888" y="1541463"/>
            <a:ext cx="779462" cy="679450"/>
            <a:chOff x="-44" y="1473"/>
            <a:chExt cx="981" cy="1105"/>
          </a:xfrm>
        </p:grpSpPr>
        <p:pic>
          <p:nvPicPr>
            <p:cNvPr id="53293" name="Picture 6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94" name="Freeform 6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3287" name="Group 69"/>
          <p:cNvGrpSpPr>
            <a:grpSpLocks/>
          </p:cNvGrpSpPr>
          <p:nvPr/>
        </p:nvGrpSpPr>
        <p:grpSpPr bwMode="auto">
          <a:xfrm>
            <a:off x="2168525" y="2524125"/>
            <a:ext cx="779463" cy="679450"/>
            <a:chOff x="-44" y="1473"/>
            <a:chExt cx="981" cy="1105"/>
          </a:xfrm>
        </p:grpSpPr>
        <p:pic>
          <p:nvPicPr>
            <p:cNvPr id="53291" name="Picture 7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92" name="Freeform 7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3288" name="Text Box 41"/>
          <p:cNvSpPr txBox="1">
            <a:spLocks noChangeArrowheads="1"/>
          </p:cNvSpPr>
          <p:nvPr/>
        </p:nvSpPr>
        <p:spPr bwMode="auto">
          <a:xfrm>
            <a:off x="2987675" y="1249363"/>
            <a:ext cx="146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transmission</a:t>
            </a:r>
          </a:p>
        </p:txBody>
      </p:sp>
      <p:sp>
        <p:nvSpPr>
          <p:cNvPr id="53289" name="Line 42"/>
          <p:cNvSpPr>
            <a:spLocks noChangeShapeType="1"/>
          </p:cNvSpPr>
          <p:nvPr/>
        </p:nvSpPr>
        <p:spPr bwMode="auto">
          <a:xfrm rot="10800000" flipH="1" flipV="1">
            <a:off x="4038600" y="1517650"/>
            <a:ext cx="5286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90" name="TextBox 1"/>
          <p:cNvSpPr txBox="1">
            <a:spLocks noChangeArrowheads="1"/>
          </p:cNvSpPr>
          <p:nvPr/>
        </p:nvSpPr>
        <p:spPr bwMode="auto">
          <a:xfrm>
            <a:off x="611188" y="6388100"/>
            <a:ext cx="64309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Check out the Java applet for an interactive animation on trans vs. prop delay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4275" name="Picture 3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811213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Caravan analogy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1338" y="2927350"/>
            <a:ext cx="4216400" cy="3317875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SzPct val="75000"/>
            </a:pPr>
            <a:r>
              <a:rPr lang="en-US" sz="2400" smtClean="0">
                <a:ea typeface="ＭＳ Ｐゴシック" pitchFamily="34" charset="-128"/>
              </a:rPr>
              <a:t>cars </a:t>
            </a: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propagate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r>
              <a:rPr lang="en-US" altLang="ja-JP" sz="2400" smtClean="0">
                <a:ea typeface="ＭＳ Ｐゴシック" pitchFamily="34" charset="-128"/>
              </a:rPr>
              <a:t> at </a:t>
            </a:r>
            <a:br>
              <a:rPr lang="en-US" altLang="ja-JP" sz="2400" smtClean="0">
                <a:ea typeface="ＭＳ Ｐゴシック" pitchFamily="34" charset="-128"/>
              </a:rPr>
            </a:br>
            <a:r>
              <a:rPr lang="en-US" altLang="ja-JP" sz="2400" smtClean="0">
                <a:ea typeface="ＭＳ Ｐゴシック" pitchFamily="34" charset="-128"/>
              </a:rPr>
              <a:t>100 km/hr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sz="2400" smtClean="0">
                <a:ea typeface="ＭＳ Ｐゴシック" pitchFamily="34" charset="-128"/>
              </a:rPr>
              <a:t>toll booth takes 12 sec to service car (bit transmission time)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sz="2400" smtClean="0">
                <a:ea typeface="ＭＳ Ｐゴシック" pitchFamily="34" charset="-128"/>
              </a:rPr>
              <a:t>car~bit; caravan ~ packet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Q:</a:t>
            </a: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 How long until caravan is lined up before 2nd toll booth?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>
              <a:solidFill>
                <a:srgbClr val="CC0000"/>
              </a:solidFill>
              <a:ea typeface="ＭＳ Ｐゴシック" pitchFamily="34" charset="-128"/>
            </a:endParaRPr>
          </a:p>
        </p:txBody>
      </p:sp>
      <p:sp>
        <p:nvSpPr>
          <p:cNvPr id="7373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27638" y="2941638"/>
            <a:ext cx="3521075" cy="3365500"/>
          </a:xfrm>
        </p:spPr>
        <p:txBody>
          <a:bodyPr/>
          <a:lstStyle/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time to </a:t>
            </a: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push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r>
              <a:rPr lang="en-US" altLang="ja-JP" sz="2400" smtClean="0">
                <a:ea typeface="ＭＳ Ｐゴシック" pitchFamily="34" charset="-128"/>
              </a:rPr>
              <a:t> entire caravan through toll booth onto highway = 12*10 = 120 sec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time for last car to propagate from 1st to 2nd toll both: 100km/(100km/hr)= 1 hr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A:</a:t>
            </a: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 62 minutes</a:t>
            </a:r>
          </a:p>
        </p:txBody>
      </p:sp>
      <p:grpSp>
        <p:nvGrpSpPr>
          <p:cNvPr id="54279" name="Group 42"/>
          <p:cNvGrpSpPr>
            <a:grpSpLocks/>
          </p:cNvGrpSpPr>
          <p:nvPr/>
        </p:nvGrpSpPr>
        <p:grpSpPr bwMode="auto">
          <a:xfrm>
            <a:off x="406400" y="1195388"/>
            <a:ext cx="8043863" cy="1481137"/>
            <a:chOff x="165" y="725"/>
            <a:chExt cx="5067" cy="933"/>
          </a:xfrm>
        </p:grpSpPr>
        <p:grpSp>
          <p:nvGrpSpPr>
            <p:cNvPr id="54281" name="Group 43"/>
            <p:cNvGrpSpPr>
              <a:grpSpLocks/>
            </p:cNvGrpSpPr>
            <p:nvPr/>
          </p:nvGrpSpPr>
          <p:grpSpPr bwMode="auto">
            <a:xfrm>
              <a:off x="3535" y="781"/>
              <a:ext cx="516" cy="877"/>
              <a:chOff x="1357" y="938"/>
              <a:chExt cx="516" cy="877"/>
            </a:xfrm>
          </p:grpSpPr>
          <p:sp>
            <p:nvSpPr>
              <p:cNvPr id="54305" name="Rectangle 44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6" name="Text Box 45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sz="2000"/>
                  <a:t>toll </a:t>
                </a:r>
              </a:p>
              <a:p>
                <a:pPr algn="ctr"/>
                <a:r>
                  <a:rPr lang="en-US" sz="2000"/>
                  <a:t>booth</a:t>
                </a:r>
              </a:p>
            </p:txBody>
          </p:sp>
        </p:grpSp>
        <p:grpSp>
          <p:nvGrpSpPr>
            <p:cNvPr id="54282" name="Group 46"/>
            <p:cNvGrpSpPr>
              <a:grpSpLocks/>
            </p:cNvGrpSpPr>
            <p:nvPr/>
          </p:nvGrpSpPr>
          <p:grpSpPr bwMode="auto">
            <a:xfrm>
              <a:off x="1738" y="781"/>
              <a:ext cx="516" cy="877"/>
              <a:chOff x="1357" y="938"/>
              <a:chExt cx="516" cy="877"/>
            </a:xfrm>
          </p:grpSpPr>
          <p:sp>
            <p:nvSpPr>
              <p:cNvPr id="54303" name="Rectangle 47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4" name="Text Box 48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sz="2000"/>
                  <a:t>toll </a:t>
                </a:r>
              </a:p>
              <a:p>
                <a:pPr algn="ctr"/>
                <a:r>
                  <a:rPr lang="en-US" sz="2000"/>
                  <a:t>booth</a:t>
                </a:r>
              </a:p>
            </p:txBody>
          </p:sp>
        </p:grpSp>
        <p:sp>
          <p:nvSpPr>
            <p:cNvPr id="54283" name="AutoShape 49"/>
            <p:cNvSpPr>
              <a:spLocks/>
            </p:cNvSpPr>
            <p:nvPr/>
          </p:nvSpPr>
          <p:spPr bwMode="auto">
            <a:xfrm rot="-5400000">
              <a:off x="1012" y="307"/>
              <a:ext cx="50" cy="1743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54284" name="Text Box 50"/>
            <p:cNvSpPr txBox="1">
              <a:spLocks noChangeArrowheads="1"/>
            </p:cNvSpPr>
            <p:nvPr/>
          </p:nvSpPr>
          <p:spPr bwMode="auto">
            <a:xfrm>
              <a:off x="726" y="1139"/>
              <a:ext cx="68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ten-car </a:t>
              </a:r>
            </a:p>
            <a:p>
              <a:r>
                <a:rPr lang="en-US" sz="2000"/>
                <a:t>caravan</a:t>
              </a:r>
            </a:p>
          </p:txBody>
        </p:sp>
        <p:sp>
          <p:nvSpPr>
            <p:cNvPr id="54285" name="Line 51"/>
            <p:cNvSpPr>
              <a:spLocks noChangeShapeType="1"/>
            </p:cNvSpPr>
            <p:nvPr/>
          </p:nvSpPr>
          <p:spPr bwMode="auto">
            <a:xfrm flipH="1">
              <a:off x="2100" y="976"/>
              <a:ext cx="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6" name="Text Box 52"/>
            <p:cNvSpPr txBox="1">
              <a:spLocks noChangeArrowheads="1"/>
            </p:cNvSpPr>
            <p:nvPr/>
          </p:nvSpPr>
          <p:spPr bwMode="auto">
            <a:xfrm>
              <a:off x="2515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100 km</a:t>
              </a:r>
            </a:p>
          </p:txBody>
        </p:sp>
        <p:sp>
          <p:nvSpPr>
            <p:cNvPr id="54287" name="Line 53"/>
            <p:cNvSpPr>
              <a:spLocks noChangeShapeType="1"/>
            </p:cNvSpPr>
            <p:nvPr/>
          </p:nvSpPr>
          <p:spPr bwMode="auto">
            <a:xfrm flipH="1" flipV="1">
              <a:off x="3985" y="975"/>
              <a:ext cx="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8" name="Text Box 54"/>
            <p:cNvSpPr txBox="1">
              <a:spLocks noChangeArrowheads="1"/>
            </p:cNvSpPr>
            <p:nvPr/>
          </p:nvSpPr>
          <p:spPr bwMode="auto">
            <a:xfrm>
              <a:off x="4377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100 km</a:t>
              </a:r>
            </a:p>
          </p:txBody>
        </p:sp>
        <p:sp>
          <p:nvSpPr>
            <p:cNvPr id="54289" name="Line 55"/>
            <p:cNvSpPr>
              <a:spLocks noChangeShapeType="1"/>
            </p:cNvSpPr>
            <p:nvPr/>
          </p:nvSpPr>
          <p:spPr bwMode="auto">
            <a:xfrm>
              <a:off x="5057" y="976"/>
              <a:ext cx="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0" name="Oval 56"/>
            <p:cNvSpPr>
              <a:spLocks noChangeArrowheads="1"/>
            </p:cNvSpPr>
            <p:nvPr/>
          </p:nvSpPr>
          <p:spPr bwMode="auto">
            <a:xfrm>
              <a:off x="679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1" name="Oval 57"/>
            <p:cNvSpPr>
              <a:spLocks noChangeArrowheads="1"/>
            </p:cNvSpPr>
            <p:nvPr/>
          </p:nvSpPr>
          <p:spPr bwMode="auto">
            <a:xfrm>
              <a:off x="775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2" name="Oval 58"/>
            <p:cNvSpPr>
              <a:spLocks noChangeArrowheads="1"/>
            </p:cNvSpPr>
            <p:nvPr/>
          </p:nvSpPr>
          <p:spPr bwMode="auto">
            <a:xfrm>
              <a:off x="916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54293" name="Picture 59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" y="920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294" name="Picture 60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6" y="917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4295" name="Group 61"/>
            <p:cNvGrpSpPr>
              <a:grpSpLocks/>
            </p:cNvGrpSpPr>
            <p:nvPr/>
          </p:nvGrpSpPr>
          <p:grpSpPr bwMode="auto">
            <a:xfrm>
              <a:off x="1815" y="725"/>
              <a:ext cx="289" cy="490"/>
              <a:chOff x="2365" y="1352"/>
              <a:chExt cx="1022" cy="1616"/>
            </a:xfrm>
          </p:grpSpPr>
          <p:pic>
            <p:nvPicPr>
              <p:cNvPr id="54301" name="Picture 6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302" name="Rectangle 63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54296" name="Picture 64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5" y="933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4297" name="Group 65"/>
            <p:cNvGrpSpPr>
              <a:grpSpLocks/>
            </p:cNvGrpSpPr>
            <p:nvPr/>
          </p:nvGrpSpPr>
          <p:grpSpPr bwMode="auto">
            <a:xfrm>
              <a:off x="3656" y="743"/>
              <a:ext cx="289" cy="490"/>
              <a:chOff x="2365" y="1352"/>
              <a:chExt cx="1022" cy="1616"/>
            </a:xfrm>
          </p:grpSpPr>
          <p:pic>
            <p:nvPicPr>
              <p:cNvPr id="54299" name="Picture 6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300" name="Rectangle 67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298" name="Line 68"/>
            <p:cNvSpPr>
              <a:spLocks noChangeShapeType="1"/>
            </p:cNvSpPr>
            <p:nvPr/>
          </p:nvSpPr>
          <p:spPr bwMode="auto">
            <a:xfrm>
              <a:off x="3195" y="976"/>
              <a:ext cx="5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2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08BE4E58-774B-4951-AA7B-7DEB8E428A3A}" type="slidenum">
              <a:rPr lang="en-US" sz="1200" smtClean="0">
                <a:latin typeface="Tahoma" pitchFamily="34" charset="0"/>
              </a:rPr>
              <a:pPr/>
              <a:t>46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5299" name="Picture 3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0327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141288"/>
            <a:ext cx="7772400" cy="846137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Caravan analogy (more)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2125" y="2862263"/>
            <a:ext cx="8323263" cy="33178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suppose cars now </a:t>
            </a: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propagate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r>
              <a:rPr lang="en-US" altLang="ja-JP" sz="2400" smtClean="0">
                <a:ea typeface="ＭＳ Ｐゴシック" pitchFamily="34" charset="-128"/>
              </a:rPr>
              <a:t> at 1000 km/hr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and suppose toll booth now takes one min to service a car</a:t>
            </a:r>
            <a:endParaRPr lang="en-US" sz="2400" smtClean="0">
              <a:solidFill>
                <a:schemeClr val="accent2"/>
              </a:solidFill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i="1" u="sng" smtClean="0">
                <a:solidFill>
                  <a:srgbClr val="CC0000"/>
                </a:solidFill>
                <a:ea typeface="ＭＳ Ｐゴシック" pitchFamily="34" charset="-128"/>
              </a:rPr>
              <a:t>Q:</a:t>
            </a: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 Will cars arrive to 2nd booth before all cars serviced at first booth?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>
              <a:solidFill>
                <a:srgbClr val="CC0000"/>
              </a:solidFill>
              <a:ea typeface="ＭＳ Ｐゴシック" pitchFamily="34" charset="-128"/>
            </a:endParaRPr>
          </a:p>
        </p:txBody>
      </p:sp>
      <p:sp>
        <p:nvSpPr>
          <p:cNvPr id="55302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42975" y="4524375"/>
            <a:ext cx="7989888" cy="1751013"/>
          </a:xfrm>
        </p:spPr>
        <p:txBody>
          <a:bodyPr/>
          <a:lstStyle/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i="1" u="sng" smtClean="0">
                <a:solidFill>
                  <a:srgbClr val="CC0000"/>
                </a:solidFill>
                <a:ea typeface="ＭＳ Ｐゴシック" pitchFamily="34" charset="-128"/>
              </a:rPr>
              <a:t>A: Yes!</a:t>
            </a:r>
            <a:r>
              <a:rPr lang="en-US" sz="2400" smtClean="0">
                <a:ea typeface="ＭＳ Ｐゴシック" pitchFamily="34" charset="-128"/>
              </a:rPr>
              <a:t>  after 7 min, 1st car arrives at second booth; three cars still at 1st booth.</a:t>
            </a:r>
          </a:p>
        </p:txBody>
      </p:sp>
      <p:grpSp>
        <p:nvGrpSpPr>
          <p:cNvPr id="55303" name="Group 49"/>
          <p:cNvGrpSpPr>
            <a:grpSpLocks/>
          </p:cNvGrpSpPr>
          <p:nvPr/>
        </p:nvGrpSpPr>
        <p:grpSpPr bwMode="auto">
          <a:xfrm>
            <a:off x="684213" y="1150938"/>
            <a:ext cx="8043862" cy="1481137"/>
            <a:chOff x="165" y="725"/>
            <a:chExt cx="5067" cy="933"/>
          </a:xfrm>
        </p:grpSpPr>
        <p:grpSp>
          <p:nvGrpSpPr>
            <p:cNvPr id="55305" name="Group 5"/>
            <p:cNvGrpSpPr>
              <a:grpSpLocks/>
            </p:cNvGrpSpPr>
            <p:nvPr/>
          </p:nvGrpSpPr>
          <p:grpSpPr bwMode="auto">
            <a:xfrm>
              <a:off x="3535" y="781"/>
              <a:ext cx="516" cy="877"/>
              <a:chOff x="1357" y="938"/>
              <a:chExt cx="516" cy="877"/>
            </a:xfrm>
          </p:grpSpPr>
          <p:sp>
            <p:nvSpPr>
              <p:cNvPr id="55329" name="Rectangle 6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30" name="Text Box 7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sz="2000"/>
                  <a:t>toll </a:t>
                </a:r>
              </a:p>
              <a:p>
                <a:pPr algn="ctr"/>
                <a:r>
                  <a:rPr lang="en-US" sz="2000"/>
                  <a:t>booth</a:t>
                </a:r>
              </a:p>
            </p:txBody>
          </p:sp>
        </p:grpSp>
        <p:grpSp>
          <p:nvGrpSpPr>
            <p:cNvPr id="55306" name="Group 8"/>
            <p:cNvGrpSpPr>
              <a:grpSpLocks/>
            </p:cNvGrpSpPr>
            <p:nvPr/>
          </p:nvGrpSpPr>
          <p:grpSpPr bwMode="auto">
            <a:xfrm>
              <a:off x="1738" y="781"/>
              <a:ext cx="516" cy="877"/>
              <a:chOff x="1357" y="938"/>
              <a:chExt cx="516" cy="877"/>
            </a:xfrm>
          </p:grpSpPr>
          <p:sp>
            <p:nvSpPr>
              <p:cNvPr id="55327" name="Rectangle 9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28" name="Text Box 10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sz="2000"/>
                  <a:t>toll </a:t>
                </a:r>
              </a:p>
              <a:p>
                <a:pPr algn="ctr"/>
                <a:r>
                  <a:rPr lang="en-US" sz="2000"/>
                  <a:t>booth</a:t>
                </a:r>
              </a:p>
            </p:txBody>
          </p:sp>
        </p:grpSp>
        <p:sp>
          <p:nvSpPr>
            <p:cNvPr id="55307" name="AutoShape 29"/>
            <p:cNvSpPr>
              <a:spLocks/>
            </p:cNvSpPr>
            <p:nvPr/>
          </p:nvSpPr>
          <p:spPr bwMode="auto">
            <a:xfrm rot="-5400000">
              <a:off x="1012" y="307"/>
              <a:ext cx="50" cy="1743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55308" name="Text Box 30"/>
            <p:cNvSpPr txBox="1">
              <a:spLocks noChangeArrowheads="1"/>
            </p:cNvSpPr>
            <p:nvPr/>
          </p:nvSpPr>
          <p:spPr bwMode="auto">
            <a:xfrm>
              <a:off x="726" y="1139"/>
              <a:ext cx="68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ten-car </a:t>
              </a:r>
            </a:p>
            <a:p>
              <a:r>
                <a:rPr lang="en-US" sz="2000"/>
                <a:t>caravan</a:t>
              </a:r>
            </a:p>
          </p:txBody>
        </p:sp>
        <p:sp>
          <p:nvSpPr>
            <p:cNvPr id="55309" name="Line 31"/>
            <p:cNvSpPr>
              <a:spLocks noChangeShapeType="1"/>
            </p:cNvSpPr>
            <p:nvPr/>
          </p:nvSpPr>
          <p:spPr bwMode="auto">
            <a:xfrm flipH="1">
              <a:off x="2100" y="976"/>
              <a:ext cx="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0" name="Text Box 33"/>
            <p:cNvSpPr txBox="1">
              <a:spLocks noChangeArrowheads="1"/>
            </p:cNvSpPr>
            <p:nvPr/>
          </p:nvSpPr>
          <p:spPr bwMode="auto">
            <a:xfrm>
              <a:off x="2515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100 km</a:t>
              </a:r>
            </a:p>
          </p:txBody>
        </p:sp>
        <p:sp>
          <p:nvSpPr>
            <p:cNvPr id="55311" name="Line 34"/>
            <p:cNvSpPr>
              <a:spLocks noChangeShapeType="1"/>
            </p:cNvSpPr>
            <p:nvPr/>
          </p:nvSpPr>
          <p:spPr bwMode="auto">
            <a:xfrm flipH="1" flipV="1">
              <a:off x="3985" y="975"/>
              <a:ext cx="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2" name="Text Box 35"/>
            <p:cNvSpPr txBox="1">
              <a:spLocks noChangeArrowheads="1"/>
            </p:cNvSpPr>
            <p:nvPr/>
          </p:nvSpPr>
          <p:spPr bwMode="auto">
            <a:xfrm>
              <a:off x="4377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100 km</a:t>
              </a:r>
            </a:p>
          </p:txBody>
        </p:sp>
        <p:sp>
          <p:nvSpPr>
            <p:cNvPr id="55313" name="Line 36"/>
            <p:cNvSpPr>
              <a:spLocks noChangeShapeType="1"/>
            </p:cNvSpPr>
            <p:nvPr/>
          </p:nvSpPr>
          <p:spPr bwMode="auto">
            <a:xfrm>
              <a:off x="5057" y="976"/>
              <a:ext cx="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4" name="Oval 37"/>
            <p:cNvSpPr>
              <a:spLocks noChangeArrowheads="1"/>
            </p:cNvSpPr>
            <p:nvPr/>
          </p:nvSpPr>
          <p:spPr bwMode="auto">
            <a:xfrm>
              <a:off x="679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5" name="Oval 38"/>
            <p:cNvSpPr>
              <a:spLocks noChangeArrowheads="1"/>
            </p:cNvSpPr>
            <p:nvPr/>
          </p:nvSpPr>
          <p:spPr bwMode="auto">
            <a:xfrm>
              <a:off x="775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6" name="Oval 39"/>
            <p:cNvSpPr>
              <a:spLocks noChangeArrowheads="1"/>
            </p:cNvSpPr>
            <p:nvPr/>
          </p:nvSpPr>
          <p:spPr bwMode="auto">
            <a:xfrm>
              <a:off x="916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55317" name="Picture 41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" y="920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318" name="Picture 42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6" y="917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5319" name="Group 45"/>
            <p:cNvGrpSpPr>
              <a:grpSpLocks/>
            </p:cNvGrpSpPr>
            <p:nvPr/>
          </p:nvGrpSpPr>
          <p:grpSpPr bwMode="auto">
            <a:xfrm>
              <a:off x="1815" y="725"/>
              <a:ext cx="289" cy="490"/>
              <a:chOff x="2365" y="1352"/>
              <a:chExt cx="1022" cy="1616"/>
            </a:xfrm>
          </p:grpSpPr>
          <p:pic>
            <p:nvPicPr>
              <p:cNvPr id="55325" name="Picture 43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326" name="Rectangle 44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55320" name="Picture 40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5" y="933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5321" name="Group 46"/>
            <p:cNvGrpSpPr>
              <a:grpSpLocks/>
            </p:cNvGrpSpPr>
            <p:nvPr/>
          </p:nvGrpSpPr>
          <p:grpSpPr bwMode="auto">
            <a:xfrm>
              <a:off x="3656" y="743"/>
              <a:ext cx="289" cy="490"/>
              <a:chOff x="2365" y="1352"/>
              <a:chExt cx="1022" cy="1616"/>
            </a:xfrm>
          </p:grpSpPr>
          <p:pic>
            <p:nvPicPr>
              <p:cNvPr id="55323" name="Picture 4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324" name="Rectangle 48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322" name="Line 32"/>
            <p:cNvSpPr>
              <a:spLocks noChangeShapeType="1"/>
            </p:cNvSpPr>
            <p:nvPr/>
          </p:nvSpPr>
          <p:spPr bwMode="auto">
            <a:xfrm>
              <a:off x="3195" y="976"/>
              <a:ext cx="5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3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CD0937B-0D81-4345-B9B2-4769DBE69F0B}" type="slidenum">
              <a:rPr lang="en-US" sz="1200" smtClean="0">
                <a:latin typeface="Tahoma" pitchFamily="34" charset="0"/>
              </a:rPr>
              <a:pPr/>
              <a:t>47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6323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91757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60" descr="queueDela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200" y="852488"/>
            <a:ext cx="4968875" cy="305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9588" y="1806575"/>
            <a:ext cx="3810000" cy="17811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i="1" smtClean="0">
                <a:ea typeface="ＭＳ Ｐゴシック" pitchFamily="34" charset="-128"/>
              </a:rPr>
              <a:t>R:</a:t>
            </a:r>
            <a:r>
              <a:rPr lang="en-US" sz="2400" smtClean="0">
                <a:ea typeface="ＭＳ Ｐゴシック" pitchFamily="34" charset="-128"/>
              </a:rPr>
              <a:t> link bandwidth (bps)</a:t>
            </a:r>
          </a:p>
          <a:p>
            <a:pPr eaLnBrk="1" hangingPunct="1">
              <a:buSzPct val="75000"/>
            </a:pPr>
            <a:r>
              <a:rPr lang="en-US" sz="2400" i="1" smtClean="0">
                <a:ea typeface="ＭＳ Ｐゴシック" pitchFamily="34" charset="-128"/>
              </a:rPr>
              <a:t>L:</a:t>
            </a:r>
            <a:r>
              <a:rPr lang="en-US" sz="2400" smtClean="0">
                <a:ea typeface="ＭＳ Ｐゴシック" pitchFamily="34" charset="-128"/>
              </a:rPr>
              <a:t> packet length (bits)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a: average packet arrival rate</a:t>
            </a:r>
          </a:p>
        </p:txBody>
      </p:sp>
      <p:sp>
        <p:nvSpPr>
          <p:cNvPr id="56326" name="Rectangle 61"/>
          <p:cNvSpPr>
            <a:spLocks noChangeArrowheads="1"/>
          </p:cNvSpPr>
          <p:nvPr/>
        </p:nvSpPr>
        <p:spPr bwMode="auto">
          <a:xfrm>
            <a:off x="4187825" y="3451225"/>
            <a:ext cx="3810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85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000">
                <a:solidFill>
                  <a:srgbClr val="000099"/>
                </a:solidFill>
              </a:rPr>
              <a:t>traffic intensity </a:t>
            </a:r>
          </a:p>
          <a:p>
            <a:pPr marL="342900" indent="-342900" algn="ctr">
              <a:lnSpc>
                <a:spcPct val="85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000">
                <a:solidFill>
                  <a:srgbClr val="000099"/>
                </a:solidFill>
              </a:rPr>
              <a:t>= La/R</a:t>
            </a:r>
          </a:p>
        </p:txBody>
      </p:sp>
      <p:sp>
        <p:nvSpPr>
          <p:cNvPr id="56327" name="Rectangle 62"/>
          <p:cNvSpPr>
            <a:spLocks noChangeArrowheads="1"/>
          </p:cNvSpPr>
          <p:nvPr/>
        </p:nvSpPr>
        <p:spPr bwMode="auto">
          <a:xfrm>
            <a:off x="511175" y="4113213"/>
            <a:ext cx="69723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latin typeface="Gill Sans MT" pitchFamily="34" charset="0"/>
              </a:rPr>
              <a:t>La/R</a:t>
            </a:r>
            <a:r>
              <a:rPr lang="en-US">
                <a:latin typeface="Gill Sans MT" pitchFamily="34" charset="0"/>
              </a:rPr>
              <a:t> ~ 0: avg. queueing delay small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latin typeface="Gill Sans MT" pitchFamily="34" charset="0"/>
              </a:rPr>
              <a:t>La/R </a:t>
            </a:r>
            <a:r>
              <a:rPr lang="en-US">
                <a:latin typeface="Gill Sans MT" pitchFamily="34" charset="0"/>
              </a:rPr>
              <a:t>-&gt; 1: avg. queueing delay large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latin typeface="Gill Sans MT" pitchFamily="34" charset="0"/>
              </a:rPr>
              <a:t>La/R </a:t>
            </a:r>
            <a:r>
              <a:rPr lang="en-US">
                <a:latin typeface="Gill Sans MT" pitchFamily="34" charset="0"/>
              </a:rPr>
              <a:t>&gt; 1: more </a:t>
            </a:r>
            <a:r>
              <a:rPr lang="ja-JP" altLang="en-US">
                <a:latin typeface="Gill Sans MT" pitchFamily="34" charset="0"/>
              </a:rPr>
              <a:t>“</a:t>
            </a:r>
            <a:r>
              <a:rPr lang="en-US" altLang="ja-JP">
                <a:latin typeface="Gill Sans MT" pitchFamily="34" charset="0"/>
              </a:rPr>
              <a:t>work</a:t>
            </a:r>
            <a:r>
              <a:rPr lang="ja-JP" altLang="en-US">
                <a:latin typeface="Gill Sans MT" pitchFamily="34" charset="0"/>
              </a:rPr>
              <a:t>”</a:t>
            </a:r>
            <a:r>
              <a:rPr lang="en-US" altLang="ja-JP">
                <a:latin typeface="Gill Sans MT" pitchFamily="34" charset="0"/>
              </a:rPr>
              <a:t> arriving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    than can be serviced, average delay infinite!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q"/>
            </a:pPr>
            <a:endParaRPr lang="en-US">
              <a:latin typeface="Gill Sans MT" pitchFamily="34" charset="0"/>
            </a:endParaRPr>
          </a:p>
        </p:txBody>
      </p:sp>
      <p:sp>
        <p:nvSpPr>
          <p:cNvPr id="56328" name="Rectangle 11"/>
          <p:cNvSpPr>
            <a:spLocks noChangeArrowheads="1"/>
          </p:cNvSpPr>
          <p:nvPr/>
        </p:nvSpPr>
        <p:spPr bwMode="auto">
          <a:xfrm>
            <a:off x="4500563" y="868363"/>
            <a:ext cx="1271587" cy="4270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9" name="Rectangle 61"/>
          <p:cNvSpPr>
            <a:spLocks noChangeArrowheads="1"/>
          </p:cNvSpPr>
          <p:nvPr/>
        </p:nvSpPr>
        <p:spPr bwMode="auto">
          <a:xfrm rot="-5400000">
            <a:off x="3596482" y="2180431"/>
            <a:ext cx="24336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85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000">
                <a:solidFill>
                  <a:srgbClr val="000099"/>
                </a:solidFill>
              </a:rPr>
              <a:t>average  queueing delay</a:t>
            </a:r>
          </a:p>
        </p:txBody>
      </p:sp>
      <p:pic>
        <p:nvPicPr>
          <p:cNvPr id="5633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463" y="4935538"/>
            <a:ext cx="1546225" cy="123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31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0" y="4197350"/>
            <a:ext cx="14811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32" name="Text Box 15"/>
          <p:cNvSpPr txBox="1">
            <a:spLocks noChangeArrowheads="1"/>
          </p:cNvSpPr>
          <p:nvPr/>
        </p:nvSpPr>
        <p:spPr bwMode="auto">
          <a:xfrm>
            <a:off x="7554913" y="4141788"/>
            <a:ext cx="1054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/>
              <a:t>La/R ~ 0</a:t>
            </a:r>
          </a:p>
        </p:txBody>
      </p:sp>
      <p:sp>
        <p:nvSpPr>
          <p:cNvPr id="5633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123825"/>
            <a:ext cx="77724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Queueing delay (revisited)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56334" name="Text Box 16"/>
          <p:cNvSpPr txBox="1">
            <a:spLocks noChangeArrowheads="1"/>
          </p:cNvSpPr>
          <p:nvPr/>
        </p:nvSpPr>
        <p:spPr bwMode="auto">
          <a:xfrm>
            <a:off x="7885113" y="6110288"/>
            <a:ext cx="1130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/>
              <a:t>La/R -&gt; 1</a:t>
            </a:r>
          </a:p>
        </p:txBody>
      </p:sp>
      <p:sp>
        <p:nvSpPr>
          <p:cNvPr id="563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2D5C1199-61D1-4440-BC5C-7583B6CD91CA}" type="slidenum">
              <a:rPr lang="en-US" sz="1200" smtClean="0">
                <a:latin typeface="Tahoma" pitchFamily="34" charset="0"/>
              </a:rPr>
              <a:pPr/>
              <a:t>48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56336" name="TextBox 1"/>
          <p:cNvSpPr txBox="1">
            <a:spLocks noChangeArrowheads="1"/>
          </p:cNvSpPr>
          <p:nvPr/>
        </p:nvSpPr>
        <p:spPr bwMode="auto">
          <a:xfrm>
            <a:off x="425450" y="6116638"/>
            <a:ext cx="622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Check out the Java applet for an interactive animation on queuing and loss</a:t>
            </a:r>
          </a:p>
        </p:txBody>
      </p:sp>
      <p:sp>
        <p:nvSpPr>
          <p:cNvPr id="56337" name="TextBox 1"/>
          <p:cNvSpPr txBox="1">
            <a:spLocks noChangeArrowheads="1"/>
          </p:cNvSpPr>
          <p:nvPr/>
        </p:nvSpPr>
        <p:spPr bwMode="auto">
          <a:xfrm>
            <a:off x="511175" y="5783263"/>
            <a:ext cx="6826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 b="1" i="1">
                <a:solidFill>
                  <a:srgbClr val="C00000"/>
                </a:solidFill>
              </a:rPr>
              <a:t>Design your system so that the traffic intensity is no greater than 1.</a:t>
            </a:r>
            <a:r>
              <a:rPr lang="en-US" sz="1600" b="1">
                <a:solidFill>
                  <a:srgbClr val="C00000"/>
                </a:solidFill>
              </a:rPr>
              <a:t> </a:t>
            </a:r>
            <a:br>
              <a:rPr lang="en-US" sz="1600" b="1">
                <a:solidFill>
                  <a:srgbClr val="C00000"/>
                </a:solidFill>
              </a:rPr>
            </a:br>
            <a:endParaRPr 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7347" name="Picture 9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89693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2858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sz="4000" smtClean="0">
                <a:ea typeface="ＭＳ Ｐゴシック" pitchFamily="34" charset="-128"/>
              </a:rPr>
              <a:t>“</a:t>
            </a:r>
            <a:r>
              <a:rPr lang="en-US" altLang="ja-JP" sz="4000" smtClean="0">
                <a:ea typeface="ＭＳ Ｐゴシック" pitchFamily="34" charset="-128"/>
              </a:rPr>
              <a:t>Real</a:t>
            </a:r>
            <a:r>
              <a:rPr lang="ja-JP" altLang="en-US" sz="4000" smtClean="0">
                <a:ea typeface="ＭＳ Ｐゴシック" pitchFamily="34" charset="-128"/>
              </a:rPr>
              <a:t>”</a:t>
            </a:r>
            <a:r>
              <a:rPr lang="en-US" altLang="ja-JP" sz="4000" smtClean="0">
                <a:ea typeface="ＭＳ Ｐゴシック" pitchFamily="34" charset="-128"/>
              </a:rPr>
              <a:t> Internet delays and routes</a:t>
            </a:r>
            <a:endParaRPr lang="en-US" sz="4000" smtClean="0">
              <a:ea typeface="ＭＳ Ｐゴシック" pitchFamily="34" charset="-128"/>
            </a:endParaRPr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500063" y="1270000"/>
            <a:ext cx="7772400" cy="30988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what do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real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Internet delay &amp; loss look like? </a:t>
            </a:r>
          </a:p>
          <a:p>
            <a:pPr eaLnBrk="1" hangingPunct="1">
              <a:buSzPct val="75000"/>
            </a:pPr>
            <a:r>
              <a:rPr lang="en-US" smtClean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traceroute </a:t>
            </a:r>
            <a:r>
              <a:rPr lang="en-US" smtClean="0">
                <a:ea typeface="ＭＳ Ｐゴシック" pitchFamily="34" charset="-128"/>
                <a:cs typeface="Courier New" pitchFamily="49" charset="0"/>
              </a:rPr>
              <a:t>program: </a:t>
            </a:r>
            <a:r>
              <a:rPr lang="en-US" smtClean="0">
                <a:ea typeface="ＭＳ Ｐゴシック" pitchFamily="34" charset="-128"/>
              </a:rPr>
              <a:t>provides delay measurement from source to router along end-end Internet path towards destination.  For all </a:t>
            </a:r>
            <a:r>
              <a:rPr lang="en-US" i="1" smtClean="0">
                <a:ea typeface="ＭＳ Ｐゴシック" pitchFamily="34" charset="-128"/>
              </a:rPr>
              <a:t>i:</a:t>
            </a:r>
          </a:p>
          <a:p>
            <a:pPr lvl="1" eaLnBrk="1" hangingPunct="1"/>
            <a:r>
              <a:rPr lang="en-US" smtClean="0"/>
              <a:t>sends three packets that will reach router </a:t>
            </a:r>
            <a:r>
              <a:rPr lang="en-US" i="1" smtClean="0"/>
              <a:t>i</a:t>
            </a:r>
            <a:r>
              <a:rPr lang="en-US" smtClean="0"/>
              <a:t> on path towards destination</a:t>
            </a:r>
          </a:p>
          <a:p>
            <a:pPr lvl="1" eaLnBrk="1" hangingPunct="1"/>
            <a:r>
              <a:rPr lang="en-US" smtClean="0"/>
              <a:t>router </a:t>
            </a:r>
            <a:r>
              <a:rPr lang="en-US" i="1" smtClean="0"/>
              <a:t>i</a:t>
            </a:r>
            <a:r>
              <a:rPr lang="en-US" smtClean="0"/>
              <a:t> will return packets to sender</a:t>
            </a:r>
          </a:p>
          <a:p>
            <a:pPr lvl="1" eaLnBrk="1" hangingPunct="1"/>
            <a:r>
              <a:rPr lang="en-US" smtClean="0"/>
              <a:t>sender times interval between transmission and reply.</a:t>
            </a:r>
            <a:endParaRPr lang="en-US" sz="2800" smtClean="0"/>
          </a:p>
        </p:txBody>
      </p:sp>
      <p:sp>
        <p:nvSpPr>
          <p:cNvPr id="57350" name="Line 38"/>
          <p:cNvSpPr>
            <a:spLocks noChangeShapeType="1"/>
          </p:cNvSpPr>
          <p:nvPr/>
        </p:nvSpPr>
        <p:spPr bwMode="auto">
          <a:xfrm>
            <a:off x="1285875" y="5319713"/>
            <a:ext cx="288925" cy="265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1" name="Line 105"/>
          <p:cNvSpPr>
            <a:spLocks noChangeShapeType="1"/>
          </p:cNvSpPr>
          <p:nvPr/>
        </p:nvSpPr>
        <p:spPr bwMode="auto">
          <a:xfrm flipV="1">
            <a:off x="2079625" y="5370513"/>
            <a:ext cx="458788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2" name="Line 106"/>
          <p:cNvSpPr>
            <a:spLocks noChangeShapeType="1"/>
          </p:cNvSpPr>
          <p:nvPr/>
        </p:nvSpPr>
        <p:spPr bwMode="auto">
          <a:xfrm>
            <a:off x="3014663" y="53546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Line 108"/>
          <p:cNvSpPr>
            <a:spLocks noChangeShapeType="1"/>
          </p:cNvSpPr>
          <p:nvPr/>
        </p:nvSpPr>
        <p:spPr bwMode="auto">
          <a:xfrm flipH="1">
            <a:off x="2776538" y="508635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Line 113"/>
          <p:cNvSpPr>
            <a:spLocks noChangeShapeType="1"/>
          </p:cNvSpPr>
          <p:nvPr/>
        </p:nvSpPr>
        <p:spPr bwMode="auto">
          <a:xfrm flipH="1">
            <a:off x="3990975" y="5414963"/>
            <a:ext cx="620713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5" name="Line 260"/>
          <p:cNvSpPr>
            <a:spLocks noChangeShapeType="1"/>
          </p:cNvSpPr>
          <p:nvPr/>
        </p:nvSpPr>
        <p:spPr bwMode="auto">
          <a:xfrm>
            <a:off x="5110163" y="53800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6" name="Line 261"/>
          <p:cNvSpPr>
            <a:spLocks noChangeShapeType="1"/>
          </p:cNvSpPr>
          <p:nvPr/>
        </p:nvSpPr>
        <p:spPr bwMode="auto">
          <a:xfrm flipH="1">
            <a:off x="6048375" y="5326063"/>
            <a:ext cx="557213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7" name="Line 291"/>
          <p:cNvSpPr>
            <a:spLocks noChangeShapeType="1"/>
          </p:cNvSpPr>
          <p:nvPr/>
        </p:nvSpPr>
        <p:spPr bwMode="auto">
          <a:xfrm>
            <a:off x="2744788" y="548640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8" name="Line 292"/>
          <p:cNvSpPr>
            <a:spLocks noChangeShapeType="1"/>
          </p:cNvSpPr>
          <p:nvPr/>
        </p:nvSpPr>
        <p:spPr bwMode="auto">
          <a:xfrm>
            <a:off x="4668838" y="507365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9" name="Line 294"/>
          <p:cNvSpPr>
            <a:spLocks noChangeShapeType="1"/>
          </p:cNvSpPr>
          <p:nvPr/>
        </p:nvSpPr>
        <p:spPr bwMode="auto">
          <a:xfrm flipH="1">
            <a:off x="3386138" y="567690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60" name="Line 295"/>
          <p:cNvSpPr>
            <a:spLocks noChangeShapeType="1"/>
          </p:cNvSpPr>
          <p:nvPr/>
        </p:nvSpPr>
        <p:spPr bwMode="auto">
          <a:xfrm>
            <a:off x="3741738" y="5181600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44" name="Text Box 300"/>
          <p:cNvSpPr txBox="1">
            <a:spLocks noChangeArrowheads="1"/>
          </p:cNvSpPr>
          <p:nvPr/>
        </p:nvSpPr>
        <p:spPr bwMode="auto">
          <a:xfrm>
            <a:off x="1387475" y="5038725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FF0000"/>
                </a:solidFill>
              </a:rPr>
              <a:t>3 probes</a:t>
            </a:r>
          </a:p>
        </p:txBody>
      </p:sp>
      <p:sp>
        <p:nvSpPr>
          <p:cNvPr id="83246" name="Text Box 302"/>
          <p:cNvSpPr txBox="1">
            <a:spLocks noChangeArrowheads="1"/>
          </p:cNvSpPr>
          <p:nvPr/>
        </p:nvSpPr>
        <p:spPr bwMode="auto">
          <a:xfrm>
            <a:off x="2001838" y="5599113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FF0000"/>
                </a:solidFill>
              </a:rPr>
              <a:t>3 probes</a:t>
            </a:r>
          </a:p>
        </p:txBody>
      </p:sp>
      <p:sp>
        <p:nvSpPr>
          <p:cNvPr id="83248" name="Text Box 304"/>
          <p:cNvSpPr txBox="1">
            <a:spLocks noChangeArrowheads="1"/>
          </p:cNvSpPr>
          <p:nvPr/>
        </p:nvSpPr>
        <p:spPr bwMode="auto">
          <a:xfrm>
            <a:off x="3025775" y="5013325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FF0000"/>
                </a:solidFill>
              </a:rPr>
              <a:t>3 probes</a:t>
            </a:r>
          </a:p>
        </p:txBody>
      </p:sp>
      <p:grpSp>
        <p:nvGrpSpPr>
          <p:cNvPr id="57364" name="Group 100"/>
          <p:cNvGrpSpPr>
            <a:grpSpLocks/>
          </p:cNvGrpSpPr>
          <p:nvPr/>
        </p:nvGrpSpPr>
        <p:grpSpPr bwMode="auto">
          <a:xfrm>
            <a:off x="517525" y="4975225"/>
            <a:ext cx="820738" cy="688975"/>
            <a:chOff x="-44" y="1473"/>
            <a:chExt cx="981" cy="1105"/>
          </a:xfrm>
        </p:grpSpPr>
        <p:pic>
          <p:nvPicPr>
            <p:cNvPr id="57417" name="Picture 10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18" name="Freeform 10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7365" name="Group 103"/>
          <p:cNvGrpSpPr>
            <a:grpSpLocks/>
          </p:cNvGrpSpPr>
          <p:nvPr/>
        </p:nvGrpSpPr>
        <p:grpSpPr bwMode="auto">
          <a:xfrm flipH="1">
            <a:off x="6565900" y="5013325"/>
            <a:ext cx="754063" cy="669925"/>
            <a:chOff x="-44" y="1473"/>
            <a:chExt cx="981" cy="1105"/>
          </a:xfrm>
        </p:grpSpPr>
        <p:pic>
          <p:nvPicPr>
            <p:cNvPr id="57415" name="Picture 104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16" name="Freeform 10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7366" name="Group 124"/>
          <p:cNvGrpSpPr>
            <a:grpSpLocks/>
          </p:cNvGrpSpPr>
          <p:nvPr/>
        </p:nvGrpSpPr>
        <p:grpSpPr bwMode="auto">
          <a:xfrm>
            <a:off x="5513388" y="5513388"/>
            <a:ext cx="617537" cy="250825"/>
            <a:chOff x="2356" y="1300"/>
            <a:chExt cx="555" cy="194"/>
          </a:xfrm>
        </p:grpSpPr>
        <p:sp>
          <p:nvSpPr>
            <p:cNvPr id="57407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408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409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410" name="Group 128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413" name="Freeform 12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4" name="Freeform 13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411" name="Line 131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12" name="Line 132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67" name="Group 133"/>
          <p:cNvGrpSpPr>
            <a:grpSpLocks/>
          </p:cNvGrpSpPr>
          <p:nvPr/>
        </p:nvGrpSpPr>
        <p:grpSpPr bwMode="auto">
          <a:xfrm>
            <a:off x="4545013" y="5241925"/>
            <a:ext cx="617537" cy="250825"/>
            <a:chOff x="2356" y="1300"/>
            <a:chExt cx="555" cy="194"/>
          </a:xfrm>
        </p:grpSpPr>
        <p:sp>
          <p:nvSpPr>
            <p:cNvPr id="57399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400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401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402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405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6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403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04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68" name="Group 142"/>
          <p:cNvGrpSpPr>
            <a:grpSpLocks/>
          </p:cNvGrpSpPr>
          <p:nvPr/>
        </p:nvGrpSpPr>
        <p:grpSpPr bwMode="auto">
          <a:xfrm>
            <a:off x="3394075" y="5451475"/>
            <a:ext cx="617538" cy="250825"/>
            <a:chOff x="2356" y="1300"/>
            <a:chExt cx="555" cy="194"/>
          </a:xfrm>
        </p:grpSpPr>
        <p:sp>
          <p:nvSpPr>
            <p:cNvPr id="57391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392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393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394" name="Group 146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397" name="Freeform 14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8" name="Freeform 14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95" name="Line 149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96" name="Line 150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69" name="Group 151"/>
          <p:cNvGrpSpPr>
            <a:grpSpLocks/>
          </p:cNvGrpSpPr>
          <p:nvPr/>
        </p:nvGrpSpPr>
        <p:grpSpPr bwMode="auto">
          <a:xfrm>
            <a:off x="2392363" y="5205413"/>
            <a:ext cx="617537" cy="250825"/>
            <a:chOff x="2356" y="1300"/>
            <a:chExt cx="555" cy="194"/>
          </a:xfrm>
        </p:grpSpPr>
        <p:sp>
          <p:nvSpPr>
            <p:cNvPr id="57383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384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385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386" name="Group 155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389" name="Freeform 15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0" name="Freeform 15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87" name="Line 158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8" name="Line 159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70" name="Group 160"/>
          <p:cNvGrpSpPr>
            <a:grpSpLocks/>
          </p:cNvGrpSpPr>
          <p:nvPr/>
        </p:nvGrpSpPr>
        <p:grpSpPr bwMode="auto">
          <a:xfrm>
            <a:off x="1517650" y="5472113"/>
            <a:ext cx="617538" cy="250825"/>
            <a:chOff x="2356" y="1300"/>
            <a:chExt cx="555" cy="194"/>
          </a:xfrm>
        </p:grpSpPr>
        <p:sp>
          <p:nvSpPr>
            <p:cNvPr id="5737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37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37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378" name="Group 164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381" name="Freeform 16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2" name="Freeform 16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79" name="Line 167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0" name="Line 168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3247" name="Freeform 303"/>
          <p:cNvSpPr>
            <a:spLocks/>
          </p:cNvSpPr>
          <p:nvPr/>
        </p:nvSpPr>
        <p:spPr bwMode="auto">
          <a:xfrm>
            <a:off x="1257300" y="5259388"/>
            <a:ext cx="2247900" cy="403225"/>
          </a:xfrm>
          <a:custGeom>
            <a:avLst/>
            <a:gdLst>
              <a:gd name="T0" fmla="*/ 2147483647 w 1416"/>
              <a:gd name="T1" fmla="*/ 2147483647 h 254"/>
              <a:gd name="T2" fmla="*/ 2147483647 w 1416"/>
              <a:gd name="T3" fmla="*/ 2147483647 h 254"/>
              <a:gd name="T4" fmla="*/ 2147483647 w 1416"/>
              <a:gd name="T5" fmla="*/ 2147483647 h 254"/>
              <a:gd name="T6" fmla="*/ 2147483647 w 1416"/>
              <a:gd name="T7" fmla="*/ 2147483647 h 254"/>
              <a:gd name="T8" fmla="*/ 2147483647 w 1416"/>
              <a:gd name="T9" fmla="*/ 2147483647 h 254"/>
              <a:gd name="T10" fmla="*/ 2147483647 w 1416"/>
              <a:gd name="T11" fmla="*/ 2147483647 h 254"/>
              <a:gd name="T12" fmla="*/ 0 w 1416"/>
              <a:gd name="T13" fmla="*/ 2147483647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3" name="Freeform 299"/>
          <p:cNvSpPr>
            <a:spLocks/>
          </p:cNvSpPr>
          <p:nvPr/>
        </p:nvSpPr>
        <p:spPr bwMode="auto">
          <a:xfrm>
            <a:off x="1289050" y="5295900"/>
            <a:ext cx="419100" cy="419100"/>
          </a:xfrm>
          <a:custGeom>
            <a:avLst/>
            <a:gdLst>
              <a:gd name="T0" fmla="*/ 2147483647 w 264"/>
              <a:gd name="T1" fmla="*/ 0 h 264"/>
              <a:gd name="T2" fmla="*/ 2147483647 w 264"/>
              <a:gd name="T3" fmla="*/ 2147483647 h 264"/>
              <a:gd name="T4" fmla="*/ 0 w 264"/>
              <a:gd name="T5" fmla="*/ 2147483647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5" name="Freeform 301"/>
          <p:cNvSpPr>
            <a:spLocks/>
          </p:cNvSpPr>
          <p:nvPr/>
        </p:nvSpPr>
        <p:spPr bwMode="auto">
          <a:xfrm>
            <a:off x="1282700" y="5210175"/>
            <a:ext cx="1346200" cy="474663"/>
          </a:xfrm>
          <a:custGeom>
            <a:avLst/>
            <a:gdLst>
              <a:gd name="T0" fmla="*/ 2147483647 w 848"/>
              <a:gd name="T1" fmla="*/ 2147483647 h 299"/>
              <a:gd name="T2" fmla="*/ 2147483647 w 848"/>
              <a:gd name="T3" fmla="*/ 2147483647 h 299"/>
              <a:gd name="T4" fmla="*/ 2147483647 w 848"/>
              <a:gd name="T5" fmla="*/ 2147483647 h 299"/>
              <a:gd name="T6" fmla="*/ 2147483647 w 848"/>
              <a:gd name="T7" fmla="*/ 2147483647 h 299"/>
              <a:gd name="T8" fmla="*/ 0 w 848"/>
              <a:gd name="T9" fmla="*/ 2147483647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97886E67-C2AC-4EE7-AE8B-FEE4D3C651A7}" type="slidenum">
              <a:rPr lang="en-US" sz="1200" smtClean="0">
                <a:latin typeface="Tahoma" pitchFamily="34" charset="0"/>
              </a:rPr>
              <a:pPr/>
              <a:t>49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44" grpId="0"/>
      <p:bldP spid="83246" grpId="0"/>
      <p:bldP spid="83248" grpId="0"/>
      <p:bldP spid="83247" grpId="0" animBg="1"/>
      <p:bldP spid="83243" grpId="0" animBg="1"/>
      <p:bldP spid="8324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1313" y="166688"/>
            <a:ext cx="7772400" cy="892175"/>
          </a:xfrm>
        </p:spPr>
        <p:txBody>
          <a:bodyPr/>
          <a:lstStyle/>
          <a:p>
            <a:pPr eaLnBrk="1" hangingPunct="1"/>
            <a:r>
              <a:rPr lang="ja-JP" altLang="en-US" sz="4000" smtClean="0">
                <a:ea typeface="ＭＳ Ｐゴシック" pitchFamily="34" charset="-128"/>
              </a:rPr>
              <a:t>“</a:t>
            </a:r>
            <a:r>
              <a:rPr lang="en-US" altLang="ja-JP" sz="4000" smtClean="0">
                <a:ea typeface="ＭＳ Ｐゴシック" pitchFamily="34" charset="-128"/>
              </a:rPr>
              <a:t>Real</a:t>
            </a:r>
            <a:r>
              <a:rPr lang="ja-JP" altLang="en-US" sz="4000" smtClean="0">
                <a:ea typeface="ＭＳ Ｐゴシック" pitchFamily="34" charset="-128"/>
              </a:rPr>
              <a:t>”</a:t>
            </a:r>
            <a:r>
              <a:rPr lang="en-US" altLang="ja-JP" sz="4000" smtClean="0">
                <a:ea typeface="ＭＳ Ｐゴシック" pitchFamily="34" charset="-128"/>
              </a:rPr>
              <a:t> Internet delays, routes</a:t>
            </a:r>
            <a:endParaRPr lang="en-US" sz="4000" smtClean="0">
              <a:ea typeface="ＭＳ Ｐゴシック" pitchFamily="34" charset="-128"/>
            </a:endParaRP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704850" y="2338388"/>
            <a:ext cx="82296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600"/>
              <a:t>1  cs-gw (128.119.240.254)  1 ms  1 ms  2 ms</a:t>
            </a:r>
          </a:p>
          <a:p>
            <a:pPr>
              <a:lnSpc>
                <a:spcPct val="80000"/>
              </a:lnSpc>
            </a:pPr>
            <a:r>
              <a:rPr lang="en-US" sz="1600"/>
              <a:t>2  border1-rt-fa5-1-0.gw.umass.edu (128.119.3.145)  1 ms  1 ms  2 ms</a:t>
            </a:r>
          </a:p>
          <a:p>
            <a:pPr>
              <a:lnSpc>
                <a:spcPct val="80000"/>
              </a:lnSpc>
            </a:pPr>
            <a:r>
              <a:rPr lang="en-US" sz="1600"/>
              <a:t>3  cht-vbns.gw.umass.edu (128.119.3.130)  6 ms 5 ms 5 ms</a:t>
            </a:r>
          </a:p>
          <a:p>
            <a:pPr>
              <a:lnSpc>
                <a:spcPct val="80000"/>
              </a:lnSpc>
            </a:pPr>
            <a:r>
              <a:rPr lang="en-US" sz="1600"/>
              <a:t>4  jn1-at1-0-0-19.wor.vbns.net (204.147.132.129)  16 ms 11 ms 13 ms </a:t>
            </a:r>
          </a:p>
          <a:p>
            <a:pPr>
              <a:lnSpc>
                <a:spcPct val="80000"/>
              </a:lnSpc>
            </a:pPr>
            <a:r>
              <a:rPr lang="en-US" sz="1600"/>
              <a:t>5  jn1-so7-0-0-0.wae.vbns.net (204.147.136.136)  21 ms 18 ms 18 ms </a:t>
            </a:r>
          </a:p>
          <a:p>
            <a:pPr>
              <a:lnSpc>
                <a:spcPct val="80000"/>
              </a:lnSpc>
            </a:pPr>
            <a:r>
              <a:rPr lang="en-US" sz="1600"/>
              <a:t>6  abilene-vbns.abilene.ucaid.edu (198.32.11.9)  22 ms  18 ms  22 ms</a:t>
            </a:r>
          </a:p>
          <a:p>
            <a:pPr>
              <a:lnSpc>
                <a:spcPct val="80000"/>
              </a:lnSpc>
            </a:pPr>
            <a:r>
              <a:rPr lang="en-US" sz="1600"/>
              <a:t>7  nycm-wash.abilene.ucaid.edu (198.32.8.46)  22 ms  22 ms  22 ms</a:t>
            </a:r>
          </a:p>
          <a:p>
            <a:pPr>
              <a:lnSpc>
                <a:spcPct val="80000"/>
              </a:lnSpc>
            </a:pPr>
            <a:r>
              <a:rPr lang="en-US" sz="1600"/>
              <a:t>8  62.40.103.253 (62.40.103.253)  104 ms 109 ms 106 ms</a:t>
            </a:r>
          </a:p>
          <a:p>
            <a:pPr>
              <a:lnSpc>
                <a:spcPct val="80000"/>
              </a:lnSpc>
            </a:pPr>
            <a:r>
              <a:rPr lang="en-US" sz="1600"/>
              <a:t>9  de2-1.de1.de.geant.net (62.40.96.129)  109 ms 102 ms 104 ms</a:t>
            </a:r>
          </a:p>
          <a:p>
            <a:pPr>
              <a:lnSpc>
                <a:spcPct val="80000"/>
              </a:lnSpc>
            </a:pPr>
            <a:r>
              <a:rPr lang="en-US" sz="1600"/>
              <a:t>10  de.fr1.fr.geant.net (62.40.96.50)  113 ms 121 ms 114 ms</a:t>
            </a:r>
          </a:p>
          <a:p>
            <a:pPr>
              <a:lnSpc>
                <a:spcPct val="80000"/>
              </a:lnSpc>
            </a:pPr>
            <a:r>
              <a:rPr lang="en-US" sz="1600"/>
              <a:t>11  renater-gw.fr1.fr.geant.net (62.40.103.54)  112 ms  114 ms  112 ms</a:t>
            </a:r>
          </a:p>
          <a:p>
            <a:pPr>
              <a:lnSpc>
                <a:spcPct val="80000"/>
              </a:lnSpc>
            </a:pPr>
            <a:r>
              <a:rPr lang="en-US" sz="1600"/>
              <a:t>12  nio-n2.cssi.renater.fr (193.51.206.13)  111 ms  114 ms  116 ms</a:t>
            </a:r>
          </a:p>
          <a:p>
            <a:pPr>
              <a:lnSpc>
                <a:spcPct val="80000"/>
              </a:lnSpc>
            </a:pPr>
            <a:r>
              <a:rPr lang="en-US" sz="1600"/>
              <a:t>13  nice.cssi.renater.fr (195.220.98.102)  123 ms  125 ms  124 ms</a:t>
            </a:r>
          </a:p>
          <a:p>
            <a:pPr>
              <a:lnSpc>
                <a:spcPct val="80000"/>
              </a:lnSpc>
            </a:pPr>
            <a:r>
              <a:rPr lang="en-US" sz="1600"/>
              <a:t>14  r3t2-nice.cssi.renater.fr (195.220.98.110)  126 ms  126 ms  124 ms</a:t>
            </a:r>
          </a:p>
          <a:p>
            <a:pPr>
              <a:lnSpc>
                <a:spcPct val="80000"/>
              </a:lnSpc>
            </a:pPr>
            <a:r>
              <a:rPr lang="en-US" sz="1600"/>
              <a:t>15  eurecom-valbonne.r3t2.ft.net (193.48.50.54)  135 ms  128 ms  133 ms</a:t>
            </a:r>
          </a:p>
          <a:p>
            <a:pPr>
              <a:lnSpc>
                <a:spcPct val="80000"/>
              </a:lnSpc>
            </a:pPr>
            <a:r>
              <a:rPr lang="en-US" sz="1600"/>
              <a:t>16  194.214.211.25 (194.214.211.25)  126 ms  128 ms  126 ms</a:t>
            </a:r>
          </a:p>
          <a:p>
            <a:pPr>
              <a:lnSpc>
                <a:spcPct val="80000"/>
              </a:lnSpc>
            </a:pPr>
            <a:r>
              <a:rPr lang="en-US" sz="1600"/>
              <a:t>17  * * *</a:t>
            </a:r>
          </a:p>
          <a:p>
            <a:pPr>
              <a:lnSpc>
                <a:spcPct val="80000"/>
              </a:lnSpc>
            </a:pPr>
            <a:r>
              <a:rPr lang="en-US" sz="1600"/>
              <a:t>18  * * *</a:t>
            </a:r>
          </a:p>
          <a:p>
            <a:pPr>
              <a:lnSpc>
                <a:spcPct val="80000"/>
              </a:lnSpc>
            </a:pPr>
            <a:r>
              <a:rPr lang="en-US" sz="1600"/>
              <a:t>19  fantasia.eurecom.fr (193.55.113.142)  132 ms  128 ms  136</a:t>
            </a:r>
            <a:r>
              <a:rPr lang="en-US">
                <a:latin typeface="Times New Roman" pitchFamily="18" charset="0"/>
              </a:rPr>
              <a:t> </a:t>
            </a:r>
            <a:r>
              <a:rPr lang="en-US" sz="1600">
                <a:latin typeface="Times New Roman" pitchFamily="18" charset="0"/>
              </a:rPr>
              <a:t>ms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725488" y="1235075"/>
            <a:ext cx="819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CC0000"/>
                </a:solidFill>
              </a:rPr>
              <a:t>traceroute:</a:t>
            </a:r>
            <a:r>
              <a:rPr lang="en-US"/>
              <a:t> gaia.cs.umass.edu to www.eurecom.fr</a:t>
            </a:r>
          </a:p>
        </p:txBody>
      </p:sp>
      <p:sp>
        <p:nvSpPr>
          <p:cNvPr id="58374" name="Line 6"/>
          <p:cNvSpPr>
            <a:spLocks noChangeShapeType="1"/>
          </p:cNvSpPr>
          <p:nvPr/>
        </p:nvSpPr>
        <p:spPr bwMode="auto">
          <a:xfrm>
            <a:off x="1611313" y="5634038"/>
            <a:ext cx="968375" cy="2698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4578350" y="1738313"/>
            <a:ext cx="456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3 delay measurements from </a:t>
            </a:r>
          </a:p>
          <a:p>
            <a:r>
              <a:rPr lang="en-US" sz="1800">
                <a:solidFill>
                  <a:srgbClr val="CC0000"/>
                </a:solidFill>
              </a:rPr>
              <a:t>gaia.cs.umass.edu to cs-gw.cs.umass.edu </a:t>
            </a:r>
          </a:p>
        </p:txBody>
      </p:sp>
      <p:sp>
        <p:nvSpPr>
          <p:cNvPr id="58376" name="Line 8"/>
          <p:cNvSpPr>
            <a:spLocks noChangeShapeType="1"/>
          </p:cNvSpPr>
          <p:nvPr/>
        </p:nvSpPr>
        <p:spPr bwMode="auto">
          <a:xfrm flipV="1">
            <a:off x="3471863" y="1965325"/>
            <a:ext cx="671512" cy="4127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 flipV="1">
            <a:off x="4011613" y="1954213"/>
            <a:ext cx="139700" cy="4048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 flipH="1" flipV="1">
            <a:off x="4146550" y="1963738"/>
            <a:ext cx="366713" cy="3905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 flipV="1">
            <a:off x="4138613" y="1970088"/>
            <a:ext cx="377825" cy="31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2571750" y="5564188"/>
            <a:ext cx="628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* means no response (probe lost, router not replying)</a:t>
            </a:r>
          </a:p>
        </p:txBody>
      </p:sp>
      <p:sp>
        <p:nvSpPr>
          <p:cNvPr id="58381" name="Freeform 14"/>
          <p:cNvSpPr>
            <a:spLocks/>
          </p:cNvSpPr>
          <p:nvPr/>
        </p:nvSpPr>
        <p:spPr bwMode="auto">
          <a:xfrm>
            <a:off x="6092825" y="3651250"/>
            <a:ext cx="1012825" cy="246063"/>
          </a:xfrm>
          <a:custGeom>
            <a:avLst/>
            <a:gdLst>
              <a:gd name="T0" fmla="*/ 2147483647 w 638"/>
              <a:gd name="T1" fmla="*/ 0 h 155"/>
              <a:gd name="T2" fmla="*/ 2147483647 w 638"/>
              <a:gd name="T3" fmla="*/ 2147483647 h 155"/>
              <a:gd name="T4" fmla="*/ 2147483647 w 638"/>
              <a:gd name="T5" fmla="*/ 2147483647 h 155"/>
              <a:gd name="T6" fmla="*/ 2147483647 w 638"/>
              <a:gd name="T7" fmla="*/ 2147483647 h 155"/>
              <a:gd name="T8" fmla="*/ 0 w 638"/>
              <a:gd name="T9" fmla="*/ 2147483647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2" name="Text Box 15"/>
          <p:cNvSpPr txBox="1">
            <a:spLocks noChangeArrowheads="1"/>
          </p:cNvSpPr>
          <p:nvPr/>
        </p:nvSpPr>
        <p:spPr bwMode="auto">
          <a:xfrm>
            <a:off x="7137400" y="3436938"/>
            <a:ext cx="170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>
                <a:solidFill>
                  <a:srgbClr val="CC0000"/>
                </a:solidFill>
              </a:rPr>
              <a:t>trans-oceanic</a:t>
            </a:r>
          </a:p>
          <a:p>
            <a:r>
              <a:rPr lang="en-US" sz="2000">
                <a:solidFill>
                  <a:srgbClr val="CC0000"/>
                </a:solidFill>
              </a:rPr>
              <a:t>link</a:t>
            </a:r>
          </a:p>
        </p:txBody>
      </p:sp>
      <p:pic>
        <p:nvPicPr>
          <p:cNvPr id="58383" name="Picture 1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81597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ED49F9C-2A53-4971-A048-C1DAF62B4745}" type="slidenum">
              <a:rPr lang="en-US" sz="1200" smtClean="0">
                <a:latin typeface="Tahoma" pitchFamily="34" charset="0"/>
              </a:rPr>
              <a:pPr/>
              <a:t>50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58385" name="TextBox 1"/>
          <p:cNvSpPr txBox="1">
            <a:spLocks noChangeArrowheads="1"/>
          </p:cNvSpPr>
          <p:nvPr/>
        </p:nvSpPr>
        <p:spPr bwMode="auto">
          <a:xfrm>
            <a:off x="746125" y="6315075"/>
            <a:ext cx="54578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Do some traceroutes from exotic countries at www.traceroute.org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1950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Packet loss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5125" y="1333500"/>
            <a:ext cx="8394700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queue (aka buffer) preceding link in buffer has finite capacity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packet arriving to full queue dropped (aka lost)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lost packet may be retransmitted by previous node, by source end system, or not at all</a:t>
            </a:r>
          </a:p>
        </p:txBody>
      </p:sp>
      <p:sp>
        <p:nvSpPr>
          <p:cNvPr id="59397" name="Oval 6"/>
          <p:cNvSpPr>
            <a:spLocks noChangeArrowheads="1"/>
          </p:cNvSpPr>
          <p:nvPr/>
        </p:nvSpPr>
        <p:spPr bwMode="auto">
          <a:xfrm>
            <a:off x="3092450" y="51054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398" name="Rectangle 7"/>
          <p:cNvSpPr>
            <a:spLocks noChangeArrowheads="1"/>
          </p:cNvSpPr>
          <p:nvPr/>
        </p:nvSpPr>
        <p:spPr bwMode="auto">
          <a:xfrm>
            <a:off x="3092450" y="5037138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CC0000"/>
              </a:solidFill>
            </a:endParaRPr>
          </a:p>
        </p:txBody>
      </p:sp>
      <p:sp>
        <p:nvSpPr>
          <p:cNvPr id="59399" name="Oval 8"/>
          <p:cNvSpPr>
            <a:spLocks noChangeArrowheads="1"/>
          </p:cNvSpPr>
          <p:nvPr/>
        </p:nvSpPr>
        <p:spPr bwMode="auto">
          <a:xfrm>
            <a:off x="3101975" y="48085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grpSp>
        <p:nvGrpSpPr>
          <p:cNvPr id="59400" name="Group 9"/>
          <p:cNvGrpSpPr>
            <a:grpSpLocks/>
          </p:cNvGrpSpPr>
          <p:nvPr/>
        </p:nvGrpSpPr>
        <p:grpSpPr bwMode="auto">
          <a:xfrm>
            <a:off x="3448050" y="4838700"/>
            <a:ext cx="498475" cy="119063"/>
            <a:chOff x="2208" y="2184"/>
            <a:chExt cx="176" cy="69"/>
          </a:xfrm>
        </p:grpSpPr>
        <p:grpSp>
          <p:nvGrpSpPr>
            <p:cNvPr id="59432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9437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8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9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9433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9434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5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6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9401" name="Line 23"/>
          <p:cNvSpPr>
            <a:spLocks noChangeShapeType="1"/>
          </p:cNvSpPr>
          <p:nvPr/>
        </p:nvSpPr>
        <p:spPr bwMode="auto">
          <a:xfrm>
            <a:off x="2362200" y="4743450"/>
            <a:ext cx="698500" cy="33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2" name="Line 24"/>
          <p:cNvSpPr>
            <a:spLocks noChangeShapeType="1"/>
          </p:cNvSpPr>
          <p:nvPr/>
        </p:nvSpPr>
        <p:spPr bwMode="auto">
          <a:xfrm flipV="1">
            <a:off x="2667000" y="5208588"/>
            <a:ext cx="411163" cy="525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3" name="Line 25"/>
          <p:cNvSpPr>
            <a:spLocks noChangeShapeType="1"/>
          </p:cNvSpPr>
          <p:nvPr/>
        </p:nvSpPr>
        <p:spPr bwMode="auto">
          <a:xfrm>
            <a:off x="4286250" y="5162550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4" name="Rectangle 28"/>
          <p:cNvSpPr>
            <a:spLocks noChangeArrowheads="1"/>
          </p:cNvSpPr>
          <p:nvPr/>
        </p:nvSpPr>
        <p:spPr bwMode="auto">
          <a:xfrm>
            <a:off x="5205413" y="496252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05" name="Rectangle 29"/>
          <p:cNvSpPr>
            <a:spLocks noChangeArrowheads="1"/>
          </p:cNvSpPr>
          <p:nvPr/>
        </p:nvSpPr>
        <p:spPr bwMode="auto">
          <a:xfrm>
            <a:off x="3952875" y="5033963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06" name="Rectangle 30"/>
          <p:cNvSpPr>
            <a:spLocks noChangeArrowheads="1"/>
          </p:cNvSpPr>
          <p:nvPr/>
        </p:nvSpPr>
        <p:spPr bwMode="auto">
          <a:xfrm>
            <a:off x="4114800" y="5033963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07" name="Rectangle 31"/>
          <p:cNvSpPr>
            <a:spLocks noChangeArrowheads="1"/>
          </p:cNvSpPr>
          <p:nvPr/>
        </p:nvSpPr>
        <p:spPr bwMode="auto">
          <a:xfrm>
            <a:off x="2865438" y="538162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08" name="Line 33"/>
          <p:cNvSpPr>
            <a:spLocks noChangeShapeType="1"/>
          </p:cNvSpPr>
          <p:nvPr/>
        </p:nvSpPr>
        <p:spPr bwMode="auto">
          <a:xfrm flipV="1">
            <a:off x="2835275" y="5227638"/>
            <a:ext cx="106363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9" name="Text Box 35"/>
          <p:cNvSpPr txBox="1">
            <a:spLocks noChangeArrowheads="1"/>
          </p:cNvSpPr>
          <p:nvPr/>
        </p:nvSpPr>
        <p:spPr bwMode="auto">
          <a:xfrm>
            <a:off x="1417638" y="429418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59410" name="Text Box 36"/>
          <p:cNvSpPr txBox="1">
            <a:spLocks noChangeArrowheads="1"/>
          </p:cNvSpPr>
          <p:nvPr/>
        </p:nvSpPr>
        <p:spPr bwMode="auto">
          <a:xfrm>
            <a:off x="1738313" y="52800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59411" name="Text Box 40"/>
          <p:cNvSpPr txBox="1">
            <a:spLocks noChangeArrowheads="1"/>
          </p:cNvSpPr>
          <p:nvPr/>
        </p:nvSpPr>
        <p:spPr bwMode="auto">
          <a:xfrm>
            <a:off x="4765675" y="4203700"/>
            <a:ext cx="2673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packet being transmitted</a:t>
            </a:r>
          </a:p>
        </p:txBody>
      </p:sp>
      <p:sp>
        <p:nvSpPr>
          <p:cNvPr id="59412" name="Line 41"/>
          <p:cNvSpPr>
            <a:spLocks noChangeShapeType="1"/>
          </p:cNvSpPr>
          <p:nvPr/>
        </p:nvSpPr>
        <p:spPr bwMode="auto">
          <a:xfrm rot="10800000" flipV="1">
            <a:off x="4329113" y="4495800"/>
            <a:ext cx="681037" cy="565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3" name="Rectangle 56"/>
          <p:cNvSpPr>
            <a:spLocks noChangeArrowheads="1"/>
          </p:cNvSpPr>
          <p:nvPr/>
        </p:nvSpPr>
        <p:spPr bwMode="auto">
          <a:xfrm>
            <a:off x="3789363" y="50323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4" name="Rectangle 57"/>
          <p:cNvSpPr>
            <a:spLocks noChangeArrowheads="1"/>
          </p:cNvSpPr>
          <p:nvPr/>
        </p:nvSpPr>
        <p:spPr bwMode="auto">
          <a:xfrm>
            <a:off x="3627438" y="50323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5" name="Rectangle 58"/>
          <p:cNvSpPr>
            <a:spLocks noChangeArrowheads="1"/>
          </p:cNvSpPr>
          <p:nvPr/>
        </p:nvSpPr>
        <p:spPr bwMode="auto">
          <a:xfrm>
            <a:off x="3462338" y="50323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6" name="Rectangle 59"/>
          <p:cNvSpPr>
            <a:spLocks noChangeArrowheads="1"/>
          </p:cNvSpPr>
          <p:nvPr/>
        </p:nvSpPr>
        <p:spPr bwMode="auto">
          <a:xfrm>
            <a:off x="3298825" y="5032375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7" name="Rectangle 61"/>
          <p:cNvSpPr>
            <a:spLocks noChangeArrowheads="1"/>
          </p:cNvSpPr>
          <p:nvPr/>
        </p:nvSpPr>
        <p:spPr bwMode="auto">
          <a:xfrm>
            <a:off x="3133725" y="5033963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8" name="Rectangle 62"/>
          <p:cNvSpPr>
            <a:spLocks noChangeArrowheads="1"/>
          </p:cNvSpPr>
          <p:nvPr/>
        </p:nvSpPr>
        <p:spPr bwMode="auto">
          <a:xfrm>
            <a:off x="3105150" y="5010150"/>
            <a:ext cx="1171575" cy="242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9" name="Line 63"/>
          <p:cNvSpPr>
            <a:spLocks noChangeShapeType="1"/>
          </p:cNvSpPr>
          <p:nvPr/>
        </p:nvSpPr>
        <p:spPr bwMode="auto">
          <a:xfrm rot="10800000">
            <a:off x="3092450" y="5502275"/>
            <a:ext cx="687388" cy="33178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0" name="Text Box 64"/>
          <p:cNvSpPr txBox="1">
            <a:spLocks noChangeArrowheads="1"/>
          </p:cNvSpPr>
          <p:nvPr/>
        </p:nvSpPr>
        <p:spPr bwMode="auto">
          <a:xfrm>
            <a:off x="3708400" y="5661025"/>
            <a:ext cx="192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packet arriving to</a:t>
            </a:r>
          </a:p>
          <a:p>
            <a:r>
              <a:rPr lang="en-US" sz="1800">
                <a:solidFill>
                  <a:srgbClr val="CC0000"/>
                </a:solidFill>
              </a:rPr>
              <a:t>full buffer is </a:t>
            </a:r>
            <a:r>
              <a:rPr lang="en-US" sz="1800" i="1">
                <a:solidFill>
                  <a:srgbClr val="CC0000"/>
                </a:solidFill>
              </a:rPr>
              <a:t>lost</a:t>
            </a:r>
          </a:p>
        </p:txBody>
      </p:sp>
      <p:sp>
        <p:nvSpPr>
          <p:cNvPr id="59421" name="Text Box 65"/>
          <p:cNvSpPr txBox="1">
            <a:spLocks noChangeArrowheads="1"/>
          </p:cNvSpPr>
          <p:nvPr/>
        </p:nvSpPr>
        <p:spPr bwMode="auto">
          <a:xfrm>
            <a:off x="2981325" y="4022725"/>
            <a:ext cx="1568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800">
                <a:solidFill>
                  <a:srgbClr val="CC0000"/>
                </a:solidFill>
              </a:rPr>
              <a:t>buffer </a:t>
            </a:r>
          </a:p>
          <a:p>
            <a:pPr algn="ctr"/>
            <a:r>
              <a:rPr lang="en-US" sz="1800">
                <a:solidFill>
                  <a:srgbClr val="CC0000"/>
                </a:solidFill>
              </a:rPr>
              <a:t>(waiting area)</a:t>
            </a:r>
          </a:p>
        </p:txBody>
      </p:sp>
      <p:sp>
        <p:nvSpPr>
          <p:cNvPr id="59422" name="Line 66"/>
          <p:cNvSpPr>
            <a:spLocks noChangeShapeType="1"/>
          </p:cNvSpPr>
          <p:nvPr/>
        </p:nvSpPr>
        <p:spPr bwMode="auto">
          <a:xfrm>
            <a:off x="3238500" y="4630738"/>
            <a:ext cx="0" cy="3333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9423" name="Picture 4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1863"/>
            <a:ext cx="2913062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424" name="Group 48"/>
          <p:cNvGrpSpPr>
            <a:grpSpLocks/>
          </p:cNvGrpSpPr>
          <p:nvPr/>
        </p:nvGrpSpPr>
        <p:grpSpPr bwMode="auto">
          <a:xfrm>
            <a:off x="1593850" y="4314825"/>
            <a:ext cx="820738" cy="688975"/>
            <a:chOff x="-44" y="1473"/>
            <a:chExt cx="981" cy="1105"/>
          </a:xfrm>
        </p:grpSpPr>
        <p:pic>
          <p:nvPicPr>
            <p:cNvPr id="59430" name="Picture 49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31" name="Freeform 5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425" name="Group 51"/>
          <p:cNvGrpSpPr>
            <a:grpSpLocks/>
          </p:cNvGrpSpPr>
          <p:nvPr/>
        </p:nvGrpSpPr>
        <p:grpSpPr bwMode="auto">
          <a:xfrm>
            <a:off x="1922463" y="5305425"/>
            <a:ext cx="820737" cy="688975"/>
            <a:chOff x="-44" y="1473"/>
            <a:chExt cx="981" cy="1105"/>
          </a:xfrm>
        </p:grpSpPr>
        <p:pic>
          <p:nvPicPr>
            <p:cNvPr id="59428" name="Picture 52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29" name="Freeform 5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942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A2EEBD97-1F4C-49C2-AAD6-F7FF3FCBA1B8}" type="slidenum">
              <a:rPr lang="en-US" sz="1200" smtClean="0">
                <a:latin typeface="Tahoma" pitchFamily="34" charset="0"/>
              </a:rPr>
              <a:pPr/>
              <a:t>51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59427" name="TextBox 1"/>
          <p:cNvSpPr txBox="1">
            <a:spLocks noChangeArrowheads="1"/>
          </p:cNvSpPr>
          <p:nvPr/>
        </p:nvSpPr>
        <p:spPr bwMode="auto">
          <a:xfrm>
            <a:off x="461963" y="6402388"/>
            <a:ext cx="622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Check out the Java applet for an interactive animation on queuing and loss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60419" name="AutoShape 327"/>
          <p:cNvSpPr>
            <a:spLocks noChangeArrowheads="1"/>
          </p:cNvSpPr>
          <p:nvPr/>
        </p:nvSpPr>
        <p:spPr bwMode="auto">
          <a:xfrm>
            <a:off x="401638" y="3671888"/>
            <a:ext cx="500062" cy="581025"/>
          </a:xfrm>
          <a:prstGeom prst="can">
            <a:avLst>
              <a:gd name="adj" fmla="val 23491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grpSp>
        <p:nvGrpSpPr>
          <p:cNvPr id="60420" name="Group 64"/>
          <p:cNvGrpSpPr>
            <a:grpSpLocks/>
          </p:cNvGrpSpPr>
          <p:nvPr/>
        </p:nvGrpSpPr>
        <p:grpSpPr bwMode="auto">
          <a:xfrm>
            <a:off x="974725" y="4071938"/>
            <a:ext cx="352425" cy="876300"/>
            <a:chOff x="4140" y="429"/>
            <a:chExt cx="1425" cy="2396"/>
          </a:xfrm>
        </p:grpSpPr>
        <p:sp>
          <p:nvSpPr>
            <p:cNvPr id="60466" name="Freeform 6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67" name="Rectangle 66"/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68" name="Freeform 6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69" name="Freeform 6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70" name="Rectangle 69"/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0471" name="Group 7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0496" name="AutoShape 71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97" name="AutoShape 7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72" name="Rectangle 73"/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0473" name="Group 7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0494" name="AutoShape 75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95" name="AutoShape 76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74" name="Rectangle 77"/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75" name="Rectangle 78"/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0476" name="Group 7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0492" name="AutoShape 8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93" name="AutoShape 81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77" name="Freeform 8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478" name="Group 8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0490" name="AutoShape 84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91" name="AutoShape 85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79" name="Rectangle 86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0" name="Freeform 8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1" name="Freeform 8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2" name="Oval 89"/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3" name="Freeform 9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4" name="AutoShape 91"/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5" name="AutoShape 92"/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6" name="Oval 93"/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7" name="Oval 94"/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0488" name="Oval 95"/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9" name="Rectangle 96"/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0421" name="Group 61"/>
          <p:cNvGrpSpPr>
            <a:grpSpLocks/>
          </p:cNvGrpSpPr>
          <p:nvPr/>
        </p:nvGrpSpPr>
        <p:grpSpPr bwMode="auto">
          <a:xfrm flipH="1">
            <a:off x="7948613" y="4133850"/>
            <a:ext cx="1192212" cy="1171575"/>
            <a:chOff x="-44" y="1473"/>
            <a:chExt cx="981" cy="1105"/>
          </a:xfrm>
        </p:grpSpPr>
        <p:pic>
          <p:nvPicPr>
            <p:cNvPr id="60464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65" name="Freeform 6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04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7663" y="1143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Throughput</a:t>
            </a:r>
          </a:p>
        </p:txBody>
      </p:sp>
      <p:sp>
        <p:nvSpPr>
          <p:cNvPr id="604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9113" y="1447800"/>
            <a:ext cx="7772400" cy="1779588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throughput:</a:t>
            </a:r>
            <a:r>
              <a:rPr lang="en-US" smtClean="0">
                <a:ea typeface="ＭＳ Ｐゴシック" pitchFamily="34" charset="-128"/>
              </a:rPr>
              <a:t> rate (bits/time unit) at which bits transferred between sender/receiver</a:t>
            </a:r>
          </a:p>
          <a:p>
            <a:pPr lvl="1" eaLnBrk="1" hangingPunct="1"/>
            <a:r>
              <a:rPr lang="en-US" i="1" smtClean="0">
                <a:solidFill>
                  <a:srgbClr val="CC0000"/>
                </a:solidFill>
              </a:rPr>
              <a:t>instantaneous:</a:t>
            </a:r>
            <a:r>
              <a:rPr lang="en-US" smtClean="0"/>
              <a:t> rate at given point in time</a:t>
            </a:r>
          </a:p>
          <a:p>
            <a:pPr lvl="1" eaLnBrk="1" hangingPunct="1"/>
            <a:r>
              <a:rPr lang="en-US" i="1" smtClean="0">
                <a:solidFill>
                  <a:srgbClr val="CC0000"/>
                </a:solidFill>
              </a:rPr>
              <a:t>average:</a:t>
            </a:r>
            <a:r>
              <a:rPr lang="en-US" smtClean="0"/>
              <a:t> rate over longer period of time</a:t>
            </a:r>
          </a:p>
        </p:txBody>
      </p:sp>
      <p:sp>
        <p:nvSpPr>
          <p:cNvPr id="60424" name="Text Box 325"/>
          <p:cNvSpPr txBox="1">
            <a:spLocks noChangeArrowheads="1"/>
          </p:cNvSpPr>
          <p:nvPr/>
        </p:nvSpPr>
        <p:spPr bwMode="auto">
          <a:xfrm>
            <a:off x="368300" y="5043488"/>
            <a:ext cx="1874838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server, with</a:t>
            </a:r>
          </a:p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file of F bits </a:t>
            </a:r>
          </a:p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to send to client</a:t>
            </a:r>
          </a:p>
        </p:txBody>
      </p:sp>
      <p:sp>
        <p:nvSpPr>
          <p:cNvPr id="60425" name="Text Box 328"/>
          <p:cNvSpPr txBox="1">
            <a:spLocks noChangeArrowheads="1"/>
          </p:cNvSpPr>
          <p:nvPr/>
        </p:nvSpPr>
        <p:spPr bwMode="auto">
          <a:xfrm>
            <a:off x="2784475" y="5040313"/>
            <a:ext cx="14303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link capacity</a:t>
            </a:r>
          </a:p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 R</a:t>
            </a:r>
            <a:r>
              <a:rPr lang="en-US" sz="2800" baseline="-25000">
                <a:latin typeface="Gill Sans MT" pitchFamily="34" charset="0"/>
              </a:rPr>
              <a:t>s</a:t>
            </a:r>
            <a:r>
              <a:rPr lang="en-US" sz="2000" baseline="-25000">
                <a:latin typeface="Gill Sans MT" pitchFamily="34" charset="0"/>
              </a:rPr>
              <a:t> </a:t>
            </a:r>
            <a:r>
              <a:rPr lang="en-US" sz="2000">
                <a:latin typeface="Gill Sans MT" pitchFamily="34" charset="0"/>
              </a:rPr>
              <a:t>bits/sec</a:t>
            </a:r>
          </a:p>
        </p:txBody>
      </p:sp>
      <p:sp>
        <p:nvSpPr>
          <p:cNvPr id="60426" name="Text Box 329"/>
          <p:cNvSpPr txBox="1">
            <a:spLocks noChangeArrowheads="1"/>
          </p:cNvSpPr>
          <p:nvPr/>
        </p:nvSpPr>
        <p:spPr bwMode="auto">
          <a:xfrm>
            <a:off x="5653088" y="5048250"/>
            <a:ext cx="14303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link capacity</a:t>
            </a:r>
          </a:p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 R</a:t>
            </a:r>
            <a:r>
              <a:rPr lang="en-US" sz="2800" baseline="-25000">
                <a:latin typeface="Gill Sans MT" pitchFamily="34" charset="0"/>
              </a:rPr>
              <a:t>c</a:t>
            </a:r>
            <a:r>
              <a:rPr lang="en-US" sz="2000" baseline="-25000">
                <a:latin typeface="Gill Sans MT" pitchFamily="34" charset="0"/>
              </a:rPr>
              <a:t> </a:t>
            </a:r>
            <a:r>
              <a:rPr lang="en-US" sz="2000">
                <a:latin typeface="Gill Sans MT" pitchFamily="34" charset="0"/>
              </a:rPr>
              <a:t>bits/sec</a:t>
            </a:r>
          </a:p>
        </p:txBody>
      </p:sp>
      <p:sp>
        <p:nvSpPr>
          <p:cNvPr id="60427" name="Line 337"/>
          <p:cNvSpPr>
            <a:spLocks noChangeShapeType="1"/>
          </p:cNvSpPr>
          <p:nvPr/>
        </p:nvSpPr>
        <p:spPr bwMode="auto">
          <a:xfrm flipH="1" flipV="1">
            <a:off x="2997200" y="4806950"/>
            <a:ext cx="282575" cy="30321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8" name="Line 347"/>
          <p:cNvSpPr>
            <a:spLocks noChangeShapeType="1"/>
          </p:cNvSpPr>
          <p:nvPr/>
        </p:nvSpPr>
        <p:spPr bwMode="auto">
          <a:xfrm flipH="1" flipV="1">
            <a:off x="6119813" y="4876800"/>
            <a:ext cx="193675" cy="2032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9" name="Line 352"/>
          <p:cNvSpPr>
            <a:spLocks noChangeShapeType="1"/>
          </p:cNvSpPr>
          <p:nvPr/>
        </p:nvSpPr>
        <p:spPr bwMode="auto">
          <a:xfrm flipH="1">
            <a:off x="801688" y="4716463"/>
            <a:ext cx="11112" cy="4111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0" name="Line 321"/>
          <p:cNvSpPr>
            <a:spLocks noChangeShapeType="1"/>
          </p:cNvSpPr>
          <p:nvPr/>
        </p:nvSpPr>
        <p:spPr bwMode="auto">
          <a:xfrm>
            <a:off x="1441450" y="4530725"/>
            <a:ext cx="6316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1" name="Group 246"/>
          <p:cNvGrpSpPr>
            <a:grpSpLocks/>
          </p:cNvGrpSpPr>
          <p:nvPr/>
        </p:nvGrpSpPr>
        <p:grpSpPr bwMode="auto">
          <a:xfrm>
            <a:off x="3806825" y="4394200"/>
            <a:ext cx="1055688" cy="360363"/>
            <a:chOff x="3600" y="219"/>
            <a:chExt cx="360" cy="175"/>
          </a:xfrm>
        </p:grpSpPr>
        <p:sp>
          <p:nvSpPr>
            <p:cNvPr id="60451" name="Oval 24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0452" name="Line 24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53" name="Line 24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54" name="Rectangle 25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55" name="Oval 25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60456" name="Group 25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0461" name="Line 2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62" name="Line 2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63" name="Line 2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0457" name="Group 25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0458" name="Line 25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59" name="Line 25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60" name="Line 25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60432" name="AutoShape 350"/>
          <p:cNvSpPr>
            <a:spLocks noChangeArrowheads="1"/>
          </p:cNvSpPr>
          <p:nvPr/>
        </p:nvSpPr>
        <p:spPr bwMode="auto">
          <a:xfrm>
            <a:off x="7286625" y="4325938"/>
            <a:ext cx="889000" cy="485775"/>
          </a:xfrm>
          <a:prstGeom prst="rightArrow">
            <a:avLst>
              <a:gd name="adj1" fmla="val 50000"/>
              <a:gd name="adj2" fmla="val 45752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grpSp>
        <p:nvGrpSpPr>
          <p:cNvPr id="60433" name="Group 335"/>
          <p:cNvGrpSpPr>
            <a:grpSpLocks/>
          </p:cNvGrpSpPr>
          <p:nvPr/>
        </p:nvGrpSpPr>
        <p:grpSpPr bwMode="auto">
          <a:xfrm>
            <a:off x="1404938" y="4360863"/>
            <a:ext cx="2322512" cy="392112"/>
            <a:chOff x="2249" y="3430"/>
            <a:chExt cx="1389" cy="256"/>
          </a:xfrm>
        </p:grpSpPr>
        <p:sp>
          <p:nvSpPr>
            <p:cNvPr id="255309" name="Oval 333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5308" name="Rectangle 332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449" name="Oval 331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55310" name="Rectangle 334"/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0434" name="Group 341"/>
          <p:cNvGrpSpPr>
            <a:grpSpLocks/>
          </p:cNvGrpSpPr>
          <p:nvPr/>
        </p:nvGrpSpPr>
        <p:grpSpPr bwMode="auto">
          <a:xfrm>
            <a:off x="4910138" y="4248150"/>
            <a:ext cx="2801937" cy="581025"/>
            <a:chOff x="2249" y="3430"/>
            <a:chExt cx="1389" cy="256"/>
          </a:xfrm>
        </p:grpSpPr>
        <p:sp>
          <p:nvSpPr>
            <p:cNvPr id="255318" name="Oval 342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5319" name="Rectangle 343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445" name="Oval 344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55321" name="Rectangle 345"/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3" name="Group 99"/>
          <p:cNvGrpSpPr>
            <a:grpSpLocks/>
          </p:cNvGrpSpPr>
          <p:nvPr/>
        </p:nvGrpSpPr>
        <p:grpSpPr bwMode="auto">
          <a:xfrm>
            <a:off x="239713" y="5111750"/>
            <a:ext cx="8235950" cy="896938"/>
            <a:chOff x="0" y="3803"/>
            <a:chExt cx="5188" cy="565"/>
          </a:xfrm>
        </p:grpSpPr>
        <p:sp>
          <p:nvSpPr>
            <p:cNvPr id="60440" name="Text Box 353"/>
            <p:cNvSpPr txBox="1">
              <a:spLocks noChangeArrowheads="1"/>
            </p:cNvSpPr>
            <p:nvPr/>
          </p:nvSpPr>
          <p:spPr bwMode="auto">
            <a:xfrm>
              <a:off x="0" y="3821"/>
              <a:ext cx="1461" cy="5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server sends bits 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(fluid) into pipe</a:t>
              </a:r>
            </a:p>
            <a:p>
              <a:pPr algn="ctr">
                <a:lnSpc>
                  <a:spcPct val="85000"/>
                </a:lnSpc>
              </a:pPr>
              <a:endParaRPr lang="en-US" sz="2000">
                <a:latin typeface="Gill Sans MT" pitchFamily="34" charset="0"/>
              </a:endParaRPr>
            </a:p>
          </p:txBody>
        </p:sp>
        <p:sp>
          <p:nvSpPr>
            <p:cNvPr id="60441" name="Text Box 336"/>
            <p:cNvSpPr txBox="1">
              <a:spLocks noChangeArrowheads="1"/>
            </p:cNvSpPr>
            <p:nvPr/>
          </p:nvSpPr>
          <p:spPr bwMode="auto">
            <a:xfrm>
              <a:off x="1573" y="3803"/>
              <a:ext cx="1769" cy="5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 pipe that can carry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fluid at rate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 R</a:t>
              </a:r>
              <a:r>
                <a:rPr lang="en-US" sz="2800" baseline="-25000">
                  <a:latin typeface="Gill Sans MT" pitchFamily="34" charset="0"/>
                </a:rPr>
                <a:t>s</a:t>
              </a:r>
              <a:r>
                <a:rPr lang="en-US" sz="2000" baseline="-25000">
                  <a:latin typeface="Gill Sans MT" pitchFamily="34" charset="0"/>
                </a:rPr>
                <a:t> </a:t>
              </a:r>
              <a:r>
                <a:rPr lang="en-US" sz="2000">
                  <a:latin typeface="Gill Sans MT" pitchFamily="34" charset="0"/>
                </a:rPr>
                <a:t>bits/sec)</a:t>
              </a:r>
            </a:p>
          </p:txBody>
        </p:sp>
        <p:sp>
          <p:nvSpPr>
            <p:cNvPr id="60442" name="Text Box 346"/>
            <p:cNvSpPr txBox="1">
              <a:spLocks noChangeArrowheads="1"/>
            </p:cNvSpPr>
            <p:nvPr/>
          </p:nvSpPr>
          <p:spPr bwMode="auto">
            <a:xfrm>
              <a:off x="3328" y="3812"/>
              <a:ext cx="1860" cy="5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 pipe that can carry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fluid at rate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 R</a:t>
              </a:r>
              <a:r>
                <a:rPr lang="en-US" sz="2800" baseline="-25000">
                  <a:latin typeface="Gill Sans MT" pitchFamily="34" charset="0"/>
                </a:rPr>
                <a:t>c</a:t>
              </a:r>
              <a:r>
                <a:rPr lang="en-US" sz="2000" baseline="-25000">
                  <a:latin typeface="Gill Sans MT" pitchFamily="34" charset="0"/>
                </a:rPr>
                <a:t> </a:t>
              </a:r>
              <a:r>
                <a:rPr lang="en-US" sz="2000">
                  <a:latin typeface="Gill Sans MT" pitchFamily="34" charset="0"/>
                </a:rPr>
                <a:t>bits/sec)</a:t>
              </a:r>
            </a:p>
          </p:txBody>
        </p:sp>
      </p:grpSp>
      <p:pic>
        <p:nvPicPr>
          <p:cNvPr id="60436" name="Picture 6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1863"/>
            <a:ext cx="2913062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37" name="AutoShape 351"/>
          <p:cNvSpPr>
            <a:spLocks noChangeArrowheads="1"/>
          </p:cNvSpPr>
          <p:nvPr/>
        </p:nvSpPr>
        <p:spPr bwMode="auto">
          <a:xfrm>
            <a:off x="3732213" y="4308475"/>
            <a:ext cx="1279525" cy="485775"/>
          </a:xfrm>
          <a:prstGeom prst="rightArrow">
            <a:avLst>
              <a:gd name="adj1" fmla="val 50000"/>
              <a:gd name="adj2" fmla="val 6585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0438" name="AutoShape 349"/>
          <p:cNvSpPr>
            <a:spLocks noChangeArrowheads="1"/>
          </p:cNvSpPr>
          <p:nvPr/>
        </p:nvSpPr>
        <p:spPr bwMode="auto">
          <a:xfrm flipV="1">
            <a:off x="508000" y="4064000"/>
            <a:ext cx="974725" cy="7207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6043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2C60B48-A901-4B41-81E9-8F7741A1F02A}" type="slidenum">
              <a:rPr lang="en-US" sz="1200" smtClean="0">
                <a:latin typeface="Tahoma" pitchFamily="34" charset="0"/>
              </a:rPr>
              <a:pPr/>
              <a:t>52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1443" name="Picture 208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921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444" name="Group 140"/>
          <p:cNvGrpSpPr>
            <a:grpSpLocks/>
          </p:cNvGrpSpPr>
          <p:nvPr/>
        </p:nvGrpSpPr>
        <p:grpSpPr bwMode="auto">
          <a:xfrm>
            <a:off x="1614488" y="2254250"/>
            <a:ext cx="352425" cy="876300"/>
            <a:chOff x="4140" y="429"/>
            <a:chExt cx="1425" cy="2396"/>
          </a:xfrm>
        </p:grpSpPr>
        <p:sp>
          <p:nvSpPr>
            <p:cNvPr id="61555" name="Freeform 14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6" name="Rectangle 142"/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57" name="Freeform 14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8" name="Freeform 14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9" name="Rectangle 145"/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560" name="Group 14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1585" name="AutoShape 147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86" name="AutoShape 148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561" name="Rectangle 149"/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562" name="Group 15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1583" name="AutoShape 151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84" name="AutoShape 152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563" name="Rectangle 153"/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64" name="Rectangle 154"/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565" name="Group 15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581" name="AutoShape 15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82" name="AutoShape 157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566" name="Freeform 15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567" name="Group 15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579" name="AutoShape 160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80" name="AutoShape 161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568" name="Rectangle 162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69" name="Freeform 16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0" name="Freeform 16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1" name="Oval 165"/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2" name="Freeform 16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3" name="AutoShape 167"/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4" name="AutoShape 168"/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5" name="Oval 169"/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6" name="Oval 170"/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1577" name="Oval 171"/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8" name="Rectangle 172"/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4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00013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Throughput (more)</a:t>
            </a:r>
          </a:p>
        </p:txBody>
      </p:sp>
      <p:sp>
        <p:nvSpPr>
          <p:cNvPr id="6144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19113" y="1447800"/>
            <a:ext cx="8150225" cy="554038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R</a:t>
            </a:r>
            <a:r>
              <a:rPr lang="en-US" i="1" baseline="-25000" smtClean="0">
                <a:solidFill>
                  <a:srgbClr val="CC0000"/>
                </a:solidFill>
                <a:ea typeface="ＭＳ Ｐゴシック" pitchFamily="34" charset="-128"/>
              </a:rPr>
              <a:t>s</a:t>
            </a: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 &lt; R</a:t>
            </a:r>
            <a:r>
              <a:rPr lang="en-US" i="1" baseline="-25000" smtClean="0">
                <a:solidFill>
                  <a:srgbClr val="CC0000"/>
                </a:solidFill>
                <a:ea typeface="ＭＳ Ｐゴシック" pitchFamily="34" charset="-128"/>
              </a:rPr>
              <a:t>c</a:t>
            </a:r>
            <a:r>
              <a:rPr lang="en-US" i="1" smtClean="0">
                <a:solidFill>
                  <a:srgbClr val="FF3300"/>
                </a:solidFill>
                <a:ea typeface="ＭＳ Ｐゴシック" pitchFamily="34" charset="-128"/>
              </a:rPr>
              <a:t>  </a:t>
            </a:r>
            <a:r>
              <a:rPr lang="en-US" smtClean="0">
                <a:ea typeface="ＭＳ Ｐゴシック" pitchFamily="34" charset="-128"/>
              </a:rPr>
              <a:t>What is average end-end throughput?</a:t>
            </a:r>
          </a:p>
        </p:txBody>
      </p:sp>
      <p:grpSp>
        <p:nvGrpSpPr>
          <p:cNvPr id="61447" name="Group 34"/>
          <p:cNvGrpSpPr>
            <a:grpSpLocks/>
          </p:cNvGrpSpPr>
          <p:nvPr/>
        </p:nvGrpSpPr>
        <p:grpSpPr bwMode="auto">
          <a:xfrm>
            <a:off x="2066925" y="2606675"/>
            <a:ext cx="2136775" cy="307975"/>
            <a:chOff x="2249" y="3430"/>
            <a:chExt cx="1389" cy="256"/>
          </a:xfrm>
        </p:grpSpPr>
        <p:sp>
          <p:nvSpPr>
            <p:cNvPr id="256035" name="Oval 35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6036" name="Rectangle 36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553" name="Oval 37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8" name="Rectangle 38"/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61448" name="Text Box 39"/>
          <p:cNvSpPr txBox="1">
            <a:spLocks noChangeArrowheads="1"/>
          </p:cNvSpPr>
          <p:nvPr/>
        </p:nvSpPr>
        <p:spPr bwMode="auto">
          <a:xfrm>
            <a:off x="1855788" y="2562225"/>
            <a:ext cx="2586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  R</a:t>
            </a:r>
            <a:r>
              <a:rPr lang="en-US" sz="2800" baseline="-25000"/>
              <a:t>s</a:t>
            </a:r>
            <a:r>
              <a:rPr lang="en-US" sz="2000" baseline="-25000"/>
              <a:t> </a:t>
            </a:r>
            <a:r>
              <a:rPr lang="en-US" sz="2000"/>
              <a:t>bits/sec</a:t>
            </a:r>
          </a:p>
        </p:txBody>
      </p:sp>
      <p:sp>
        <p:nvSpPr>
          <p:cNvPr id="61449" name="AutoShape 42"/>
          <p:cNvSpPr>
            <a:spLocks noChangeArrowheads="1"/>
          </p:cNvSpPr>
          <p:nvPr/>
        </p:nvSpPr>
        <p:spPr bwMode="auto">
          <a:xfrm flipV="1">
            <a:off x="1255713" y="2374900"/>
            <a:ext cx="895350" cy="5651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61450" name="AutoShape 43"/>
          <p:cNvSpPr>
            <a:spLocks noChangeArrowheads="1"/>
          </p:cNvSpPr>
          <p:nvPr/>
        </p:nvSpPr>
        <p:spPr bwMode="auto">
          <a:xfrm>
            <a:off x="7489825" y="2581275"/>
            <a:ext cx="817563" cy="379413"/>
          </a:xfrm>
          <a:prstGeom prst="rightArrow">
            <a:avLst>
              <a:gd name="adj1" fmla="val 50000"/>
              <a:gd name="adj2" fmla="val 5387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451" name="Group 54"/>
          <p:cNvGrpSpPr>
            <a:grpSpLocks/>
          </p:cNvGrpSpPr>
          <p:nvPr/>
        </p:nvGrpSpPr>
        <p:grpSpPr bwMode="auto">
          <a:xfrm>
            <a:off x="5440363" y="2473325"/>
            <a:ext cx="2790825" cy="569913"/>
            <a:chOff x="3130" y="3069"/>
            <a:chExt cx="1911" cy="366"/>
          </a:xfrm>
        </p:grpSpPr>
        <p:grpSp>
          <p:nvGrpSpPr>
            <p:cNvPr id="61545" name="Group 45"/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256046" name="Oval 46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56047" name="Rectangle 47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9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1549" name="Oval 48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9" name="Rectangle 49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61546" name="Text Box 50"/>
            <p:cNvSpPr txBox="1">
              <a:spLocks noChangeArrowheads="1"/>
            </p:cNvSpPr>
            <p:nvPr/>
          </p:nvSpPr>
          <p:spPr bwMode="auto">
            <a:xfrm>
              <a:off x="3181" y="3135"/>
              <a:ext cx="186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/>
                <a:t>R</a:t>
              </a:r>
              <a:r>
                <a:rPr lang="en-US" sz="2800" baseline="-25000"/>
                <a:t>c</a:t>
              </a:r>
              <a:r>
                <a:rPr lang="en-US" sz="2000" baseline="-25000"/>
                <a:t> </a:t>
              </a:r>
              <a:r>
                <a:rPr lang="en-US" sz="2000"/>
                <a:t>bits/sec</a:t>
              </a:r>
            </a:p>
          </p:txBody>
        </p:sp>
      </p:grpSp>
      <p:grpSp>
        <p:nvGrpSpPr>
          <p:cNvPr id="61452" name="Group 5"/>
          <p:cNvGrpSpPr>
            <a:grpSpLocks/>
          </p:cNvGrpSpPr>
          <p:nvPr/>
        </p:nvGrpSpPr>
        <p:grpSpPr bwMode="auto">
          <a:xfrm>
            <a:off x="4289425" y="2633663"/>
            <a:ext cx="971550" cy="282575"/>
            <a:chOff x="3600" y="219"/>
            <a:chExt cx="360" cy="175"/>
          </a:xfrm>
        </p:grpSpPr>
        <p:sp>
          <p:nvSpPr>
            <p:cNvPr id="61532" name="Oval 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3" name="Line 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4" name="Line 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5" name="Rectangle 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61536" name="Oval 1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537" name="Group 1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1542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3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4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538" name="Group 1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1539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0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1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5623" name="Rectangle 56"/>
          <p:cNvSpPr>
            <a:spLocks noChangeArrowheads="1"/>
          </p:cNvSpPr>
          <p:nvPr/>
        </p:nvSpPr>
        <p:spPr bwMode="auto">
          <a:xfrm>
            <a:off x="555625" y="3330575"/>
            <a:ext cx="8062913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R</a:t>
            </a:r>
            <a:r>
              <a:rPr lang="en-US" sz="2800" i="1" baseline="-25000">
                <a:solidFill>
                  <a:srgbClr val="CC0000"/>
                </a:solidFill>
                <a:latin typeface="Gill Sans MT" pitchFamily="34" charset="0"/>
              </a:rPr>
              <a:t>s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 &gt; R</a:t>
            </a:r>
            <a:r>
              <a:rPr lang="en-US" sz="2800" i="1" baseline="-25000">
                <a:solidFill>
                  <a:srgbClr val="CC0000"/>
                </a:solidFill>
                <a:latin typeface="Gill Sans MT" pitchFamily="34" charset="0"/>
              </a:rPr>
              <a:t>c</a:t>
            </a:r>
            <a:r>
              <a:rPr lang="en-US" sz="2800" i="1">
                <a:solidFill>
                  <a:srgbClr val="FF3300"/>
                </a:solidFill>
                <a:latin typeface="Gill Sans MT" pitchFamily="34" charset="0"/>
              </a:rPr>
              <a:t>  </a:t>
            </a:r>
            <a:r>
              <a:rPr lang="en-US" sz="2800">
                <a:latin typeface="Gill Sans MT" pitchFamily="34" charset="0"/>
              </a:rPr>
              <a:t>What is average end-end throughput?</a:t>
            </a:r>
          </a:p>
        </p:txBody>
      </p:sp>
      <p:grpSp>
        <p:nvGrpSpPr>
          <p:cNvPr id="13" name="Group 209"/>
          <p:cNvGrpSpPr>
            <a:grpSpLocks/>
          </p:cNvGrpSpPr>
          <p:nvPr/>
        </p:nvGrpSpPr>
        <p:grpSpPr bwMode="auto">
          <a:xfrm>
            <a:off x="295275" y="5167313"/>
            <a:ext cx="8577263" cy="1211262"/>
            <a:chOff x="186" y="3255"/>
            <a:chExt cx="5403" cy="763"/>
          </a:xfrm>
        </p:grpSpPr>
        <p:sp>
          <p:nvSpPr>
            <p:cNvPr id="61529" name="Rectangle 102"/>
            <p:cNvSpPr>
              <a:spLocks noChangeArrowheads="1"/>
            </p:cNvSpPr>
            <p:nvPr/>
          </p:nvSpPr>
          <p:spPr bwMode="auto">
            <a:xfrm>
              <a:off x="186" y="3378"/>
              <a:ext cx="5403" cy="6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61530" name="Text Box 101"/>
            <p:cNvSpPr txBox="1">
              <a:spLocks noChangeArrowheads="1"/>
            </p:cNvSpPr>
            <p:nvPr/>
          </p:nvSpPr>
          <p:spPr bwMode="auto">
            <a:xfrm>
              <a:off x="231" y="3549"/>
              <a:ext cx="5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latin typeface="Gill Sans MT" pitchFamily="34" charset="0"/>
                </a:rPr>
                <a:t>link on end-end path that constrains  end-end throughput</a:t>
              </a:r>
            </a:p>
          </p:txBody>
        </p:sp>
        <p:sp>
          <p:nvSpPr>
            <p:cNvPr id="61531" name="Text Box 104"/>
            <p:cNvSpPr txBox="1">
              <a:spLocks noChangeArrowheads="1"/>
            </p:cNvSpPr>
            <p:nvPr/>
          </p:nvSpPr>
          <p:spPr bwMode="auto">
            <a:xfrm>
              <a:off x="466" y="3255"/>
              <a:ext cx="1403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800" i="1">
                  <a:solidFill>
                    <a:srgbClr val="CC0000"/>
                  </a:solidFill>
                  <a:latin typeface="Gill Sans MT" pitchFamily="34" charset="0"/>
                </a:rPr>
                <a:t>bottleneck link</a:t>
              </a:r>
            </a:p>
          </p:txBody>
        </p:sp>
      </p:grpSp>
      <p:sp>
        <p:nvSpPr>
          <p:cNvPr id="61455" name="AutoShape 51"/>
          <p:cNvSpPr>
            <a:spLocks noChangeArrowheads="1"/>
          </p:cNvSpPr>
          <p:nvPr/>
        </p:nvSpPr>
        <p:spPr bwMode="auto">
          <a:xfrm>
            <a:off x="4205288" y="2574925"/>
            <a:ext cx="1365250" cy="381000"/>
          </a:xfrm>
          <a:prstGeom prst="rightArrow">
            <a:avLst>
              <a:gd name="adj1" fmla="val 50000"/>
              <a:gd name="adj2" fmla="val 89583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456" name="Group 132"/>
          <p:cNvGrpSpPr>
            <a:grpSpLocks/>
          </p:cNvGrpSpPr>
          <p:nvPr/>
        </p:nvGrpSpPr>
        <p:grpSpPr bwMode="auto">
          <a:xfrm flipH="1">
            <a:off x="8232775" y="2420938"/>
            <a:ext cx="871538" cy="885825"/>
            <a:chOff x="-44" y="1473"/>
            <a:chExt cx="981" cy="1105"/>
          </a:xfrm>
        </p:grpSpPr>
        <p:pic>
          <p:nvPicPr>
            <p:cNvPr id="61527" name="Picture 13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28" name="Freeform 13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1457" name="AutoShape 327"/>
          <p:cNvSpPr>
            <a:spLocks noChangeArrowheads="1"/>
          </p:cNvSpPr>
          <p:nvPr/>
        </p:nvSpPr>
        <p:spPr bwMode="auto">
          <a:xfrm>
            <a:off x="1168400" y="2117725"/>
            <a:ext cx="407988" cy="431800"/>
          </a:xfrm>
          <a:prstGeom prst="can">
            <a:avLst>
              <a:gd name="adj" fmla="val 2139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206"/>
          <p:cNvGrpSpPr>
            <a:grpSpLocks/>
          </p:cNvGrpSpPr>
          <p:nvPr/>
        </p:nvGrpSpPr>
        <p:grpSpPr bwMode="auto">
          <a:xfrm>
            <a:off x="1230313" y="3927475"/>
            <a:ext cx="7935912" cy="1166813"/>
            <a:chOff x="775" y="2474"/>
            <a:chExt cx="4999" cy="735"/>
          </a:xfrm>
        </p:grpSpPr>
        <p:grpSp>
          <p:nvGrpSpPr>
            <p:cNvPr id="61460" name="Group 173"/>
            <p:cNvGrpSpPr>
              <a:grpSpLocks/>
            </p:cNvGrpSpPr>
            <p:nvPr/>
          </p:nvGrpSpPr>
          <p:grpSpPr bwMode="auto"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61495" name="Freeform 17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96" name="Rectangle 175"/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97" name="Freeform 17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98" name="Freeform 17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99" name="Rectangle 178"/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1500" name="Group 17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1525" name="AutoShape 180"/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526" name="AutoShape 181"/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89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501" name="Rectangle 182"/>
              <p:cNvSpPr>
                <a:spLocks noChangeArrowheads="1"/>
              </p:cNvSpPr>
              <p:nvPr/>
            </p:nvSpPr>
            <p:spPr bwMode="auto">
              <a:xfrm>
                <a:off x="4223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1502" name="Group 18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1523" name="AutoShape 184"/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524" name="AutoShape 185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503" name="Rectangle 186"/>
              <p:cNvSpPr>
                <a:spLocks noChangeArrowheads="1"/>
              </p:cNvSpPr>
              <p:nvPr/>
            </p:nvSpPr>
            <p:spPr bwMode="auto">
              <a:xfrm>
                <a:off x="4217" y="1358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04" name="Rectangle 187"/>
              <p:cNvSpPr>
                <a:spLocks noChangeArrowheads="1"/>
              </p:cNvSpPr>
              <p:nvPr/>
            </p:nvSpPr>
            <p:spPr bwMode="auto">
              <a:xfrm>
                <a:off x="4230" y="1653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1505" name="Group 18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521" name="AutoShape 189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522" name="AutoShape 190"/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506" name="Freeform 19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1507" name="Group 19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1519" name="AutoShape 193"/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28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520" name="AutoShape 194"/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508" name="Rectangle 195"/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09" name="Freeform 19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10" name="Freeform 19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11" name="Oval 198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2" name="Freeform 19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13" name="AutoShape 200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0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4" name="AutoShape 201"/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5" name="Oval 202"/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6" name="Oval 203"/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61517" name="Oval 204"/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8" name="Rectangle 205"/>
              <p:cNvSpPr>
                <a:spLocks noChangeArrowheads="1"/>
              </p:cNvSpPr>
              <p:nvPr/>
            </p:nvSpPr>
            <p:spPr bwMode="auto"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461" name="Line 57"/>
            <p:cNvSpPr>
              <a:spLocks noChangeShapeType="1"/>
            </p:cNvSpPr>
            <p:nvPr/>
          </p:nvSpPr>
          <p:spPr bwMode="auto">
            <a:xfrm>
              <a:off x="1354" y="2913"/>
              <a:ext cx="36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462" name="Group 58"/>
            <p:cNvGrpSpPr>
              <a:grpSpLocks/>
            </p:cNvGrpSpPr>
            <p:nvPr/>
          </p:nvGrpSpPr>
          <p:grpSpPr bwMode="auto">
            <a:xfrm>
              <a:off x="2725" y="2845"/>
              <a:ext cx="612" cy="178"/>
              <a:chOff x="3600" y="219"/>
              <a:chExt cx="360" cy="175"/>
            </a:xfrm>
          </p:grpSpPr>
          <p:sp>
            <p:nvSpPr>
              <p:cNvPr id="61482" name="Oval 5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83" name="Line 6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84" name="Line 6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85" name="Rectangle 6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61486" name="Oval 6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1487" name="Group 6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1492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493" name="Line 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494" name="Line 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1488" name="Group 6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1489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490" name="Line 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491" name="Line 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61463" name="AutoShape 90"/>
            <p:cNvSpPr>
              <a:spLocks noChangeArrowheads="1"/>
            </p:cNvSpPr>
            <p:nvPr/>
          </p:nvSpPr>
          <p:spPr bwMode="auto">
            <a:xfrm>
              <a:off x="4741" y="2812"/>
              <a:ext cx="515" cy="239"/>
            </a:xfrm>
            <a:prstGeom prst="rightArrow">
              <a:avLst>
                <a:gd name="adj1" fmla="val 50000"/>
                <a:gd name="adj2" fmla="val 538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464" name="Group 92"/>
            <p:cNvGrpSpPr>
              <a:grpSpLocks/>
            </p:cNvGrpSpPr>
            <p:nvPr/>
          </p:nvGrpSpPr>
          <p:grpSpPr bwMode="auto">
            <a:xfrm>
              <a:off x="1328" y="2707"/>
              <a:ext cx="1347" cy="359"/>
              <a:chOff x="2249" y="3430"/>
              <a:chExt cx="1389" cy="256"/>
            </a:xfrm>
          </p:grpSpPr>
          <p:sp>
            <p:nvSpPr>
              <p:cNvPr id="256093" name="Oval 9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56094" name="Rectangle 94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1480" name="Oval 95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6" name="Rectangle 96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61465" name="Text Box 97"/>
            <p:cNvSpPr txBox="1">
              <a:spLocks noChangeArrowheads="1"/>
            </p:cNvSpPr>
            <p:nvPr/>
          </p:nvSpPr>
          <p:spPr bwMode="auto">
            <a:xfrm>
              <a:off x="1313" y="2781"/>
              <a:ext cx="1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/>
                <a:t>R</a:t>
              </a:r>
              <a:r>
                <a:rPr lang="en-US" sz="2800" baseline="-25000"/>
                <a:t>s</a:t>
              </a:r>
              <a:r>
                <a:rPr lang="en-US" sz="2000" baseline="-25000"/>
                <a:t> </a:t>
              </a:r>
              <a:r>
                <a:rPr lang="en-US" sz="2000"/>
                <a:t>bits/sec</a:t>
              </a:r>
            </a:p>
          </p:txBody>
        </p:sp>
        <p:grpSp>
          <p:nvGrpSpPr>
            <p:cNvPr id="61466" name="Group 83"/>
            <p:cNvGrpSpPr>
              <a:grpSpLocks/>
            </p:cNvGrpSpPr>
            <p:nvPr/>
          </p:nvGrpSpPr>
          <p:grpSpPr bwMode="auto"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256084" name="Oval 84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56085" name="Rectangle 85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1476" name="Oval 86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7" name="Rectangle 87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61467" name="Text Box 88"/>
            <p:cNvSpPr txBox="1">
              <a:spLocks noChangeArrowheads="1"/>
            </p:cNvSpPr>
            <p:nvPr/>
          </p:nvSpPr>
          <p:spPr bwMode="auto">
            <a:xfrm>
              <a:off x="3475" y="2800"/>
              <a:ext cx="16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/>
                <a:t>  R</a:t>
              </a:r>
              <a:r>
                <a:rPr lang="en-US" sz="2800" baseline="-25000"/>
                <a:t>c</a:t>
              </a:r>
              <a:r>
                <a:rPr lang="en-US" sz="2000" baseline="-25000"/>
                <a:t> </a:t>
              </a:r>
              <a:r>
                <a:rPr lang="en-US" sz="2000"/>
                <a:t>bits/sec</a:t>
              </a:r>
            </a:p>
          </p:txBody>
        </p:sp>
        <p:sp>
          <p:nvSpPr>
            <p:cNvPr id="61468" name="AutoShape 98"/>
            <p:cNvSpPr>
              <a:spLocks noChangeArrowheads="1"/>
            </p:cNvSpPr>
            <p:nvPr/>
          </p:nvSpPr>
          <p:spPr bwMode="auto">
            <a:xfrm>
              <a:off x="2668" y="2808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9" name="AutoShape 89"/>
            <p:cNvSpPr>
              <a:spLocks noChangeArrowheads="1"/>
            </p:cNvSpPr>
            <p:nvPr/>
          </p:nvSpPr>
          <p:spPr bwMode="auto">
            <a:xfrm flipV="1">
              <a:off x="814" y="2682"/>
              <a:ext cx="564" cy="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en-US"/>
            </a:p>
          </p:txBody>
        </p:sp>
        <p:grpSp>
          <p:nvGrpSpPr>
            <p:cNvPr id="61470" name="Group 135"/>
            <p:cNvGrpSpPr>
              <a:grpSpLocks/>
            </p:cNvGrpSpPr>
            <p:nvPr/>
          </p:nvGrpSpPr>
          <p:grpSpPr bwMode="auto">
            <a:xfrm flipH="1">
              <a:off x="5225" y="2651"/>
              <a:ext cx="549" cy="558"/>
              <a:chOff x="-44" y="1473"/>
              <a:chExt cx="981" cy="1105"/>
            </a:xfrm>
          </p:grpSpPr>
          <p:pic>
            <p:nvPicPr>
              <p:cNvPr id="61472" name="Picture 13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473" name="Freeform 13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61471" name="AutoShape 327"/>
            <p:cNvSpPr>
              <a:spLocks noChangeArrowheads="1"/>
            </p:cNvSpPr>
            <p:nvPr/>
          </p:nvSpPr>
          <p:spPr bwMode="auto">
            <a:xfrm>
              <a:off x="775" y="2474"/>
              <a:ext cx="257" cy="272"/>
            </a:xfrm>
            <a:prstGeom prst="can">
              <a:avLst>
                <a:gd name="adj" fmla="val 21398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A53ED79-AB0C-49D1-A304-685A7D9641A6}" type="slidenum">
              <a:rPr lang="en-US" sz="1200" smtClean="0">
                <a:latin typeface="Tahoma" pitchFamily="34" charset="0"/>
              </a:rPr>
              <a:pPr/>
              <a:t>53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25413"/>
            <a:ext cx="7772400" cy="903287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Throughput: Internet scenario</a:t>
            </a:r>
          </a:p>
        </p:txBody>
      </p:sp>
      <p:sp>
        <p:nvSpPr>
          <p:cNvPr id="62468" name="Text Box 44"/>
          <p:cNvSpPr txBox="1">
            <a:spLocks noChangeArrowheads="1"/>
          </p:cNvSpPr>
          <p:nvPr/>
        </p:nvSpPr>
        <p:spPr bwMode="auto">
          <a:xfrm>
            <a:off x="4384675" y="5672138"/>
            <a:ext cx="44640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10 connections (fairly) share backbone bottleneck link R</a:t>
            </a:r>
            <a:r>
              <a:rPr lang="en-US" sz="2000" baseline="-25000"/>
              <a:t> </a:t>
            </a:r>
            <a:r>
              <a:rPr lang="en-US" sz="2000"/>
              <a:t>bits/sec</a:t>
            </a:r>
          </a:p>
        </p:txBody>
      </p:sp>
      <p:sp>
        <p:nvSpPr>
          <p:cNvPr id="62469" name="Freeform 296"/>
          <p:cNvSpPr>
            <a:spLocks/>
          </p:cNvSpPr>
          <p:nvPr/>
        </p:nvSpPr>
        <p:spPr bwMode="auto">
          <a:xfrm>
            <a:off x="4883150" y="2720975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Text Box 35"/>
          <p:cNvSpPr txBox="1">
            <a:spLocks noChangeArrowheads="1"/>
          </p:cNvSpPr>
          <p:nvPr/>
        </p:nvSpPr>
        <p:spPr bwMode="auto">
          <a:xfrm>
            <a:off x="4746625" y="2344738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s</a:t>
            </a:r>
            <a:endParaRPr lang="en-US" sz="2000"/>
          </a:p>
        </p:txBody>
      </p:sp>
      <p:sp>
        <p:nvSpPr>
          <p:cNvPr id="257064" name="Oval 40"/>
          <p:cNvSpPr>
            <a:spLocks noChangeArrowheads="1"/>
          </p:cNvSpPr>
          <p:nvPr/>
        </p:nvSpPr>
        <p:spPr bwMode="auto">
          <a:xfrm rot="5400000">
            <a:off x="6611144" y="3772694"/>
            <a:ext cx="50800" cy="525462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065" name="Rectangle 41"/>
          <p:cNvSpPr>
            <a:spLocks noChangeArrowheads="1"/>
          </p:cNvSpPr>
          <p:nvPr/>
        </p:nvSpPr>
        <p:spPr bwMode="auto">
          <a:xfrm rot="5400000">
            <a:off x="6144419" y="3278982"/>
            <a:ext cx="984250" cy="52546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73" name="Oval 42"/>
          <p:cNvSpPr>
            <a:spLocks noChangeArrowheads="1"/>
          </p:cNvSpPr>
          <p:nvPr/>
        </p:nvSpPr>
        <p:spPr bwMode="auto">
          <a:xfrm rot="5400000">
            <a:off x="6615113" y="2794000"/>
            <a:ext cx="52387" cy="525463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067" name="Rectangle 43"/>
          <p:cNvSpPr>
            <a:spLocks noChangeArrowheads="1"/>
          </p:cNvSpPr>
          <p:nvPr/>
        </p:nvSpPr>
        <p:spPr bwMode="auto">
          <a:xfrm rot="5400000">
            <a:off x="6615113" y="3765550"/>
            <a:ext cx="31750" cy="5111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055" name="Oval 31"/>
          <p:cNvSpPr>
            <a:spLocks noChangeArrowheads="1"/>
          </p:cNvSpPr>
          <p:nvPr/>
        </p:nvSpPr>
        <p:spPr bwMode="auto">
          <a:xfrm rot="1792560">
            <a:off x="5621338" y="2668588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056" name="Rectangle 32"/>
          <p:cNvSpPr>
            <a:spLocks noChangeArrowheads="1"/>
          </p:cNvSpPr>
          <p:nvPr/>
        </p:nvSpPr>
        <p:spPr bwMode="auto">
          <a:xfrm rot="1792560">
            <a:off x="4956175" y="2465388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77" name="Oval 33"/>
          <p:cNvSpPr>
            <a:spLocks noChangeArrowheads="1"/>
          </p:cNvSpPr>
          <p:nvPr/>
        </p:nvSpPr>
        <p:spPr bwMode="auto">
          <a:xfrm rot="1792560">
            <a:off x="4991100" y="2265363"/>
            <a:ext cx="38100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058" name="Rectangle 34"/>
          <p:cNvSpPr>
            <a:spLocks noChangeArrowheads="1"/>
          </p:cNvSpPr>
          <p:nvPr/>
        </p:nvSpPr>
        <p:spPr bwMode="auto">
          <a:xfrm rot="1792560">
            <a:off x="5618163" y="2665413"/>
            <a:ext cx="23812" cy="15398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79" name="Line 456"/>
          <p:cNvSpPr>
            <a:spLocks noChangeShapeType="1"/>
          </p:cNvSpPr>
          <p:nvPr/>
        </p:nvSpPr>
        <p:spPr bwMode="auto">
          <a:xfrm rot="1792560">
            <a:off x="4827588" y="2536825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493" name="Oval 469"/>
          <p:cNvSpPr>
            <a:spLocks noChangeArrowheads="1"/>
          </p:cNvSpPr>
          <p:nvPr/>
        </p:nvSpPr>
        <p:spPr bwMode="auto">
          <a:xfrm rot="2768172">
            <a:off x="6130925" y="2671763"/>
            <a:ext cx="47625" cy="14287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494" name="Rectangle 470"/>
          <p:cNvSpPr>
            <a:spLocks noChangeArrowheads="1"/>
          </p:cNvSpPr>
          <p:nvPr/>
        </p:nvSpPr>
        <p:spPr bwMode="auto">
          <a:xfrm rot="2768172">
            <a:off x="5409407" y="2339181"/>
            <a:ext cx="915988" cy="1428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82" name="Oval 471"/>
          <p:cNvSpPr>
            <a:spLocks noChangeArrowheads="1"/>
          </p:cNvSpPr>
          <p:nvPr/>
        </p:nvSpPr>
        <p:spPr bwMode="auto">
          <a:xfrm rot="2768172">
            <a:off x="5561013" y="2012950"/>
            <a:ext cx="4762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496" name="Rectangle 472"/>
          <p:cNvSpPr>
            <a:spLocks noChangeArrowheads="1"/>
          </p:cNvSpPr>
          <p:nvPr/>
        </p:nvSpPr>
        <p:spPr bwMode="auto">
          <a:xfrm rot="2768172">
            <a:off x="6130925" y="2663825"/>
            <a:ext cx="30163" cy="1381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84" name="Line 473"/>
          <p:cNvSpPr>
            <a:spLocks noChangeShapeType="1"/>
          </p:cNvSpPr>
          <p:nvPr/>
        </p:nvSpPr>
        <p:spPr bwMode="auto">
          <a:xfrm rot="2768172">
            <a:off x="5253037" y="2395538"/>
            <a:ext cx="11969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500" name="Oval 476"/>
          <p:cNvSpPr>
            <a:spLocks noChangeArrowheads="1"/>
          </p:cNvSpPr>
          <p:nvPr/>
        </p:nvSpPr>
        <p:spPr bwMode="auto">
          <a:xfrm rot="19807440" flipH="1">
            <a:off x="5084763" y="4521200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501" name="Rectangle 477"/>
          <p:cNvSpPr>
            <a:spLocks noChangeArrowheads="1"/>
          </p:cNvSpPr>
          <p:nvPr/>
        </p:nvSpPr>
        <p:spPr bwMode="auto">
          <a:xfrm rot="19807440" flipH="1">
            <a:off x="5057775" y="4318000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87" name="Oval 478"/>
          <p:cNvSpPr>
            <a:spLocks noChangeArrowheads="1"/>
          </p:cNvSpPr>
          <p:nvPr/>
        </p:nvSpPr>
        <p:spPr bwMode="auto">
          <a:xfrm rot="19807440" flipH="1">
            <a:off x="5716588" y="4117975"/>
            <a:ext cx="36512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503" name="Rectangle 479"/>
          <p:cNvSpPr>
            <a:spLocks noChangeArrowheads="1"/>
          </p:cNvSpPr>
          <p:nvPr/>
        </p:nvSpPr>
        <p:spPr bwMode="auto">
          <a:xfrm rot="19807440" flipH="1">
            <a:off x="5100638" y="4518025"/>
            <a:ext cx="23812" cy="15398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89" name="Line 480"/>
          <p:cNvSpPr>
            <a:spLocks noChangeShapeType="1"/>
          </p:cNvSpPr>
          <p:nvPr/>
        </p:nvSpPr>
        <p:spPr bwMode="auto">
          <a:xfrm rot="19807440" flipH="1">
            <a:off x="4962525" y="4389438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507" name="Oval 483"/>
          <p:cNvSpPr>
            <a:spLocks noChangeArrowheads="1"/>
          </p:cNvSpPr>
          <p:nvPr/>
        </p:nvSpPr>
        <p:spPr bwMode="auto">
          <a:xfrm rot="18831828" flipV="1">
            <a:off x="6338888" y="4294188"/>
            <a:ext cx="47625" cy="14287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508" name="Rectangle 484"/>
          <p:cNvSpPr>
            <a:spLocks noChangeArrowheads="1"/>
          </p:cNvSpPr>
          <p:nvPr/>
        </p:nvSpPr>
        <p:spPr bwMode="auto">
          <a:xfrm rot="18831828" flipV="1">
            <a:off x="5616575" y="4625975"/>
            <a:ext cx="917575" cy="1428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92" name="Oval 485"/>
          <p:cNvSpPr>
            <a:spLocks noChangeArrowheads="1"/>
          </p:cNvSpPr>
          <p:nvPr/>
        </p:nvSpPr>
        <p:spPr bwMode="auto">
          <a:xfrm rot="18831828" flipV="1">
            <a:off x="5770563" y="4953000"/>
            <a:ext cx="4762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510" name="Rectangle 486"/>
          <p:cNvSpPr>
            <a:spLocks noChangeArrowheads="1"/>
          </p:cNvSpPr>
          <p:nvPr/>
        </p:nvSpPr>
        <p:spPr bwMode="auto">
          <a:xfrm rot="18831828" flipV="1">
            <a:off x="6338888" y="4303713"/>
            <a:ext cx="30162" cy="13811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94" name="Line 487"/>
          <p:cNvSpPr>
            <a:spLocks noChangeShapeType="1"/>
          </p:cNvSpPr>
          <p:nvPr/>
        </p:nvSpPr>
        <p:spPr bwMode="auto">
          <a:xfrm rot="18831828" flipV="1">
            <a:off x="5461000" y="4711701"/>
            <a:ext cx="11969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524" name="Oval 500"/>
          <p:cNvSpPr>
            <a:spLocks noChangeArrowheads="1"/>
          </p:cNvSpPr>
          <p:nvPr/>
        </p:nvSpPr>
        <p:spPr bwMode="auto">
          <a:xfrm rot="19807440" flipH="1">
            <a:off x="7291388" y="2640013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525" name="Rectangle 501"/>
          <p:cNvSpPr>
            <a:spLocks noChangeArrowheads="1"/>
          </p:cNvSpPr>
          <p:nvPr/>
        </p:nvSpPr>
        <p:spPr bwMode="auto">
          <a:xfrm rot="19807440" flipH="1">
            <a:off x="7264400" y="2436813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97" name="Oval 502"/>
          <p:cNvSpPr>
            <a:spLocks noChangeArrowheads="1"/>
          </p:cNvSpPr>
          <p:nvPr/>
        </p:nvSpPr>
        <p:spPr bwMode="auto">
          <a:xfrm rot="19807440" flipH="1">
            <a:off x="7923213" y="2236788"/>
            <a:ext cx="36512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527" name="Rectangle 503"/>
          <p:cNvSpPr>
            <a:spLocks noChangeArrowheads="1"/>
          </p:cNvSpPr>
          <p:nvPr/>
        </p:nvSpPr>
        <p:spPr bwMode="auto">
          <a:xfrm rot="19807440" flipH="1">
            <a:off x="7307263" y="2636838"/>
            <a:ext cx="25400" cy="15398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99" name="Line 504"/>
          <p:cNvSpPr>
            <a:spLocks noChangeShapeType="1"/>
          </p:cNvSpPr>
          <p:nvPr/>
        </p:nvSpPr>
        <p:spPr bwMode="auto">
          <a:xfrm rot="19807440" flipH="1">
            <a:off x="7169150" y="2508250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531" name="Oval 507"/>
          <p:cNvSpPr>
            <a:spLocks noChangeArrowheads="1"/>
          </p:cNvSpPr>
          <p:nvPr/>
        </p:nvSpPr>
        <p:spPr bwMode="auto">
          <a:xfrm rot="1792560">
            <a:off x="8048625" y="4600575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532" name="Rectangle 508"/>
          <p:cNvSpPr>
            <a:spLocks noChangeArrowheads="1"/>
          </p:cNvSpPr>
          <p:nvPr/>
        </p:nvSpPr>
        <p:spPr bwMode="auto">
          <a:xfrm rot="1792560">
            <a:off x="7381875" y="4395788"/>
            <a:ext cx="731838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502" name="Oval 509"/>
          <p:cNvSpPr>
            <a:spLocks noChangeArrowheads="1"/>
          </p:cNvSpPr>
          <p:nvPr/>
        </p:nvSpPr>
        <p:spPr bwMode="auto">
          <a:xfrm rot="1792560">
            <a:off x="7416800" y="4195763"/>
            <a:ext cx="38100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534" name="Rectangle 510"/>
          <p:cNvSpPr>
            <a:spLocks noChangeArrowheads="1"/>
          </p:cNvSpPr>
          <p:nvPr/>
        </p:nvSpPr>
        <p:spPr bwMode="auto">
          <a:xfrm rot="1792560">
            <a:off x="8043863" y="4597400"/>
            <a:ext cx="25400" cy="1524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504" name="Line 511"/>
          <p:cNvSpPr>
            <a:spLocks noChangeShapeType="1"/>
          </p:cNvSpPr>
          <p:nvPr/>
        </p:nvSpPr>
        <p:spPr bwMode="auto">
          <a:xfrm rot="1792560">
            <a:off x="7243763" y="4495800"/>
            <a:ext cx="1062037" cy="127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05" name="Text Box 513"/>
          <p:cNvSpPr txBox="1">
            <a:spLocks noChangeArrowheads="1"/>
          </p:cNvSpPr>
          <p:nvPr/>
        </p:nvSpPr>
        <p:spPr bwMode="auto">
          <a:xfrm>
            <a:off x="5716588" y="1903413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s</a:t>
            </a:r>
            <a:endParaRPr lang="en-US" sz="2000"/>
          </a:p>
        </p:txBody>
      </p:sp>
      <p:sp>
        <p:nvSpPr>
          <p:cNvPr id="62506" name="Text Box 514"/>
          <p:cNvSpPr txBox="1">
            <a:spLocks noChangeArrowheads="1"/>
          </p:cNvSpPr>
          <p:nvPr/>
        </p:nvSpPr>
        <p:spPr bwMode="auto">
          <a:xfrm>
            <a:off x="7543800" y="2411413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s</a:t>
            </a:r>
            <a:endParaRPr lang="en-US" sz="2000"/>
          </a:p>
        </p:txBody>
      </p:sp>
      <p:sp>
        <p:nvSpPr>
          <p:cNvPr id="62507" name="Freeform 515"/>
          <p:cNvSpPr>
            <a:spLocks/>
          </p:cNvSpPr>
          <p:nvPr/>
        </p:nvSpPr>
        <p:spPr bwMode="auto">
          <a:xfrm>
            <a:off x="5710238" y="2771775"/>
            <a:ext cx="800100" cy="1381125"/>
          </a:xfrm>
          <a:custGeom>
            <a:avLst/>
            <a:gdLst>
              <a:gd name="T0" fmla="*/ 0 w 504"/>
              <a:gd name="T1" fmla="*/ 0 h 870"/>
              <a:gd name="T2" fmla="*/ 2147483647 w 504"/>
              <a:gd name="T3" fmla="*/ 2147483647 h 870"/>
              <a:gd name="T4" fmla="*/ 2147483647 w 504"/>
              <a:gd name="T5" fmla="*/ 2147483647 h 870"/>
              <a:gd name="T6" fmla="*/ 2147483647 w 504"/>
              <a:gd name="T7" fmla="*/ 2147483647 h 870"/>
              <a:gd name="T8" fmla="*/ 2147483647 w 504"/>
              <a:gd name="T9" fmla="*/ 2147483647 h 870"/>
              <a:gd name="T10" fmla="*/ 2147483647 w 504"/>
              <a:gd name="T11" fmla="*/ 2147483647 h 870"/>
              <a:gd name="T12" fmla="*/ 2147483647 w 504"/>
              <a:gd name="T13" fmla="*/ 2147483647 h 870"/>
              <a:gd name="T14" fmla="*/ 2147483647 w 504"/>
              <a:gd name="T15" fmla="*/ 2147483647 h 870"/>
              <a:gd name="T16" fmla="*/ 2147483647 w 504"/>
              <a:gd name="T17" fmla="*/ 2147483647 h 870"/>
              <a:gd name="T18" fmla="*/ 2147483647 w 504"/>
              <a:gd name="T19" fmla="*/ 2147483647 h 87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4"/>
              <a:gd name="T31" fmla="*/ 0 h 870"/>
              <a:gd name="T32" fmla="*/ 504 w 504"/>
              <a:gd name="T33" fmla="*/ 870 h 87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4" h="870">
                <a:moveTo>
                  <a:pt x="0" y="0"/>
                </a:moveTo>
                <a:cubicBezTo>
                  <a:pt x="21" y="11"/>
                  <a:pt x="79" y="44"/>
                  <a:pt x="129" y="63"/>
                </a:cubicBezTo>
                <a:cubicBezTo>
                  <a:pt x="179" y="82"/>
                  <a:pt x="255" y="102"/>
                  <a:pt x="299" y="112"/>
                </a:cubicBezTo>
                <a:cubicBezTo>
                  <a:pt x="343" y="122"/>
                  <a:pt x="362" y="116"/>
                  <a:pt x="392" y="121"/>
                </a:cubicBezTo>
                <a:cubicBezTo>
                  <a:pt x="417" y="124"/>
                  <a:pt x="469" y="100"/>
                  <a:pt x="479" y="145"/>
                </a:cubicBezTo>
                <a:cubicBezTo>
                  <a:pt x="490" y="191"/>
                  <a:pt x="504" y="700"/>
                  <a:pt x="490" y="772"/>
                </a:cubicBezTo>
                <a:cubicBezTo>
                  <a:pt x="477" y="845"/>
                  <a:pt x="447" y="842"/>
                  <a:pt x="406" y="839"/>
                </a:cubicBezTo>
                <a:cubicBezTo>
                  <a:pt x="365" y="836"/>
                  <a:pt x="323" y="835"/>
                  <a:pt x="286" y="833"/>
                </a:cubicBezTo>
                <a:cubicBezTo>
                  <a:pt x="250" y="831"/>
                  <a:pt x="226" y="822"/>
                  <a:pt x="192" y="828"/>
                </a:cubicBezTo>
                <a:cubicBezTo>
                  <a:pt x="158" y="834"/>
                  <a:pt x="107" y="861"/>
                  <a:pt x="84" y="87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08" name="Text Box 516"/>
          <p:cNvSpPr txBox="1">
            <a:spLocks noChangeArrowheads="1"/>
          </p:cNvSpPr>
          <p:nvPr/>
        </p:nvSpPr>
        <p:spPr bwMode="auto">
          <a:xfrm>
            <a:off x="4724400" y="3960813"/>
            <a:ext cx="67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c</a:t>
            </a:r>
            <a:endParaRPr lang="en-US" sz="2000"/>
          </a:p>
        </p:txBody>
      </p:sp>
      <p:sp>
        <p:nvSpPr>
          <p:cNvPr id="62509" name="Freeform 517"/>
          <p:cNvSpPr>
            <a:spLocks/>
          </p:cNvSpPr>
          <p:nvPr/>
        </p:nvSpPr>
        <p:spPr bwMode="auto">
          <a:xfrm>
            <a:off x="6173788" y="2749550"/>
            <a:ext cx="431800" cy="1570038"/>
          </a:xfrm>
          <a:custGeom>
            <a:avLst/>
            <a:gdLst>
              <a:gd name="T0" fmla="*/ 0 w 272"/>
              <a:gd name="T1" fmla="*/ 0 h 989"/>
              <a:gd name="T2" fmla="*/ 2147483647 w 272"/>
              <a:gd name="T3" fmla="*/ 2147483647 h 989"/>
              <a:gd name="T4" fmla="*/ 2147483647 w 272"/>
              <a:gd name="T5" fmla="*/ 2147483647 h 989"/>
              <a:gd name="T6" fmla="*/ 2147483647 w 272"/>
              <a:gd name="T7" fmla="*/ 2147483647 h 989"/>
              <a:gd name="T8" fmla="*/ 2147483647 w 272"/>
              <a:gd name="T9" fmla="*/ 2147483647 h 989"/>
              <a:gd name="T10" fmla="*/ 2147483647 w 272"/>
              <a:gd name="T11" fmla="*/ 2147483647 h 989"/>
              <a:gd name="T12" fmla="*/ 2147483647 w 272"/>
              <a:gd name="T13" fmla="*/ 2147483647 h 9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2"/>
              <a:gd name="T22" fmla="*/ 0 h 989"/>
              <a:gd name="T23" fmla="*/ 272 w 272"/>
              <a:gd name="T24" fmla="*/ 989 h 9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2" h="989">
                <a:moveTo>
                  <a:pt x="0" y="0"/>
                </a:moveTo>
                <a:cubicBezTo>
                  <a:pt x="15" y="13"/>
                  <a:pt x="49" y="56"/>
                  <a:pt x="92" y="80"/>
                </a:cubicBezTo>
                <a:cubicBezTo>
                  <a:pt x="231" y="84"/>
                  <a:pt x="204" y="89"/>
                  <a:pt x="257" y="147"/>
                </a:cubicBezTo>
                <a:cubicBezTo>
                  <a:pt x="270" y="295"/>
                  <a:pt x="272" y="652"/>
                  <a:pt x="268" y="774"/>
                </a:cubicBezTo>
                <a:cubicBezTo>
                  <a:pt x="268" y="895"/>
                  <a:pt x="261" y="853"/>
                  <a:pt x="257" y="875"/>
                </a:cubicBezTo>
                <a:cubicBezTo>
                  <a:pt x="251" y="894"/>
                  <a:pt x="257" y="889"/>
                  <a:pt x="242" y="908"/>
                </a:cubicBezTo>
                <a:cubicBezTo>
                  <a:pt x="227" y="927"/>
                  <a:pt x="183" y="972"/>
                  <a:pt x="167" y="98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10" name="Freeform 518"/>
          <p:cNvSpPr>
            <a:spLocks/>
          </p:cNvSpPr>
          <p:nvPr/>
        </p:nvSpPr>
        <p:spPr bwMode="auto">
          <a:xfrm>
            <a:off x="6757988" y="2733675"/>
            <a:ext cx="638175" cy="1538288"/>
          </a:xfrm>
          <a:custGeom>
            <a:avLst/>
            <a:gdLst>
              <a:gd name="T0" fmla="*/ 2147483647 w 402"/>
              <a:gd name="T1" fmla="*/ 0 h 969"/>
              <a:gd name="T2" fmla="*/ 2147483647 w 402"/>
              <a:gd name="T3" fmla="*/ 2147483647 h 969"/>
              <a:gd name="T4" fmla="*/ 2147483647 w 402"/>
              <a:gd name="T5" fmla="*/ 2147483647 h 969"/>
              <a:gd name="T6" fmla="*/ 2147483647 w 402"/>
              <a:gd name="T7" fmla="*/ 2147483647 h 969"/>
              <a:gd name="T8" fmla="*/ 2147483647 w 402"/>
              <a:gd name="T9" fmla="*/ 2147483647 h 969"/>
              <a:gd name="T10" fmla="*/ 2147483647 w 402"/>
              <a:gd name="T11" fmla="*/ 2147483647 h 969"/>
              <a:gd name="T12" fmla="*/ 2147483647 w 402"/>
              <a:gd name="T13" fmla="*/ 2147483647 h 969"/>
              <a:gd name="T14" fmla="*/ 2147483647 w 402"/>
              <a:gd name="T15" fmla="*/ 2147483647 h 969"/>
              <a:gd name="T16" fmla="*/ 2147483647 w 402"/>
              <a:gd name="T17" fmla="*/ 2147483647 h 9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02"/>
              <a:gd name="T28" fmla="*/ 0 h 969"/>
              <a:gd name="T29" fmla="*/ 402 w 402"/>
              <a:gd name="T30" fmla="*/ 969 h 96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02" h="969">
                <a:moveTo>
                  <a:pt x="306" y="0"/>
                </a:moveTo>
                <a:cubicBezTo>
                  <a:pt x="295" y="5"/>
                  <a:pt x="262" y="24"/>
                  <a:pt x="240" y="36"/>
                </a:cubicBezTo>
                <a:cubicBezTo>
                  <a:pt x="218" y="48"/>
                  <a:pt x="199" y="58"/>
                  <a:pt x="174" y="72"/>
                </a:cubicBezTo>
                <a:cubicBezTo>
                  <a:pt x="149" y="86"/>
                  <a:pt x="115" y="101"/>
                  <a:pt x="90" y="119"/>
                </a:cubicBezTo>
                <a:cubicBezTo>
                  <a:pt x="64" y="136"/>
                  <a:pt x="72" y="127"/>
                  <a:pt x="25" y="178"/>
                </a:cubicBezTo>
                <a:cubicBezTo>
                  <a:pt x="14" y="223"/>
                  <a:pt x="0" y="732"/>
                  <a:pt x="14" y="804"/>
                </a:cubicBezTo>
                <a:cubicBezTo>
                  <a:pt x="27" y="877"/>
                  <a:pt x="53" y="854"/>
                  <a:pt x="98" y="871"/>
                </a:cubicBezTo>
                <a:cubicBezTo>
                  <a:pt x="144" y="888"/>
                  <a:pt x="209" y="884"/>
                  <a:pt x="261" y="900"/>
                </a:cubicBezTo>
                <a:cubicBezTo>
                  <a:pt x="312" y="916"/>
                  <a:pt x="373" y="955"/>
                  <a:pt x="402" y="96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11" name="Text Box 519"/>
          <p:cNvSpPr txBox="1">
            <a:spLocks noChangeArrowheads="1"/>
          </p:cNvSpPr>
          <p:nvPr/>
        </p:nvSpPr>
        <p:spPr bwMode="auto">
          <a:xfrm>
            <a:off x="5983288" y="4498975"/>
            <a:ext cx="676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c</a:t>
            </a:r>
            <a:endParaRPr lang="en-US" sz="2000"/>
          </a:p>
        </p:txBody>
      </p:sp>
      <p:sp>
        <p:nvSpPr>
          <p:cNvPr id="62512" name="Text Box 520"/>
          <p:cNvSpPr txBox="1">
            <a:spLocks noChangeArrowheads="1"/>
          </p:cNvSpPr>
          <p:nvPr/>
        </p:nvSpPr>
        <p:spPr bwMode="auto">
          <a:xfrm>
            <a:off x="7670800" y="3986213"/>
            <a:ext cx="67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c</a:t>
            </a:r>
            <a:endParaRPr lang="en-US" sz="2000"/>
          </a:p>
        </p:txBody>
      </p:sp>
      <p:sp>
        <p:nvSpPr>
          <p:cNvPr id="62513" name="Text Box 521"/>
          <p:cNvSpPr txBox="1">
            <a:spLocks noChangeArrowheads="1"/>
          </p:cNvSpPr>
          <p:nvPr/>
        </p:nvSpPr>
        <p:spPr bwMode="auto">
          <a:xfrm>
            <a:off x="6699250" y="3357563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</a:p>
        </p:txBody>
      </p:sp>
      <p:sp>
        <p:nvSpPr>
          <p:cNvPr id="62514" name="Rectangle 52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11313"/>
            <a:ext cx="3597275" cy="41148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per-connection end-end throughput: min(R</a:t>
            </a:r>
            <a:r>
              <a:rPr lang="en-US" baseline="-25000" smtClean="0">
                <a:ea typeface="ＭＳ Ｐゴシック" pitchFamily="34" charset="-128"/>
              </a:rPr>
              <a:t>c</a:t>
            </a:r>
            <a:r>
              <a:rPr lang="en-US" smtClean="0">
                <a:ea typeface="ＭＳ Ｐゴシック" pitchFamily="34" charset="-128"/>
              </a:rPr>
              <a:t>,R</a:t>
            </a:r>
            <a:r>
              <a:rPr lang="en-US" baseline="-25000" smtClean="0">
                <a:ea typeface="ＭＳ Ｐゴシック" pitchFamily="34" charset="-128"/>
              </a:rPr>
              <a:t>s</a:t>
            </a:r>
            <a:r>
              <a:rPr lang="en-US" smtClean="0">
                <a:ea typeface="ＭＳ Ｐゴシック" pitchFamily="34" charset="-128"/>
              </a:rPr>
              <a:t>,R/10)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in practice: R</a:t>
            </a:r>
            <a:r>
              <a:rPr lang="en-US" baseline="-25000" smtClean="0">
                <a:ea typeface="ＭＳ Ｐゴシック" pitchFamily="34" charset="-128"/>
              </a:rPr>
              <a:t>c</a:t>
            </a:r>
            <a:r>
              <a:rPr lang="en-US" smtClean="0">
                <a:ea typeface="ＭＳ Ｐゴシック" pitchFamily="34" charset="-128"/>
              </a:rPr>
              <a:t> or R</a:t>
            </a:r>
            <a:r>
              <a:rPr lang="en-US" baseline="-25000" smtClean="0">
                <a:ea typeface="ＭＳ Ｐゴシック" pitchFamily="34" charset="-128"/>
              </a:rPr>
              <a:t>s</a:t>
            </a:r>
            <a:r>
              <a:rPr lang="en-US" smtClean="0">
                <a:ea typeface="ＭＳ Ｐゴシック" pitchFamily="34" charset="-128"/>
              </a:rPr>
              <a:t> is often bottleneck</a:t>
            </a:r>
          </a:p>
        </p:txBody>
      </p:sp>
      <p:grpSp>
        <p:nvGrpSpPr>
          <p:cNvPr id="62515" name="Group 81"/>
          <p:cNvGrpSpPr>
            <a:grpSpLocks/>
          </p:cNvGrpSpPr>
          <p:nvPr/>
        </p:nvGrpSpPr>
        <p:grpSpPr bwMode="auto">
          <a:xfrm>
            <a:off x="4576763" y="1784350"/>
            <a:ext cx="352425" cy="660400"/>
            <a:chOff x="4140" y="429"/>
            <a:chExt cx="1425" cy="2396"/>
          </a:xfrm>
        </p:grpSpPr>
        <p:sp>
          <p:nvSpPr>
            <p:cNvPr id="62592" name="Freeform 8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93" name="Rectangle 83"/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94" name="Freeform 8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95" name="Freeform 8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96" name="Rectangle 86"/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97" name="Group 8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2622" name="AutoShape 88"/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23" name="AutoShape 89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98" name="Rectangle 90"/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99" name="Group 9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2620" name="AutoShape 92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21" name="AutoShape 93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600" name="Rectangle 94"/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01" name="Rectangle 95"/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602" name="Group 9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2618" name="AutoShape 97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19" name="AutoShape 98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603" name="Freeform 9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604" name="Group 10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2616" name="AutoShape 101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17" name="AutoShape 102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605" name="Rectangle 103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06" name="Freeform 10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07" name="Freeform 10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08" name="Oval 106"/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09" name="Freeform 10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10" name="AutoShape 108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11" name="AutoShape 109"/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12" name="Oval 110"/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13" name="Oval 111"/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2614" name="Oval 112"/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15" name="Rectangle 113"/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516" name="Group 114"/>
          <p:cNvGrpSpPr>
            <a:grpSpLocks/>
          </p:cNvGrpSpPr>
          <p:nvPr/>
        </p:nvGrpSpPr>
        <p:grpSpPr bwMode="auto">
          <a:xfrm>
            <a:off x="5151438" y="1444625"/>
            <a:ext cx="352425" cy="660400"/>
            <a:chOff x="4140" y="429"/>
            <a:chExt cx="1425" cy="2396"/>
          </a:xfrm>
        </p:grpSpPr>
        <p:sp>
          <p:nvSpPr>
            <p:cNvPr id="62560" name="Freeform 11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61" name="Rectangle 116"/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62" name="Freeform 11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63" name="Freeform 11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64" name="Rectangle 119"/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65" name="Group 12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2590" name="AutoShape 121"/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91" name="AutoShape 122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66" name="Rectangle 123"/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67" name="Group 12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2588" name="AutoShape 125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89" name="AutoShape 126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68" name="Rectangle 127"/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69" name="Rectangle 128"/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70" name="Group 12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2586" name="AutoShape 13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87" name="AutoShape 131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71" name="Freeform 13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572" name="Group 13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2584" name="AutoShape 134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85" name="AutoShape 135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73" name="Rectangle 136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74" name="Freeform 13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75" name="Freeform 13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76" name="Oval 139"/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77" name="Freeform 14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78" name="AutoShape 141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79" name="AutoShape 142"/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80" name="Oval 143"/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81" name="Oval 144"/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2582" name="Oval 145"/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83" name="Rectangle 146"/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517" name="Group 147"/>
          <p:cNvGrpSpPr>
            <a:grpSpLocks/>
          </p:cNvGrpSpPr>
          <p:nvPr/>
        </p:nvGrpSpPr>
        <p:grpSpPr bwMode="auto">
          <a:xfrm>
            <a:off x="8002588" y="1700213"/>
            <a:ext cx="352425" cy="660400"/>
            <a:chOff x="4140" y="429"/>
            <a:chExt cx="1425" cy="2396"/>
          </a:xfrm>
        </p:grpSpPr>
        <p:sp>
          <p:nvSpPr>
            <p:cNvPr id="62528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29" name="Rectangle 149"/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30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31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32" name="Rectangle 152"/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33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2558" name="AutoShape 154"/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9" name="AutoShape 155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34" name="Rectangle 156"/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35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2556" name="AutoShape 158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7" name="AutoShape 159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36" name="Rectangle 160"/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37" name="Rectangle 161"/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38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2554" name="AutoShape 16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5" name="AutoShape 16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39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540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2552" name="AutoShape 167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3" name="AutoShape 168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41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2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43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44" name="Oval 172"/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5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46" name="AutoShape 174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7" name="AutoShape 175"/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8" name="Oval 176"/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9" name="Oval 177"/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2550" name="Oval 178"/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51" name="Rectangle 179"/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518" name="Group 180"/>
          <p:cNvGrpSpPr>
            <a:grpSpLocks/>
          </p:cNvGrpSpPr>
          <p:nvPr/>
        </p:nvGrpSpPr>
        <p:grpSpPr bwMode="auto">
          <a:xfrm flipH="1">
            <a:off x="8151813" y="4489450"/>
            <a:ext cx="803275" cy="771525"/>
            <a:chOff x="-44" y="1473"/>
            <a:chExt cx="981" cy="1105"/>
          </a:xfrm>
        </p:grpSpPr>
        <p:pic>
          <p:nvPicPr>
            <p:cNvPr id="62526" name="Picture 18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27" name="Freeform 18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2519" name="Group 183"/>
          <p:cNvGrpSpPr>
            <a:grpSpLocks/>
          </p:cNvGrpSpPr>
          <p:nvPr/>
        </p:nvGrpSpPr>
        <p:grpSpPr bwMode="auto">
          <a:xfrm>
            <a:off x="4237038" y="4470400"/>
            <a:ext cx="803275" cy="771525"/>
            <a:chOff x="-44" y="1473"/>
            <a:chExt cx="981" cy="1105"/>
          </a:xfrm>
        </p:grpSpPr>
        <p:pic>
          <p:nvPicPr>
            <p:cNvPr id="62524" name="Picture 184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25" name="Freeform 18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2520" name="Group 186"/>
          <p:cNvGrpSpPr>
            <a:grpSpLocks/>
          </p:cNvGrpSpPr>
          <p:nvPr/>
        </p:nvGrpSpPr>
        <p:grpSpPr bwMode="auto">
          <a:xfrm>
            <a:off x="4859338" y="4919663"/>
            <a:ext cx="803275" cy="771525"/>
            <a:chOff x="-44" y="1473"/>
            <a:chExt cx="981" cy="1105"/>
          </a:xfrm>
        </p:grpSpPr>
        <p:pic>
          <p:nvPicPr>
            <p:cNvPr id="62522" name="Picture 187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23" name="Freeform 1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252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9BF33A21-CF80-4DE9-B4DC-404C5DECD903}" type="slidenum">
              <a:rPr lang="en-US" sz="1200" smtClean="0">
                <a:latin typeface="Tahoma" pitchFamily="34" charset="0"/>
              </a:rPr>
              <a:pPr/>
              <a:t>54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3491" name="Picture 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1.1 what </a:t>
            </a:r>
            <a:r>
              <a:rPr lang="en-US" sz="2800" i="1" smtClean="0">
                <a:solidFill>
                  <a:srgbClr val="000099"/>
                </a:solidFill>
              </a:rPr>
              <a:t>is</a:t>
            </a:r>
            <a:r>
              <a:rPr lang="en-US" sz="2800" smtClean="0">
                <a:solidFill>
                  <a:srgbClr val="000099"/>
                </a:solidFill>
              </a:rPr>
              <a:t> the Internet?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1.2</a:t>
            </a:r>
            <a:r>
              <a:rPr lang="en-US" sz="2800" smtClean="0"/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1.3 </a:t>
            </a:r>
            <a:r>
              <a:rPr lang="en-US" sz="2800" smtClean="0"/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packet switching, circuit switching, network structure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1.4 </a:t>
            </a:r>
            <a:r>
              <a:rPr lang="en-US" sz="2800" smtClean="0"/>
              <a:t>delay, loss, throughput in networks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1.5 protocol layers, service models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6349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3B685F1-DA88-49F2-A25D-C269A9709335}" type="slidenum">
              <a:rPr lang="en-US" sz="1200" smtClean="0">
                <a:latin typeface="Tahoma" pitchFamily="34" charset="0"/>
              </a:rPr>
              <a:pPr/>
              <a:t>55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4515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66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Protocol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layers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 eaLnBrk="1" hangingPunct="1">
              <a:lnSpc>
                <a:spcPct val="75000"/>
              </a:lnSpc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Networks are complex,</a:t>
            </a:r>
          </a:p>
          <a:p>
            <a:pPr eaLnBrk="1" hangingPunct="1">
              <a:lnSpc>
                <a:spcPct val="75000"/>
              </a:lnSpc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with many </a:t>
            </a:r>
            <a:r>
              <a:rPr lang="ja-JP" altLang="en-US" i="1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i="1" smtClean="0">
                <a:solidFill>
                  <a:srgbClr val="CC0000"/>
                </a:solidFill>
                <a:ea typeface="ＭＳ Ｐゴシック" pitchFamily="34" charset="-128"/>
              </a:rPr>
              <a:t>pieces</a:t>
            </a:r>
            <a:r>
              <a:rPr lang="ja-JP" altLang="en-US" i="1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r>
              <a:rPr lang="en-US" altLang="ja-JP" i="1" smtClean="0">
                <a:solidFill>
                  <a:srgbClr val="CC0000"/>
                </a:solidFill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800" smtClean="0"/>
              <a:t>hosts</a:t>
            </a:r>
          </a:p>
          <a:p>
            <a:pPr lvl="1" eaLnBrk="1" hangingPunct="1"/>
            <a:r>
              <a:rPr lang="en-US" sz="2800" smtClean="0"/>
              <a:t>routers</a:t>
            </a:r>
          </a:p>
          <a:p>
            <a:pPr lvl="1" eaLnBrk="1" hangingPunct="1"/>
            <a:r>
              <a:rPr lang="en-US" sz="2800" smtClean="0"/>
              <a:t>links of various media</a:t>
            </a:r>
          </a:p>
          <a:p>
            <a:pPr lvl="1" eaLnBrk="1" hangingPunct="1"/>
            <a:r>
              <a:rPr lang="en-US" sz="2800" smtClean="0"/>
              <a:t>applications</a:t>
            </a:r>
          </a:p>
          <a:p>
            <a:pPr lvl="1" eaLnBrk="1" hangingPunct="1"/>
            <a:r>
              <a:rPr lang="en-US" sz="2800" smtClean="0"/>
              <a:t>protocols</a:t>
            </a:r>
          </a:p>
          <a:p>
            <a:pPr lvl="1" eaLnBrk="1" hangingPunct="1"/>
            <a:r>
              <a:rPr lang="en-US" sz="2800" smtClean="0"/>
              <a:t>hardware, software</a:t>
            </a:r>
          </a:p>
        </p:txBody>
      </p:sp>
      <p:sp>
        <p:nvSpPr>
          <p:cNvPr id="6451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52950" y="2266950"/>
            <a:ext cx="4057650" cy="2619375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sz="3200" i="1" smtClean="0">
                <a:solidFill>
                  <a:srgbClr val="CC0000"/>
                </a:solidFill>
                <a:ea typeface="ＭＳ Ｐゴシック" pitchFamily="34" charset="-128"/>
              </a:rPr>
              <a:t>Question:</a:t>
            </a:r>
            <a:r>
              <a:rPr lang="en-US" sz="2400" u="sng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mtClean="0">
                <a:ea typeface="ＭＳ Ｐゴシック" pitchFamily="34" charset="-128"/>
              </a:rPr>
              <a:t>is there any hope of </a:t>
            </a:r>
            <a:r>
              <a:rPr lang="en-US" i="1" smtClean="0">
                <a:ea typeface="ＭＳ Ｐゴシック" pitchFamily="34" charset="-128"/>
              </a:rPr>
              <a:t>organizing</a:t>
            </a:r>
            <a:r>
              <a:rPr lang="en-US" smtClean="0">
                <a:ea typeface="ＭＳ Ｐゴシック" pitchFamily="34" charset="-128"/>
              </a:rPr>
              <a:t> structure of network?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mtClean="0">
                <a:ea typeface="ＭＳ Ｐゴシック" pitchFamily="34" charset="-128"/>
              </a:rPr>
              <a:t>…. or at least our discussion of networks?</a:t>
            </a:r>
          </a:p>
        </p:txBody>
      </p:sp>
      <p:sp>
        <p:nvSpPr>
          <p:cNvPr id="645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711523EC-E27D-400F-9245-49F932687A9D}" type="slidenum">
              <a:rPr lang="en-US" sz="1200" smtClean="0">
                <a:latin typeface="Tahoma" pitchFamily="34" charset="0"/>
              </a:rPr>
              <a:pPr/>
              <a:t>56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5539" name="Picture 1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928688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42875"/>
            <a:ext cx="77724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Organization of air travel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5489575"/>
            <a:ext cx="7772400" cy="54292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a series of steps</a:t>
            </a:r>
          </a:p>
        </p:txBody>
      </p:sp>
      <p:grpSp>
        <p:nvGrpSpPr>
          <p:cNvPr id="65542" name="Group 4"/>
          <p:cNvGrpSpPr>
            <a:grpSpLocks/>
          </p:cNvGrpSpPr>
          <p:nvPr/>
        </p:nvGrpSpPr>
        <p:grpSpPr bwMode="auto">
          <a:xfrm>
            <a:off x="1111250" y="1587500"/>
            <a:ext cx="6508750" cy="3294063"/>
            <a:chOff x="700" y="1000"/>
            <a:chExt cx="4100" cy="2075"/>
          </a:xfrm>
        </p:grpSpPr>
        <p:sp>
          <p:nvSpPr>
            <p:cNvPr id="65544" name="Text Box 5"/>
            <p:cNvSpPr txBox="1">
              <a:spLocks noChangeArrowheads="1"/>
            </p:cNvSpPr>
            <p:nvPr/>
          </p:nvSpPr>
          <p:spPr bwMode="auto">
            <a:xfrm>
              <a:off x="846" y="1007"/>
              <a:ext cx="1307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>
                  <a:solidFill>
                    <a:srgbClr val="000099"/>
                  </a:solidFill>
                </a:rPr>
                <a:t>ticket (purchase)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baggage (check)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gates (load)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runway takeoff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65545" name="Text Box 6"/>
            <p:cNvSpPr txBox="1">
              <a:spLocks noChangeArrowheads="1"/>
            </p:cNvSpPr>
            <p:nvPr/>
          </p:nvSpPr>
          <p:spPr bwMode="auto">
            <a:xfrm>
              <a:off x="3242" y="1001"/>
              <a:ext cx="1280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>
                  <a:solidFill>
                    <a:srgbClr val="000099"/>
                  </a:solidFill>
                </a:rPr>
                <a:t>ticket (complain)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baggage (claim)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gates (unload)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runway landing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65546" name="Text Box 7"/>
            <p:cNvSpPr txBox="1">
              <a:spLocks noChangeArrowheads="1"/>
            </p:cNvSpPr>
            <p:nvPr/>
          </p:nvSpPr>
          <p:spPr bwMode="auto">
            <a:xfrm>
              <a:off x="2074" y="2825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65547" name="Freeform 8"/>
            <p:cNvSpPr>
              <a:spLocks/>
            </p:cNvSpPr>
            <p:nvPr/>
          </p:nvSpPr>
          <p:spPr bwMode="auto">
            <a:xfrm>
              <a:off x="700" y="1000"/>
              <a:ext cx="4100" cy="2072"/>
            </a:xfrm>
            <a:custGeom>
              <a:avLst/>
              <a:gdLst>
                <a:gd name="T0" fmla="*/ 0 w 4100"/>
                <a:gd name="T1" fmla="*/ 0 h 2072"/>
                <a:gd name="T2" fmla="*/ 4 w 4100"/>
                <a:gd name="T3" fmla="*/ 1736 h 2072"/>
                <a:gd name="T4" fmla="*/ 804 w 4100"/>
                <a:gd name="T5" fmla="*/ 2064 h 2072"/>
                <a:gd name="T6" fmla="*/ 3468 w 4100"/>
                <a:gd name="T7" fmla="*/ 2072 h 2072"/>
                <a:gd name="T8" fmla="*/ 4100 w 4100"/>
                <a:gd name="T9" fmla="*/ 1736 h 2072"/>
                <a:gd name="T10" fmla="*/ 4100 w 4100"/>
                <a:gd name="T11" fmla="*/ 96 h 20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100"/>
                <a:gd name="T19" fmla="*/ 0 h 2072"/>
                <a:gd name="T20" fmla="*/ 4100 w 4100"/>
                <a:gd name="T21" fmla="*/ 2072 h 207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100" h="2072">
                  <a:moveTo>
                    <a:pt x="0" y="0"/>
                  </a:moveTo>
                  <a:lnTo>
                    <a:pt x="4" y="1736"/>
                  </a:lnTo>
                  <a:lnTo>
                    <a:pt x="804" y="2064"/>
                  </a:lnTo>
                  <a:lnTo>
                    <a:pt x="3468" y="2072"/>
                  </a:lnTo>
                  <a:lnTo>
                    <a:pt x="4100" y="1736"/>
                  </a:lnTo>
                  <a:lnTo>
                    <a:pt x="4100" y="96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55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284D742-04E2-4B4B-824F-6B54846BE259}" type="slidenum">
              <a:rPr lang="en-US" sz="1200" smtClean="0">
                <a:latin typeface="Tahoma" pitchFamily="34" charset="0"/>
              </a:rPr>
              <a:pPr/>
              <a:t>57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6563" name="Picture 4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819150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6564" name="Group 38"/>
          <p:cNvGrpSpPr>
            <a:grpSpLocks/>
          </p:cNvGrpSpPr>
          <p:nvPr/>
        </p:nvGrpSpPr>
        <p:grpSpPr bwMode="auto">
          <a:xfrm>
            <a:off x="434975" y="1314450"/>
            <a:ext cx="8418513" cy="2835275"/>
            <a:chOff x="258" y="1214"/>
            <a:chExt cx="5303" cy="1786"/>
          </a:xfrm>
        </p:grpSpPr>
        <p:sp>
          <p:nvSpPr>
            <p:cNvPr id="66568" name="Rectangle 2"/>
            <p:cNvSpPr>
              <a:spLocks noChangeArrowheads="1"/>
            </p:cNvSpPr>
            <p:nvPr/>
          </p:nvSpPr>
          <p:spPr bwMode="auto">
            <a:xfrm>
              <a:off x="264" y="1544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69" name="Text Box 3"/>
            <p:cNvSpPr txBox="1">
              <a:spLocks noChangeArrowheads="1"/>
            </p:cNvSpPr>
            <p:nvPr/>
          </p:nvSpPr>
          <p:spPr bwMode="auto">
            <a:xfrm>
              <a:off x="258" y="1597"/>
              <a:ext cx="107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400"/>
                <a:t>ticket (purchase)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baggage (check)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gates (load)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runway (takeoff)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airplane routing</a:t>
              </a:r>
            </a:p>
          </p:txBody>
        </p:sp>
        <p:sp>
          <p:nvSpPr>
            <p:cNvPr id="66570" name="Line 4"/>
            <p:cNvSpPr>
              <a:spLocks noChangeShapeType="1"/>
            </p:cNvSpPr>
            <p:nvPr/>
          </p:nvSpPr>
          <p:spPr bwMode="auto">
            <a:xfrm>
              <a:off x="271" y="1770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1" name="Line 5"/>
            <p:cNvSpPr>
              <a:spLocks noChangeShapeType="1"/>
            </p:cNvSpPr>
            <p:nvPr/>
          </p:nvSpPr>
          <p:spPr bwMode="auto">
            <a:xfrm>
              <a:off x="275" y="1989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2" name="Line 6"/>
            <p:cNvSpPr>
              <a:spLocks noChangeShapeType="1"/>
            </p:cNvSpPr>
            <p:nvPr/>
          </p:nvSpPr>
          <p:spPr bwMode="auto">
            <a:xfrm>
              <a:off x="271" y="220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3" name="Line 7"/>
            <p:cNvSpPr>
              <a:spLocks noChangeShapeType="1"/>
            </p:cNvSpPr>
            <p:nvPr/>
          </p:nvSpPr>
          <p:spPr bwMode="auto">
            <a:xfrm>
              <a:off x="279" y="242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4" name="Text Box 8"/>
            <p:cNvSpPr txBox="1">
              <a:spLocks noChangeArrowheads="1"/>
            </p:cNvSpPr>
            <p:nvPr/>
          </p:nvSpPr>
          <p:spPr bwMode="auto">
            <a:xfrm>
              <a:off x="493" y="2706"/>
              <a:ext cx="5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departure</a:t>
              </a:r>
            </a:p>
            <a:p>
              <a:pPr algn="ctr" eaLnBrk="1" hangingPunct="1"/>
              <a:r>
                <a:rPr lang="en-US" sz="1200"/>
                <a:t>airport</a:t>
              </a:r>
            </a:p>
          </p:txBody>
        </p:sp>
        <p:sp>
          <p:nvSpPr>
            <p:cNvPr id="66575" name="Text Box 9"/>
            <p:cNvSpPr txBox="1">
              <a:spLocks noChangeArrowheads="1"/>
            </p:cNvSpPr>
            <p:nvPr/>
          </p:nvSpPr>
          <p:spPr bwMode="auto">
            <a:xfrm>
              <a:off x="3756" y="2712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arrival</a:t>
              </a:r>
            </a:p>
            <a:p>
              <a:pPr algn="ctr" eaLnBrk="1" hangingPunct="1"/>
              <a:r>
                <a:rPr lang="en-US" sz="1200"/>
                <a:t>airport</a:t>
              </a:r>
            </a:p>
          </p:txBody>
        </p:sp>
        <p:sp>
          <p:nvSpPr>
            <p:cNvPr id="66576" name="Text Box 10"/>
            <p:cNvSpPr txBox="1">
              <a:spLocks noChangeArrowheads="1"/>
            </p:cNvSpPr>
            <p:nvPr/>
          </p:nvSpPr>
          <p:spPr bwMode="auto">
            <a:xfrm>
              <a:off x="1859" y="2709"/>
              <a:ext cx="1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intermediate air-traffic</a:t>
              </a:r>
            </a:p>
            <a:p>
              <a:pPr algn="ctr" eaLnBrk="1" hangingPunct="1"/>
              <a:r>
                <a:rPr lang="en-US" sz="1200"/>
                <a:t>control centers</a:t>
              </a:r>
            </a:p>
          </p:txBody>
        </p:sp>
        <p:pic>
          <p:nvPicPr>
            <p:cNvPr id="66577" name="Picture 11" descr="yylgaifm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30" y="1315"/>
              <a:ext cx="96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78" name="Line 12"/>
            <p:cNvSpPr>
              <a:spLocks noChangeShapeType="1"/>
            </p:cNvSpPr>
            <p:nvPr/>
          </p:nvSpPr>
          <p:spPr bwMode="auto">
            <a:xfrm>
              <a:off x="2133" y="1214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9" name="Line 13"/>
            <p:cNvSpPr>
              <a:spLocks noChangeShapeType="1"/>
            </p:cNvSpPr>
            <p:nvPr/>
          </p:nvSpPr>
          <p:spPr bwMode="auto">
            <a:xfrm>
              <a:off x="2229" y="1310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0" name="Line 14"/>
            <p:cNvSpPr>
              <a:spLocks noChangeShapeType="1"/>
            </p:cNvSpPr>
            <p:nvPr/>
          </p:nvSpPr>
          <p:spPr bwMode="auto">
            <a:xfrm>
              <a:off x="2325" y="1406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6581" name="Group 15"/>
            <p:cNvGrpSpPr>
              <a:grpSpLocks/>
            </p:cNvGrpSpPr>
            <p:nvPr/>
          </p:nvGrpSpPr>
          <p:grpSpPr bwMode="auto">
            <a:xfrm>
              <a:off x="1436" y="2441"/>
              <a:ext cx="1071" cy="186"/>
              <a:chOff x="1813" y="2187"/>
              <a:chExt cx="1071" cy="186"/>
            </a:xfrm>
          </p:grpSpPr>
          <p:sp>
            <p:nvSpPr>
              <p:cNvPr id="66601" name="Rectangle 16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66602" name="Text Box 17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400"/>
                  <a:t>airplane routing</a:t>
                </a:r>
              </a:p>
            </p:txBody>
          </p:sp>
        </p:grpSp>
        <p:grpSp>
          <p:nvGrpSpPr>
            <p:cNvPr id="66582" name="Group 18"/>
            <p:cNvGrpSpPr>
              <a:grpSpLocks/>
            </p:cNvGrpSpPr>
            <p:nvPr/>
          </p:nvGrpSpPr>
          <p:grpSpPr bwMode="auto">
            <a:xfrm>
              <a:off x="2417" y="2441"/>
              <a:ext cx="1071" cy="186"/>
              <a:chOff x="1813" y="2187"/>
              <a:chExt cx="1071" cy="186"/>
            </a:xfrm>
          </p:grpSpPr>
          <p:sp>
            <p:nvSpPr>
              <p:cNvPr id="66599" name="Rectangle 19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66600" name="Text Box 20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400"/>
                  <a:t>airplane routing</a:t>
                </a:r>
              </a:p>
            </p:txBody>
          </p:sp>
        </p:grpSp>
        <p:sp>
          <p:nvSpPr>
            <p:cNvPr id="66583" name="Rectangle 21"/>
            <p:cNvSpPr>
              <a:spLocks noChangeArrowheads="1"/>
            </p:cNvSpPr>
            <p:nvPr/>
          </p:nvSpPr>
          <p:spPr bwMode="auto">
            <a:xfrm>
              <a:off x="3446" y="1551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84" name="Text Box 22"/>
            <p:cNvSpPr txBox="1">
              <a:spLocks noChangeArrowheads="1"/>
            </p:cNvSpPr>
            <p:nvPr/>
          </p:nvSpPr>
          <p:spPr bwMode="auto">
            <a:xfrm>
              <a:off x="3412" y="1598"/>
              <a:ext cx="107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400"/>
                <a:t>ticket (complain)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baggage (claim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gates (unload)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runway (land)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airplane routing</a:t>
              </a:r>
            </a:p>
          </p:txBody>
        </p:sp>
        <p:sp>
          <p:nvSpPr>
            <p:cNvPr id="66585" name="Line 23"/>
            <p:cNvSpPr>
              <a:spLocks noChangeShapeType="1"/>
            </p:cNvSpPr>
            <p:nvPr/>
          </p:nvSpPr>
          <p:spPr bwMode="auto">
            <a:xfrm>
              <a:off x="3453" y="177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6" name="Line 24"/>
            <p:cNvSpPr>
              <a:spLocks noChangeShapeType="1"/>
            </p:cNvSpPr>
            <p:nvPr/>
          </p:nvSpPr>
          <p:spPr bwMode="auto">
            <a:xfrm>
              <a:off x="3457" y="199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7" name="Line 25"/>
            <p:cNvSpPr>
              <a:spLocks noChangeShapeType="1"/>
            </p:cNvSpPr>
            <p:nvPr/>
          </p:nvSpPr>
          <p:spPr bwMode="auto">
            <a:xfrm>
              <a:off x="3453" y="2214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8" name="Line 26"/>
            <p:cNvSpPr>
              <a:spLocks noChangeShapeType="1"/>
            </p:cNvSpPr>
            <p:nvPr/>
          </p:nvSpPr>
          <p:spPr bwMode="auto">
            <a:xfrm>
              <a:off x="3461" y="2433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9" name="Rectangle 27"/>
            <p:cNvSpPr>
              <a:spLocks noChangeArrowheads="1"/>
            </p:cNvSpPr>
            <p:nvPr/>
          </p:nvSpPr>
          <p:spPr bwMode="auto">
            <a:xfrm>
              <a:off x="268" y="2476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0" name="Rectangle 28"/>
            <p:cNvSpPr>
              <a:spLocks noChangeArrowheads="1"/>
            </p:cNvSpPr>
            <p:nvPr/>
          </p:nvSpPr>
          <p:spPr bwMode="auto">
            <a:xfrm>
              <a:off x="268" y="2256"/>
              <a:ext cx="5293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1" name="Rectangle 29"/>
            <p:cNvSpPr>
              <a:spLocks noChangeArrowheads="1"/>
            </p:cNvSpPr>
            <p:nvPr/>
          </p:nvSpPr>
          <p:spPr bwMode="auto">
            <a:xfrm>
              <a:off x="268" y="2050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2" name="Rectangle 30"/>
            <p:cNvSpPr>
              <a:spLocks noChangeArrowheads="1"/>
            </p:cNvSpPr>
            <p:nvPr/>
          </p:nvSpPr>
          <p:spPr bwMode="auto">
            <a:xfrm>
              <a:off x="268" y="1830"/>
              <a:ext cx="5286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3" name="Rectangle 31"/>
            <p:cNvSpPr>
              <a:spLocks noChangeArrowheads="1"/>
            </p:cNvSpPr>
            <p:nvPr/>
          </p:nvSpPr>
          <p:spPr bwMode="auto">
            <a:xfrm>
              <a:off x="268" y="1617"/>
              <a:ext cx="5287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4" name="Text Box 32"/>
            <p:cNvSpPr txBox="1">
              <a:spLocks noChangeArrowheads="1"/>
            </p:cNvSpPr>
            <p:nvPr/>
          </p:nvSpPr>
          <p:spPr bwMode="auto">
            <a:xfrm>
              <a:off x="4776" y="1588"/>
              <a:ext cx="3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ticket</a:t>
              </a:r>
            </a:p>
          </p:txBody>
        </p:sp>
        <p:sp>
          <p:nvSpPr>
            <p:cNvPr id="66595" name="Text Box 33"/>
            <p:cNvSpPr txBox="1">
              <a:spLocks noChangeArrowheads="1"/>
            </p:cNvSpPr>
            <p:nvPr/>
          </p:nvSpPr>
          <p:spPr bwMode="auto">
            <a:xfrm>
              <a:off x="4774" y="1801"/>
              <a:ext cx="4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baggage</a:t>
              </a:r>
            </a:p>
          </p:txBody>
        </p:sp>
        <p:sp>
          <p:nvSpPr>
            <p:cNvPr id="66596" name="Text Box 34"/>
            <p:cNvSpPr txBox="1">
              <a:spLocks noChangeArrowheads="1"/>
            </p:cNvSpPr>
            <p:nvPr/>
          </p:nvSpPr>
          <p:spPr bwMode="auto">
            <a:xfrm>
              <a:off x="4772" y="2013"/>
              <a:ext cx="30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gate</a:t>
              </a:r>
            </a:p>
          </p:txBody>
        </p:sp>
        <p:sp>
          <p:nvSpPr>
            <p:cNvPr id="66597" name="Text Box 35"/>
            <p:cNvSpPr txBox="1">
              <a:spLocks noChangeArrowheads="1"/>
            </p:cNvSpPr>
            <p:nvPr/>
          </p:nvSpPr>
          <p:spPr bwMode="auto">
            <a:xfrm>
              <a:off x="4767" y="2225"/>
              <a:ext cx="7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takeoff/landing</a:t>
              </a:r>
            </a:p>
          </p:txBody>
        </p:sp>
        <p:sp>
          <p:nvSpPr>
            <p:cNvPr id="66598" name="Text Box 36"/>
            <p:cNvSpPr txBox="1">
              <a:spLocks noChangeArrowheads="1"/>
            </p:cNvSpPr>
            <p:nvPr/>
          </p:nvSpPr>
          <p:spPr bwMode="auto">
            <a:xfrm>
              <a:off x="4769" y="2444"/>
              <a:ext cx="7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airplane routing</a:t>
              </a:r>
            </a:p>
          </p:txBody>
        </p:sp>
      </p:grpSp>
      <p:sp>
        <p:nvSpPr>
          <p:cNvPr id="66565" name="Rectangle 39"/>
          <p:cNvSpPr>
            <a:spLocks noGrp="1" noChangeArrowheads="1"/>
          </p:cNvSpPr>
          <p:nvPr>
            <p:ph type="title" idx="4294967295"/>
          </p:nvPr>
        </p:nvSpPr>
        <p:spPr>
          <a:xfrm>
            <a:off x="319088" y="3175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Layering of airline functionality</a:t>
            </a:r>
          </a:p>
        </p:txBody>
      </p:sp>
      <p:sp>
        <p:nvSpPr>
          <p:cNvPr id="66566" name="Rectangle 40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4441825"/>
            <a:ext cx="7613650" cy="1763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layers:</a:t>
            </a:r>
            <a:r>
              <a:rPr lang="en-US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each layer implements a service</a:t>
            </a:r>
          </a:p>
          <a:p>
            <a:pPr lvl="1" eaLnBrk="1" hangingPunct="1"/>
            <a:r>
              <a:rPr lang="en-US" sz="2800" smtClean="0"/>
              <a:t>via its own internal-layer actions</a:t>
            </a:r>
          </a:p>
          <a:p>
            <a:pPr lvl="1" eaLnBrk="1" hangingPunct="1"/>
            <a:r>
              <a:rPr lang="en-US" sz="2800" smtClean="0"/>
              <a:t>relying on services provided by layer below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665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D5ACB8B-0403-42A7-87F3-AAF089B1167C}" type="slidenum">
              <a:rPr lang="en-US" sz="1200" smtClean="0">
                <a:latin typeface="Tahoma" pitchFamily="34" charset="0"/>
              </a:rPr>
              <a:pPr/>
              <a:t>58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7587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223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Why layering?</a:t>
            </a:r>
          </a:p>
        </p:txBody>
      </p:sp>
      <p:sp>
        <p:nvSpPr>
          <p:cNvPr id="675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46100" y="1435100"/>
            <a:ext cx="77724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3200" smtClean="0">
                <a:ea typeface="ＭＳ Ｐゴシック" pitchFamily="34" charset="-128"/>
              </a:rPr>
              <a:t>dealing with complex systems: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explicit structure allows identification, relationship of complex system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pieces</a:t>
            </a:r>
          </a:p>
          <a:p>
            <a:pPr lvl="1" eaLnBrk="1" hangingPunct="1"/>
            <a:r>
              <a:rPr lang="en-US" smtClean="0"/>
              <a:t>layered </a:t>
            </a:r>
            <a:r>
              <a:rPr lang="en-US" i="1" smtClean="0">
                <a:solidFill>
                  <a:srgbClr val="CC0000"/>
                </a:solidFill>
              </a:rPr>
              <a:t>reference model</a:t>
            </a:r>
            <a:r>
              <a:rPr lang="en-US" smtClean="0"/>
              <a:t> for discussion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modularization eases maintenance, updating of system</a:t>
            </a:r>
          </a:p>
          <a:p>
            <a:pPr lvl="1" eaLnBrk="1" hangingPunct="1"/>
            <a:r>
              <a:rPr lang="en-US" smtClean="0"/>
              <a:t>change of implementation of layer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service transparent to rest of system</a:t>
            </a:r>
          </a:p>
          <a:p>
            <a:pPr lvl="1" eaLnBrk="1" hangingPunct="1"/>
            <a:r>
              <a:rPr lang="en-US" smtClean="0"/>
              <a:t>e.g., change in gate procedure doesn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t affect rest of system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layering considered harmful?</a:t>
            </a:r>
          </a:p>
        </p:txBody>
      </p:sp>
      <p:sp>
        <p:nvSpPr>
          <p:cNvPr id="6759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AD8FA532-FD59-45A8-B16D-DAB3494DBE71}" type="slidenum">
              <a:rPr lang="en-US" sz="1200" smtClean="0">
                <a:latin typeface="Tahoma" pitchFamily="34" charset="0"/>
              </a:rPr>
              <a:pPr/>
              <a:t>59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8611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7312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2" name="Rectangle 2"/>
          <p:cNvSpPr>
            <a:spLocks noChangeArrowheads="1"/>
          </p:cNvSpPr>
          <p:nvPr/>
        </p:nvSpPr>
        <p:spPr bwMode="auto">
          <a:xfrm>
            <a:off x="6575425" y="17272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33388" y="114300"/>
            <a:ext cx="7772400" cy="10287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Internet protocol stack</a:t>
            </a:r>
          </a:p>
        </p:txBody>
      </p:sp>
      <p:sp>
        <p:nvSpPr>
          <p:cNvPr id="6861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7050" y="1333500"/>
            <a:ext cx="5554663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application:</a:t>
            </a:r>
            <a:r>
              <a:rPr lang="en-US" smtClean="0">
                <a:ea typeface="ＭＳ Ｐゴシック" pitchFamily="34" charset="-128"/>
              </a:rPr>
              <a:t> supporting network applications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FTP, SMTP, HTTP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transport:</a:t>
            </a:r>
            <a:r>
              <a:rPr lang="en-US" smtClean="0">
                <a:ea typeface="ＭＳ Ｐゴシック" pitchFamily="34" charset="-128"/>
              </a:rPr>
              <a:t> process-process data transfer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TCP, UDP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network:</a:t>
            </a:r>
            <a:r>
              <a:rPr lang="en-US" smtClean="0">
                <a:ea typeface="ＭＳ Ｐゴシック" pitchFamily="34" charset="-128"/>
              </a:rPr>
              <a:t> routing of datagrams from source to destination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IP, routing protocols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link:</a:t>
            </a:r>
            <a:r>
              <a:rPr lang="en-US" smtClean="0">
                <a:ea typeface="ＭＳ Ｐゴシック" pitchFamily="34" charset="-128"/>
              </a:rPr>
              <a:t> data transfer between neighboring  network elements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Ethernet, 802.111 (WiFi), PPP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physical:</a:t>
            </a:r>
            <a:r>
              <a:rPr lang="en-US" smtClean="0">
                <a:ea typeface="ＭＳ Ｐゴシック" pitchFamily="34" charset="-128"/>
              </a:rPr>
              <a:t> bits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on the wire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endParaRPr lang="en-US" altLang="ja-JP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68615" name="Rectangle 6"/>
          <p:cNvSpPr>
            <a:spLocks noChangeArrowheads="1"/>
          </p:cNvSpPr>
          <p:nvPr/>
        </p:nvSpPr>
        <p:spPr bwMode="auto">
          <a:xfrm>
            <a:off x="6457950" y="1824038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16" name="Text Box 7"/>
          <p:cNvSpPr txBox="1">
            <a:spLocks noChangeArrowheads="1"/>
          </p:cNvSpPr>
          <p:nvPr/>
        </p:nvSpPr>
        <p:spPr bwMode="auto">
          <a:xfrm>
            <a:off x="6562725" y="1920875"/>
            <a:ext cx="16446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/>
              <a:t>application</a:t>
            </a:r>
          </a:p>
          <a:p>
            <a:pPr algn="ctr"/>
            <a:endParaRPr lang="en-US"/>
          </a:p>
          <a:p>
            <a:pPr algn="ctr"/>
            <a:r>
              <a:rPr lang="en-US"/>
              <a:t>transport</a:t>
            </a:r>
          </a:p>
          <a:p>
            <a:pPr algn="ctr"/>
            <a:endParaRPr lang="en-US"/>
          </a:p>
          <a:p>
            <a:pPr algn="ctr"/>
            <a:r>
              <a:rPr lang="en-US"/>
              <a:t>network</a:t>
            </a:r>
          </a:p>
          <a:p>
            <a:pPr algn="ctr"/>
            <a:endParaRPr lang="en-US"/>
          </a:p>
          <a:p>
            <a:pPr algn="ctr"/>
            <a:r>
              <a:rPr lang="en-US"/>
              <a:t>link</a:t>
            </a:r>
          </a:p>
          <a:p>
            <a:pPr algn="ctr"/>
            <a:endParaRPr lang="en-US"/>
          </a:p>
          <a:p>
            <a:pPr algn="ctr"/>
            <a:r>
              <a:rPr lang="en-US"/>
              <a:t>physical</a:t>
            </a:r>
          </a:p>
        </p:txBody>
      </p:sp>
      <p:sp>
        <p:nvSpPr>
          <p:cNvPr id="68617" name="Line 8"/>
          <p:cNvSpPr>
            <a:spLocks noChangeShapeType="1"/>
          </p:cNvSpPr>
          <p:nvPr/>
        </p:nvSpPr>
        <p:spPr bwMode="auto">
          <a:xfrm>
            <a:off x="6451600" y="251618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8" name="Line 9"/>
          <p:cNvSpPr>
            <a:spLocks noChangeShapeType="1"/>
          </p:cNvSpPr>
          <p:nvPr/>
        </p:nvSpPr>
        <p:spPr bwMode="auto">
          <a:xfrm>
            <a:off x="6451600" y="32210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9" name="Line 10"/>
          <p:cNvSpPr>
            <a:spLocks noChangeShapeType="1"/>
          </p:cNvSpPr>
          <p:nvPr/>
        </p:nvSpPr>
        <p:spPr bwMode="auto">
          <a:xfrm>
            <a:off x="6451600" y="39322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0" name="Line 11"/>
          <p:cNvSpPr>
            <a:spLocks noChangeShapeType="1"/>
          </p:cNvSpPr>
          <p:nvPr/>
        </p:nvSpPr>
        <p:spPr bwMode="auto">
          <a:xfrm>
            <a:off x="6451600" y="46434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0048837D-10EB-4830-B5F4-B1B86BAB0A71}" type="slidenum">
              <a:rPr lang="en-US" sz="1200" smtClean="0">
                <a:latin typeface="Tahoma" pitchFamily="34" charset="0"/>
              </a:rPr>
              <a:pPr/>
              <a:t>60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6505575" y="16383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00050" y="85725"/>
            <a:ext cx="6503988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ISO/OSI reference model</a:t>
            </a:r>
          </a:p>
        </p:txBody>
      </p:sp>
      <p:sp>
        <p:nvSpPr>
          <p:cNvPr id="69637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84200" y="1422400"/>
            <a:ext cx="5154613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presentation:</a:t>
            </a:r>
            <a:r>
              <a:rPr lang="en-US" smtClean="0">
                <a:ea typeface="ＭＳ Ｐゴシック" pitchFamily="34" charset="-128"/>
              </a:rPr>
              <a:t> allow applications to interpret meaning of data, e.g., encryption, compression, machine-specific conventions</a:t>
            </a:r>
          </a:p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session:</a:t>
            </a:r>
            <a:r>
              <a:rPr lang="en-US" smtClean="0">
                <a:ea typeface="ＭＳ Ｐゴシック" pitchFamily="34" charset="-128"/>
              </a:rPr>
              <a:t> synchronization, checkpointing, recovery of data exchange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Internet stack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missing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these layers!</a:t>
            </a:r>
          </a:p>
          <a:p>
            <a:pPr lvl="1" eaLnBrk="1" hangingPunct="1"/>
            <a:r>
              <a:rPr lang="en-US" smtClean="0"/>
              <a:t>these services, </a:t>
            </a:r>
            <a:r>
              <a:rPr lang="en-US" i="1" smtClean="0"/>
              <a:t>if needed,</a:t>
            </a:r>
            <a:r>
              <a:rPr lang="en-US" smtClean="0"/>
              <a:t> must be implemented in application</a:t>
            </a:r>
          </a:p>
          <a:p>
            <a:pPr lvl="1" eaLnBrk="1" hangingPunct="1"/>
            <a:r>
              <a:rPr lang="en-US" smtClean="0"/>
              <a:t>needed?</a:t>
            </a:r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6391275" y="1774825"/>
            <a:ext cx="1892300" cy="35861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6348413" y="1946275"/>
            <a:ext cx="1982787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/>
              <a:t>application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presentation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session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transport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network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link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physical</a:t>
            </a:r>
          </a:p>
        </p:txBody>
      </p:sp>
      <p:sp>
        <p:nvSpPr>
          <p:cNvPr id="69640" name="Line 8"/>
          <p:cNvSpPr>
            <a:spLocks noChangeShapeType="1"/>
          </p:cNvSpPr>
          <p:nvPr/>
        </p:nvSpPr>
        <p:spPr bwMode="auto">
          <a:xfrm>
            <a:off x="6370638" y="236696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1" name="Line 9"/>
          <p:cNvSpPr>
            <a:spLocks noChangeShapeType="1"/>
          </p:cNvSpPr>
          <p:nvPr/>
        </p:nvSpPr>
        <p:spPr bwMode="auto">
          <a:xfrm>
            <a:off x="6384925" y="33432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Line 10"/>
          <p:cNvSpPr>
            <a:spLocks noChangeShapeType="1"/>
          </p:cNvSpPr>
          <p:nvPr/>
        </p:nvSpPr>
        <p:spPr bwMode="auto">
          <a:xfrm>
            <a:off x="6384925" y="3883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3" name="Line 11"/>
          <p:cNvSpPr>
            <a:spLocks noChangeShapeType="1"/>
          </p:cNvSpPr>
          <p:nvPr/>
        </p:nvSpPr>
        <p:spPr bwMode="auto">
          <a:xfrm>
            <a:off x="6386513" y="4899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4" name="Line 12"/>
          <p:cNvSpPr>
            <a:spLocks noChangeShapeType="1"/>
          </p:cNvSpPr>
          <p:nvPr/>
        </p:nvSpPr>
        <p:spPr bwMode="auto">
          <a:xfrm>
            <a:off x="6370638" y="44164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>
            <a:off x="6369050" y="28860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9646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895350"/>
            <a:ext cx="59880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E49342DF-32D0-4CFA-B94D-F1EBDAA4AC97}" type="slidenum">
              <a:rPr lang="en-US" sz="1200" smtClean="0">
                <a:latin typeface="Tahoma" pitchFamily="34" charset="0"/>
              </a:rPr>
              <a:pPr/>
              <a:t>61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70659" name="Picture 19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5" y="795338"/>
            <a:ext cx="33702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0" name="Freeform 99"/>
          <p:cNvSpPr>
            <a:spLocks/>
          </p:cNvSpPr>
          <p:nvPr/>
        </p:nvSpPr>
        <p:spPr bwMode="auto">
          <a:xfrm>
            <a:off x="6978650" y="4156075"/>
            <a:ext cx="655638" cy="1135063"/>
          </a:xfrm>
          <a:custGeom>
            <a:avLst/>
            <a:gdLst>
              <a:gd name="T0" fmla="*/ 2147483647 w 413"/>
              <a:gd name="T1" fmla="*/ 2147483647 h 715"/>
              <a:gd name="T2" fmla="*/ 2147483647 w 413"/>
              <a:gd name="T3" fmla="*/ 0 h 715"/>
              <a:gd name="T4" fmla="*/ 0 w 413"/>
              <a:gd name="T5" fmla="*/ 2147483647 h 715"/>
              <a:gd name="T6" fmla="*/ 2147483647 w 413"/>
              <a:gd name="T7" fmla="*/ 2147483647 h 715"/>
              <a:gd name="T8" fmla="*/ 2147483647 w 413"/>
              <a:gd name="T9" fmla="*/ 2147483647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1" name="Freeform 3"/>
          <p:cNvSpPr>
            <a:spLocks/>
          </p:cNvSpPr>
          <p:nvPr/>
        </p:nvSpPr>
        <p:spPr bwMode="auto">
          <a:xfrm>
            <a:off x="7129463" y="2246313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0662" name="Group 180"/>
          <p:cNvGrpSpPr>
            <a:grpSpLocks/>
          </p:cNvGrpSpPr>
          <p:nvPr/>
        </p:nvGrpSpPr>
        <p:grpSpPr bwMode="auto">
          <a:xfrm>
            <a:off x="7329488" y="2754313"/>
            <a:ext cx="1052512" cy="355600"/>
            <a:chOff x="4410" y="1365"/>
            <a:chExt cx="663" cy="224"/>
          </a:xfrm>
        </p:grpSpPr>
        <p:sp>
          <p:nvSpPr>
            <p:cNvPr id="70796" name="Rectangle 181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97" name="AutoShape 182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98" name="Freeform 183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799" name="Freeform 184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117 h 63"/>
                <a:gd name="T2" fmla="*/ 45061 w 280"/>
                <a:gd name="T3" fmla="*/ 1087 h 63"/>
                <a:gd name="T4" fmla="*/ 265937 w 280"/>
                <a:gd name="T5" fmla="*/ 0 h 63"/>
                <a:gd name="T6" fmla="*/ 33952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800" name="Freeform 185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0663" name="Group 170"/>
          <p:cNvGrpSpPr>
            <a:grpSpLocks/>
          </p:cNvGrpSpPr>
          <p:nvPr/>
        </p:nvGrpSpPr>
        <p:grpSpPr bwMode="auto">
          <a:xfrm>
            <a:off x="7392988" y="5013325"/>
            <a:ext cx="881062" cy="422275"/>
            <a:chOff x="2356" y="1300"/>
            <a:chExt cx="555" cy="194"/>
          </a:xfrm>
        </p:grpSpPr>
        <p:sp>
          <p:nvSpPr>
            <p:cNvPr id="7078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7078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7079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70791" name="Group 174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0794" name="Freeform 17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95" name="Freeform 17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0792" name="Line 177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3" name="Line 178"/>
            <p:cNvSpPr>
              <a:spLocks noChangeShapeType="1"/>
            </p:cNvSpPr>
            <p:nvPr/>
          </p:nvSpPr>
          <p:spPr bwMode="auto">
            <a:xfrm>
              <a:off x="2907" y="1363"/>
              <a:ext cx="0" cy="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64" name="Freeform 2"/>
          <p:cNvSpPr>
            <a:spLocks/>
          </p:cNvSpPr>
          <p:nvPr/>
        </p:nvSpPr>
        <p:spPr bwMode="auto">
          <a:xfrm>
            <a:off x="3817938" y="1447800"/>
            <a:ext cx="4048125" cy="3833813"/>
          </a:xfrm>
          <a:custGeom>
            <a:avLst/>
            <a:gdLst>
              <a:gd name="T0" fmla="*/ 2147483647 w 2550"/>
              <a:gd name="T1" fmla="*/ 0 h 2415"/>
              <a:gd name="T2" fmla="*/ 2147483647 w 2550"/>
              <a:gd name="T3" fmla="*/ 0 h 2415"/>
              <a:gd name="T4" fmla="*/ 2147483647 w 2550"/>
              <a:gd name="T5" fmla="*/ 2147483647 h 2415"/>
              <a:gd name="T6" fmla="*/ 0 w 2550"/>
              <a:gd name="T7" fmla="*/ 2147483647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5" name="Text Box 8"/>
          <p:cNvSpPr txBox="1">
            <a:spLocks noChangeArrowheads="1"/>
          </p:cNvSpPr>
          <p:nvPr/>
        </p:nvSpPr>
        <p:spPr bwMode="auto">
          <a:xfrm>
            <a:off x="2716213" y="22383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>
                <a:solidFill>
                  <a:srgbClr val="000099"/>
                </a:solidFill>
              </a:rPr>
              <a:t>source</a:t>
            </a:r>
          </a:p>
        </p:txBody>
      </p:sp>
      <p:sp>
        <p:nvSpPr>
          <p:cNvPr id="70666" name="Freeform 10"/>
          <p:cNvSpPr>
            <a:spLocks/>
          </p:cNvSpPr>
          <p:nvPr/>
        </p:nvSpPr>
        <p:spPr bwMode="auto">
          <a:xfrm>
            <a:off x="3868738" y="650875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7" name="Rectangle 23"/>
          <p:cNvSpPr>
            <a:spLocks noChangeArrowheads="1"/>
          </p:cNvSpPr>
          <p:nvPr/>
        </p:nvSpPr>
        <p:spPr bwMode="auto">
          <a:xfrm>
            <a:off x="2644775" y="660400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8" name="Rectangle 24"/>
          <p:cNvSpPr>
            <a:spLocks noChangeArrowheads="1"/>
          </p:cNvSpPr>
          <p:nvPr/>
        </p:nvSpPr>
        <p:spPr bwMode="auto">
          <a:xfrm>
            <a:off x="2597150" y="7318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9" name="Line 25"/>
          <p:cNvSpPr>
            <a:spLocks noChangeShapeType="1"/>
          </p:cNvSpPr>
          <p:nvPr/>
        </p:nvSpPr>
        <p:spPr bwMode="auto">
          <a:xfrm>
            <a:off x="2597150" y="10493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0" name="Text Box 26"/>
          <p:cNvSpPr txBox="1">
            <a:spLocks noChangeArrowheads="1"/>
          </p:cNvSpPr>
          <p:nvPr/>
        </p:nvSpPr>
        <p:spPr bwMode="auto">
          <a:xfrm>
            <a:off x="2554288" y="6985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physical</a:t>
            </a:r>
          </a:p>
        </p:txBody>
      </p:sp>
      <p:sp>
        <p:nvSpPr>
          <p:cNvPr id="70671" name="Line 27"/>
          <p:cNvSpPr>
            <a:spLocks noChangeShapeType="1"/>
          </p:cNvSpPr>
          <p:nvPr/>
        </p:nvSpPr>
        <p:spPr bwMode="auto">
          <a:xfrm>
            <a:off x="2605088" y="13700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2" name="Line 28"/>
          <p:cNvSpPr>
            <a:spLocks noChangeShapeType="1"/>
          </p:cNvSpPr>
          <p:nvPr/>
        </p:nvSpPr>
        <p:spPr bwMode="auto">
          <a:xfrm>
            <a:off x="2609850" y="16510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3" name="Line 29"/>
          <p:cNvSpPr>
            <a:spLocks noChangeShapeType="1"/>
          </p:cNvSpPr>
          <p:nvPr/>
        </p:nvSpPr>
        <p:spPr bwMode="auto">
          <a:xfrm>
            <a:off x="2609850" y="19272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1219200" y="1368425"/>
            <a:ext cx="1208088" cy="303213"/>
            <a:chOff x="501" y="1990"/>
            <a:chExt cx="761" cy="191"/>
          </a:xfrm>
        </p:grpSpPr>
        <p:sp>
          <p:nvSpPr>
            <p:cNvPr id="70782" name="Rectangle 40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83" name="Rectangle 41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84" name="Rectangle 42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85" name="Rectangle 43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86" name="Line 44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7" name="Line 45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395288" y="996950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>
                <a:solidFill>
                  <a:srgbClr val="CC0000"/>
                </a:solidFill>
              </a:rPr>
              <a:t>segment</a:t>
            </a:r>
          </a:p>
        </p:txBody>
      </p:sp>
      <p:grpSp>
        <p:nvGrpSpPr>
          <p:cNvPr id="6" name="Group 178"/>
          <p:cNvGrpSpPr>
            <a:grpSpLocks/>
          </p:cNvGrpSpPr>
          <p:nvPr/>
        </p:nvGrpSpPr>
        <p:grpSpPr bwMode="auto">
          <a:xfrm>
            <a:off x="1533525" y="1033463"/>
            <a:ext cx="301625" cy="292100"/>
            <a:chOff x="1962" y="2058"/>
            <a:chExt cx="190" cy="184"/>
          </a:xfrm>
        </p:grpSpPr>
        <p:sp>
          <p:nvSpPr>
            <p:cNvPr id="70780" name="Rectangle 47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81" name="Rectangle 48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</p:grp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195263" y="1336675"/>
            <a:ext cx="1042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>
                <a:solidFill>
                  <a:srgbClr val="CC0000"/>
                </a:solidFill>
              </a:rPr>
              <a:t>datagram</a:t>
            </a:r>
          </a:p>
        </p:txBody>
      </p:sp>
      <p:sp>
        <p:nvSpPr>
          <p:cNvPr id="70678" name="Text Box 54"/>
          <p:cNvSpPr txBox="1">
            <a:spLocks noChangeArrowheads="1"/>
          </p:cNvSpPr>
          <p:nvPr/>
        </p:nvSpPr>
        <p:spPr bwMode="auto">
          <a:xfrm>
            <a:off x="1547813" y="4157663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 i="1">
                <a:solidFill>
                  <a:srgbClr val="000099"/>
                </a:solidFill>
              </a:rPr>
              <a:t>destination</a:t>
            </a:r>
          </a:p>
        </p:txBody>
      </p:sp>
      <p:sp>
        <p:nvSpPr>
          <p:cNvPr id="70679" name="Freeform 56"/>
          <p:cNvSpPr>
            <a:spLocks/>
          </p:cNvSpPr>
          <p:nvPr/>
        </p:nvSpPr>
        <p:spPr bwMode="auto">
          <a:xfrm>
            <a:off x="2979738" y="4540250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80" name="Rectangle 57"/>
          <p:cNvSpPr>
            <a:spLocks noChangeArrowheads="1"/>
          </p:cNvSpPr>
          <p:nvPr/>
        </p:nvSpPr>
        <p:spPr bwMode="auto">
          <a:xfrm>
            <a:off x="1755775" y="4546600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1" name="Rectangle 58"/>
          <p:cNvSpPr>
            <a:spLocks noChangeArrowheads="1"/>
          </p:cNvSpPr>
          <p:nvPr/>
        </p:nvSpPr>
        <p:spPr bwMode="auto">
          <a:xfrm>
            <a:off x="1708150" y="46180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82" name="Line 59"/>
          <p:cNvSpPr>
            <a:spLocks noChangeShapeType="1"/>
          </p:cNvSpPr>
          <p:nvPr/>
        </p:nvSpPr>
        <p:spPr bwMode="auto">
          <a:xfrm>
            <a:off x="1708150" y="49355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3" name="Text Box 60"/>
          <p:cNvSpPr txBox="1">
            <a:spLocks noChangeArrowheads="1"/>
          </p:cNvSpPr>
          <p:nvPr/>
        </p:nvSpPr>
        <p:spPr bwMode="auto">
          <a:xfrm>
            <a:off x="1665288" y="45847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physical</a:t>
            </a:r>
          </a:p>
        </p:txBody>
      </p:sp>
      <p:sp>
        <p:nvSpPr>
          <p:cNvPr id="70684" name="Line 61"/>
          <p:cNvSpPr>
            <a:spLocks noChangeShapeType="1"/>
          </p:cNvSpPr>
          <p:nvPr/>
        </p:nvSpPr>
        <p:spPr bwMode="auto">
          <a:xfrm>
            <a:off x="1716088" y="52562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5" name="Line 62"/>
          <p:cNvSpPr>
            <a:spLocks noChangeShapeType="1"/>
          </p:cNvSpPr>
          <p:nvPr/>
        </p:nvSpPr>
        <p:spPr bwMode="auto">
          <a:xfrm>
            <a:off x="1720850" y="55372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6" name="Line 63"/>
          <p:cNvSpPr>
            <a:spLocks noChangeShapeType="1"/>
          </p:cNvSpPr>
          <p:nvPr/>
        </p:nvSpPr>
        <p:spPr bwMode="auto">
          <a:xfrm>
            <a:off x="1720850" y="58134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687" name="Group 64"/>
          <p:cNvGrpSpPr>
            <a:grpSpLocks/>
          </p:cNvGrpSpPr>
          <p:nvPr/>
        </p:nvGrpSpPr>
        <p:grpSpPr bwMode="auto">
          <a:xfrm>
            <a:off x="152400" y="5527675"/>
            <a:ext cx="1479550" cy="303213"/>
            <a:chOff x="332" y="2224"/>
            <a:chExt cx="932" cy="191"/>
          </a:xfrm>
        </p:grpSpPr>
        <p:sp>
          <p:nvSpPr>
            <p:cNvPr id="70772" name="Rectangle 65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73" name="Rectangle 66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74" name="Rectangle 67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75" name="Rectangle 68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l</a:t>
              </a:r>
            </a:p>
          </p:txBody>
        </p:sp>
        <p:sp>
          <p:nvSpPr>
            <p:cNvPr id="70776" name="Rectangle 69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77" name="Line 70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8" name="Line 71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9" name="Line 72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688" name="Group 73"/>
          <p:cNvGrpSpPr>
            <a:grpSpLocks/>
          </p:cNvGrpSpPr>
          <p:nvPr/>
        </p:nvGrpSpPr>
        <p:grpSpPr bwMode="auto">
          <a:xfrm>
            <a:off x="420688" y="5229225"/>
            <a:ext cx="1208087" cy="303213"/>
            <a:chOff x="501" y="1990"/>
            <a:chExt cx="761" cy="191"/>
          </a:xfrm>
        </p:grpSpPr>
        <p:sp>
          <p:nvSpPr>
            <p:cNvPr id="70766" name="Rectangle 74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7" name="Rectangle 75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68" name="Rectangle 76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69" name="Rectangle 77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70" name="Line 78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1" name="Line 79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689" name="Group 80"/>
          <p:cNvGrpSpPr>
            <a:grpSpLocks/>
          </p:cNvGrpSpPr>
          <p:nvPr/>
        </p:nvGrpSpPr>
        <p:grpSpPr bwMode="auto">
          <a:xfrm>
            <a:off x="723900" y="4921250"/>
            <a:ext cx="890588" cy="303213"/>
            <a:chOff x="645" y="1734"/>
            <a:chExt cx="561" cy="191"/>
          </a:xfrm>
        </p:grpSpPr>
        <p:sp>
          <p:nvSpPr>
            <p:cNvPr id="70762" name="Rectangle 81"/>
            <p:cNvSpPr>
              <a:spLocks noChangeArrowheads="1"/>
            </p:cNvSpPr>
            <p:nvPr/>
          </p:nvSpPr>
          <p:spPr bwMode="auto">
            <a:xfrm>
              <a:off x="645" y="1751"/>
              <a:ext cx="4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3" name="Rectangle 82"/>
            <p:cNvSpPr>
              <a:spLocks noChangeArrowheads="1"/>
            </p:cNvSpPr>
            <p:nvPr/>
          </p:nvSpPr>
          <p:spPr bwMode="auto"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64" name="Rectangle 83"/>
            <p:cNvSpPr>
              <a:spLocks noChangeArrowheads="1"/>
            </p:cNvSpPr>
            <p:nvPr/>
          </p:nvSpPr>
          <p:spPr bwMode="auto"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65" name="Line 84"/>
            <p:cNvSpPr>
              <a:spLocks noChangeShapeType="1"/>
            </p:cNvSpPr>
            <p:nvPr/>
          </p:nvSpPr>
          <p:spPr bwMode="auto">
            <a:xfrm>
              <a:off x="824" y="175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690" name="Group 85"/>
          <p:cNvGrpSpPr>
            <a:grpSpLocks/>
          </p:cNvGrpSpPr>
          <p:nvPr/>
        </p:nvGrpSpPr>
        <p:grpSpPr bwMode="auto">
          <a:xfrm>
            <a:off x="930275" y="4610100"/>
            <a:ext cx="679450" cy="301625"/>
            <a:chOff x="780" y="1553"/>
            <a:chExt cx="428" cy="190"/>
          </a:xfrm>
        </p:grpSpPr>
        <p:sp>
          <p:nvSpPr>
            <p:cNvPr id="70760" name="Rectangle 86"/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1" name="Rectangle 87"/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</p:grpSp>
      <p:grpSp>
        <p:nvGrpSpPr>
          <p:cNvPr id="70691" name="Group 88"/>
          <p:cNvGrpSpPr>
            <a:grpSpLocks/>
          </p:cNvGrpSpPr>
          <p:nvPr/>
        </p:nvGrpSpPr>
        <p:grpSpPr bwMode="auto">
          <a:xfrm>
            <a:off x="5654675" y="4164013"/>
            <a:ext cx="1387475" cy="1035050"/>
            <a:chOff x="3601" y="168"/>
            <a:chExt cx="874" cy="652"/>
          </a:xfrm>
        </p:grpSpPr>
        <p:sp>
          <p:nvSpPr>
            <p:cNvPr id="70755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6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7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8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/>
                <a:t>network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/>
                <a:t>physical</a:t>
              </a:r>
            </a:p>
          </p:txBody>
        </p:sp>
        <p:sp>
          <p:nvSpPr>
            <p:cNvPr id="70759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0692" name="Group 94"/>
          <p:cNvGrpSpPr>
            <a:grpSpLocks/>
          </p:cNvGrpSpPr>
          <p:nvPr/>
        </p:nvGrpSpPr>
        <p:grpSpPr bwMode="auto">
          <a:xfrm>
            <a:off x="5821363" y="2271713"/>
            <a:ext cx="1387475" cy="733425"/>
            <a:chOff x="4696" y="597"/>
            <a:chExt cx="874" cy="462"/>
          </a:xfrm>
        </p:grpSpPr>
        <p:sp>
          <p:nvSpPr>
            <p:cNvPr id="70751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2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3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4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/>
                <a:t>physical</a:t>
              </a:r>
            </a:p>
          </p:txBody>
        </p:sp>
      </p:grpSp>
      <p:sp>
        <p:nvSpPr>
          <p:cNvPr id="70693" name="Freeform 114"/>
          <p:cNvSpPr>
            <a:spLocks/>
          </p:cNvSpPr>
          <p:nvPr/>
        </p:nvSpPr>
        <p:spPr bwMode="auto">
          <a:xfrm>
            <a:off x="1828800" y="533400"/>
            <a:ext cx="5264150" cy="5494338"/>
          </a:xfrm>
          <a:custGeom>
            <a:avLst/>
            <a:gdLst>
              <a:gd name="T0" fmla="*/ 2147483647 w 3316"/>
              <a:gd name="T1" fmla="*/ 0 h 3461"/>
              <a:gd name="T2" fmla="*/ 2147483647 w 3316"/>
              <a:gd name="T3" fmla="*/ 2147483647 h 3461"/>
              <a:gd name="T4" fmla="*/ 2147483647 w 3316"/>
              <a:gd name="T5" fmla="*/ 2147483647 h 3461"/>
              <a:gd name="T6" fmla="*/ 2147483647 w 3316"/>
              <a:gd name="T7" fmla="*/ 2147483647 h 3461"/>
              <a:gd name="T8" fmla="*/ 2147483647 w 3316"/>
              <a:gd name="T9" fmla="*/ 2147483647 h 3461"/>
              <a:gd name="T10" fmla="*/ 2147483647 w 3316"/>
              <a:gd name="T11" fmla="*/ 2147483647 h 3461"/>
              <a:gd name="T12" fmla="*/ 2147483647 w 3316"/>
              <a:gd name="T13" fmla="*/ 2147483647 h 3461"/>
              <a:gd name="T14" fmla="*/ 2147483647 w 3316"/>
              <a:gd name="T15" fmla="*/ 2147483647 h 3461"/>
              <a:gd name="T16" fmla="*/ 2147483647 w 3316"/>
              <a:gd name="T17" fmla="*/ 2147483647 h 3461"/>
              <a:gd name="T18" fmla="*/ 2147483647 w 3316"/>
              <a:gd name="T19" fmla="*/ 2147483647 h 3461"/>
              <a:gd name="T20" fmla="*/ 2147483647 w 3316"/>
              <a:gd name="T21" fmla="*/ 2147483647 h 3461"/>
              <a:gd name="T22" fmla="*/ 0 w 3316"/>
              <a:gd name="T23" fmla="*/ 2147483647 h 3461"/>
              <a:gd name="T24" fmla="*/ 0 w 3316"/>
              <a:gd name="T25" fmla="*/ 2147483647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694" name="Group 115"/>
          <p:cNvGrpSpPr>
            <a:grpSpLocks/>
          </p:cNvGrpSpPr>
          <p:nvPr/>
        </p:nvGrpSpPr>
        <p:grpSpPr bwMode="auto">
          <a:xfrm>
            <a:off x="4238625" y="4546600"/>
            <a:ext cx="1479550" cy="303213"/>
            <a:chOff x="332" y="2224"/>
            <a:chExt cx="932" cy="191"/>
          </a:xfrm>
        </p:grpSpPr>
        <p:sp>
          <p:nvSpPr>
            <p:cNvPr id="70743" name="Rectangle 116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44" name="Rectangle 117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45" name="Rectangle 118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46" name="Rectangle 119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l</a:t>
              </a:r>
            </a:p>
          </p:txBody>
        </p:sp>
        <p:sp>
          <p:nvSpPr>
            <p:cNvPr id="70747" name="Rectangle 120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48" name="Line 121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9" name="Line 122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0" name="Line 123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695" name="Group 124"/>
          <p:cNvGrpSpPr>
            <a:grpSpLocks/>
          </p:cNvGrpSpPr>
          <p:nvPr/>
        </p:nvGrpSpPr>
        <p:grpSpPr bwMode="auto">
          <a:xfrm>
            <a:off x="4497388" y="4240213"/>
            <a:ext cx="1208087" cy="303212"/>
            <a:chOff x="501" y="1990"/>
            <a:chExt cx="761" cy="191"/>
          </a:xfrm>
        </p:grpSpPr>
        <p:sp>
          <p:nvSpPr>
            <p:cNvPr id="70737" name="Rectangle 125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38" name="Rectangle 126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39" name="Rectangle 127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40" name="Rectangle 128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41" name="Line 129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2" name="Line 130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40"/>
          <p:cNvGrpSpPr>
            <a:grpSpLocks/>
          </p:cNvGrpSpPr>
          <p:nvPr/>
        </p:nvGrpSpPr>
        <p:grpSpPr bwMode="auto">
          <a:xfrm>
            <a:off x="7269163" y="4606925"/>
            <a:ext cx="1208087" cy="303213"/>
            <a:chOff x="501" y="1990"/>
            <a:chExt cx="761" cy="191"/>
          </a:xfrm>
        </p:grpSpPr>
        <p:sp>
          <p:nvSpPr>
            <p:cNvPr id="70731" name="Rectangle 141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32" name="Rectangle 142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33" name="Rectangle 143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34" name="Rectangle 144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35" name="Line 145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6" name="Line 146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56"/>
          <p:cNvGrpSpPr>
            <a:grpSpLocks/>
          </p:cNvGrpSpPr>
          <p:nvPr/>
        </p:nvGrpSpPr>
        <p:grpSpPr bwMode="auto">
          <a:xfrm>
            <a:off x="938213" y="1665288"/>
            <a:ext cx="1479550" cy="303212"/>
            <a:chOff x="332" y="2224"/>
            <a:chExt cx="932" cy="191"/>
          </a:xfrm>
        </p:grpSpPr>
        <p:sp>
          <p:nvSpPr>
            <p:cNvPr id="70723" name="Rectangle 157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24" name="Rectangle 158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25" name="Rectangle 159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26" name="Rectangle 160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l</a:t>
              </a:r>
            </a:p>
          </p:txBody>
        </p:sp>
        <p:sp>
          <p:nvSpPr>
            <p:cNvPr id="70727" name="Rectangle 161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28" name="Line 162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29" name="Line 163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0" name="Line 164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98" name="Text Box 166"/>
          <p:cNvSpPr txBox="1">
            <a:spLocks noChangeArrowheads="1"/>
          </p:cNvSpPr>
          <p:nvPr/>
        </p:nvSpPr>
        <p:spPr bwMode="auto">
          <a:xfrm>
            <a:off x="7921625" y="54117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/>
              <a:t>router</a:t>
            </a:r>
          </a:p>
        </p:txBody>
      </p:sp>
      <p:sp>
        <p:nvSpPr>
          <p:cNvPr id="70699" name="Text Box 167"/>
          <p:cNvSpPr txBox="1">
            <a:spLocks noChangeArrowheads="1"/>
          </p:cNvSpPr>
          <p:nvPr/>
        </p:nvSpPr>
        <p:spPr bwMode="auto">
          <a:xfrm>
            <a:off x="7935913" y="3098800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/>
              <a:t>switch</a:t>
            </a:r>
          </a:p>
        </p:txBody>
      </p:sp>
      <p:sp>
        <p:nvSpPr>
          <p:cNvPr id="70700" name="Rectangle 168"/>
          <p:cNvSpPr>
            <a:spLocks noGrp="1" noChangeArrowheads="1"/>
          </p:cNvSpPr>
          <p:nvPr>
            <p:ph type="title" idx="4294967295"/>
          </p:nvPr>
        </p:nvSpPr>
        <p:spPr>
          <a:xfrm>
            <a:off x="4995863" y="0"/>
            <a:ext cx="3805237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Encapsulation</a:t>
            </a:r>
          </a:p>
        </p:txBody>
      </p:sp>
      <p:sp>
        <p:nvSpPr>
          <p:cNvPr id="112814" name="Text Box 174"/>
          <p:cNvSpPr txBox="1">
            <a:spLocks noChangeArrowheads="1"/>
          </p:cNvSpPr>
          <p:nvPr/>
        </p:nvSpPr>
        <p:spPr bwMode="auto">
          <a:xfrm>
            <a:off x="703263" y="692150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>
                <a:solidFill>
                  <a:srgbClr val="CC0000"/>
                </a:solidFill>
              </a:rPr>
              <a:t>message</a:t>
            </a:r>
          </a:p>
        </p:txBody>
      </p:sp>
      <p:grpSp>
        <p:nvGrpSpPr>
          <p:cNvPr id="17" name="Group 175"/>
          <p:cNvGrpSpPr>
            <a:grpSpLocks/>
          </p:cNvGrpSpPr>
          <p:nvPr/>
        </p:nvGrpSpPr>
        <p:grpSpPr bwMode="auto">
          <a:xfrm>
            <a:off x="1763713" y="719138"/>
            <a:ext cx="679450" cy="301625"/>
            <a:chOff x="780" y="1553"/>
            <a:chExt cx="428" cy="190"/>
          </a:xfrm>
        </p:grpSpPr>
        <p:sp>
          <p:nvSpPr>
            <p:cNvPr id="70721" name="Rectangle 176"/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22" name="Rectangle 177"/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</p:grpSp>
      <p:grpSp>
        <p:nvGrpSpPr>
          <p:cNvPr id="18" name="Group 185"/>
          <p:cNvGrpSpPr>
            <a:grpSpLocks/>
          </p:cNvGrpSpPr>
          <p:nvPr/>
        </p:nvGrpSpPr>
        <p:grpSpPr bwMode="auto">
          <a:xfrm>
            <a:off x="1528763" y="1039813"/>
            <a:ext cx="903287" cy="301625"/>
            <a:chOff x="1851" y="2046"/>
            <a:chExt cx="569" cy="190"/>
          </a:xfrm>
        </p:grpSpPr>
        <p:grpSp>
          <p:nvGrpSpPr>
            <p:cNvPr id="70715" name="Group 179"/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70719" name="Rectangle 180"/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20" name="Rectangle 181"/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00"/>
                  <a:t>H</a:t>
                </a:r>
                <a:r>
                  <a:rPr lang="en-US" sz="1800" baseline="-25000"/>
                  <a:t>t</a:t>
                </a:r>
              </a:p>
            </p:txBody>
          </p:sp>
        </p:grpSp>
        <p:grpSp>
          <p:nvGrpSpPr>
            <p:cNvPr id="70716" name="Group 182"/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70717" name="Rectangle 183"/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18" name="Rectangle 184"/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00"/>
                  <a:t>M</a:t>
                </a:r>
              </a:p>
            </p:txBody>
          </p:sp>
        </p:grpSp>
      </p:grpSp>
      <p:grpSp>
        <p:nvGrpSpPr>
          <p:cNvPr id="21" name="Group 187"/>
          <p:cNvGrpSpPr>
            <a:grpSpLocks/>
          </p:cNvGrpSpPr>
          <p:nvPr/>
        </p:nvGrpSpPr>
        <p:grpSpPr bwMode="auto">
          <a:xfrm>
            <a:off x="1235075" y="1363663"/>
            <a:ext cx="301625" cy="292100"/>
            <a:chOff x="1962" y="2058"/>
            <a:chExt cx="190" cy="184"/>
          </a:xfrm>
        </p:grpSpPr>
        <p:sp>
          <p:nvSpPr>
            <p:cNvPr id="70713" name="Rectangle 188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14" name="Rectangle 189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</p:grp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157163" y="1643063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>
                <a:solidFill>
                  <a:srgbClr val="CC0000"/>
                </a:solidFill>
              </a:rPr>
              <a:t>frame</a:t>
            </a:r>
          </a:p>
        </p:txBody>
      </p:sp>
      <p:grpSp>
        <p:nvGrpSpPr>
          <p:cNvPr id="70706" name="Group 187"/>
          <p:cNvGrpSpPr>
            <a:grpSpLocks/>
          </p:cNvGrpSpPr>
          <p:nvPr/>
        </p:nvGrpSpPr>
        <p:grpSpPr bwMode="auto">
          <a:xfrm flipH="1">
            <a:off x="3178175" y="4970463"/>
            <a:ext cx="803275" cy="771525"/>
            <a:chOff x="-44" y="1473"/>
            <a:chExt cx="981" cy="1105"/>
          </a:xfrm>
        </p:grpSpPr>
        <p:pic>
          <p:nvPicPr>
            <p:cNvPr id="70711" name="Picture 18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12" name="Freeform 18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0707" name="Group 190"/>
          <p:cNvGrpSpPr>
            <a:grpSpLocks/>
          </p:cNvGrpSpPr>
          <p:nvPr/>
        </p:nvGrpSpPr>
        <p:grpSpPr bwMode="auto">
          <a:xfrm flipH="1">
            <a:off x="4140200" y="1087438"/>
            <a:ext cx="803275" cy="771525"/>
            <a:chOff x="-44" y="1473"/>
            <a:chExt cx="981" cy="1105"/>
          </a:xfrm>
        </p:grpSpPr>
        <p:pic>
          <p:nvPicPr>
            <p:cNvPr id="70709" name="Picture 19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10" name="Freeform 19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707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74F7C533-DBDE-4DA7-BA57-0894A1830F86}" type="slidenum">
              <a:rPr lang="en-US" sz="1200" smtClean="0">
                <a:latin typeface="Tahoma" pitchFamily="34" charset="0"/>
              </a:rPr>
              <a:pPr/>
              <a:t>62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0.0037 L -4.72222E-6 0.045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112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926 L -3.05556E-6 0.0479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3.05556E-6 0.0421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3.05556E-6 0.13889 L 0.40295 0.13889 L 0.40295 0.09885 L 0.57152 0.10093 L 0.57152 0.57709 L 0.66371 0.50857 L 0.66371 0.42848 " pathEditMode="relative" rAng="0" ptsTypes="AAAAAAAA">
                                      <p:cBhvr>
                                        <p:cTn id="61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77" y="2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46 L 0.00156 -0.0481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5" grpId="1"/>
      <p:bldP spid="112644" grpId="0"/>
      <p:bldP spid="112644" grpId="1"/>
      <p:bldP spid="112814" grpId="0"/>
      <p:bldP spid="112647" grpId="0"/>
      <p:bldP spid="112647" grpId="1"/>
    </p:bldLst>
  </p:timing>
</p:sld>
</file>

<file path=ppt/theme/theme1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24212</TotalTime>
  <Words>4398</Words>
  <Application>Microsoft Office PowerPoint</Application>
  <PresentationFormat>On-screen Show (4:3)</PresentationFormat>
  <Paragraphs>1372</Paragraphs>
  <Slides>62</Slides>
  <Notes>52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5" baseType="lpstr">
      <vt:lpstr>Arial</vt:lpstr>
      <vt:lpstr>ＭＳ Ｐゴシック</vt:lpstr>
      <vt:lpstr>Gill Sans MT</vt:lpstr>
      <vt:lpstr>Wingdings</vt:lpstr>
      <vt:lpstr>Comic Sans MS</vt:lpstr>
      <vt:lpstr>Times New Roman</vt:lpstr>
      <vt:lpstr>Tahoma</vt:lpstr>
      <vt:lpstr>Calibri</vt:lpstr>
      <vt:lpstr>Courier New</vt:lpstr>
      <vt:lpstr>ZapfDingbats</vt:lpstr>
      <vt:lpstr>12_Default Design</vt:lpstr>
      <vt:lpstr>Default Design</vt:lpstr>
      <vt:lpstr>Microsoft Clip Gallery</vt:lpstr>
      <vt:lpstr>PowerPoint Presentation</vt:lpstr>
      <vt:lpstr>Chapter 1: introduction</vt:lpstr>
      <vt:lpstr>Chapter 1: roadmap</vt:lpstr>
      <vt:lpstr>What’s the Internet: “nuts and bolts” view</vt:lpstr>
      <vt:lpstr>“Fun” internet appliances</vt:lpstr>
      <vt:lpstr>PowerPoint Presentation</vt:lpstr>
      <vt:lpstr>What’s the Internet: a service view</vt:lpstr>
      <vt:lpstr>What’s a protocol?</vt:lpstr>
      <vt:lpstr>PowerPoint Presentation</vt:lpstr>
      <vt:lpstr>Chapter 1: roadmap</vt:lpstr>
      <vt:lpstr>A closer look at network structure:</vt:lpstr>
      <vt:lpstr>Access networks and physical media</vt:lpstr>
      <vt:lpstr>Access net: digital subscriber line (DSL)</vt:lpstr>
      <vt:lpstr>PowerPoint Presentation</vt:lpstr>
      <vt:lpstr>PowerPoint Presentation</vt:lpstr>
      <vt:lpstr>PowerPoint Presentation</vt:lpstr>
      <vt:lpstr>Enterprise access networks (Ethernet)</vt:lpstr>
      <vt:lpstr>Wireless access networks</vt:lpstr>
      <vt:lpstr>Host: sends packets of data</vt:lpstr>
      <vt:lpstr>Physical media</vt:lpstr>
      <vt:lpstr>Physical media: coax, fiber</vt:lpstr>
      <vt:lpstr>Physical media: radio</vt:lpstr>
      <vt:lpstr>Chapter 1: roadmap</vt:lpstr>
      <vt:lpstr>The network core</vt:lpstr>
      <vt:lpstr>Packet-switching: store-and-forward</vt:lpstr>
      <vt:lpstr>Packet Switching: queueing delay, loss</vt:lpstr>
      <vt:lpstr>Two key network-core functions</vt:lpstr>
      <vt:lpstr>Alternative core: circuit switching</vt:lpstr>
      <vt:lpstr>Circuit switching: FDM versus TDM</vt:lpstr>
      <vt:lpstr>Packet switching versus circuit switching</vt:lpstr>
      <vt:lpstr>PowerPoint Presentation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Tier-1 ISP: e.g., Sprint</vt:lpstr>
      <vt:lpstr>Chapter 1: roadmap</vt:lpstr>
      <vt:lpstr>How do loss and delay occur?</vt:lpstr>
      <vt:lpstr>Four sources of packet delay</vt:lpstr>
      <vt:lpstr>PowerPoint Presentation</vt:lpstr>
      <vt:lpstr>Caravan analogy</vt:lpstr>
      <vt:lpstr>Caravan analogy (more)</vt:lpstr>
      <vt:lpstr>Queueing delay (revisited)</vt:lpstr>
      <vt:lpstr>“Real” Internet delays and routes</vt:lpstr>
      <vt:lpstr>“Real” Internet delays, routes</vt:lpstr>
      <vt:lpstr>Packet loss</vt:lpstr>
      <vt:lpstr>Throughput</vt:lpstr>
      <vt:lpstr>Throughput (more)</vt:lpstr>
      <vt:lpstr>Throughput: Internet scenario</vt:lpstr>
      <vt:lpstr>Chapter 1: roadmap</vt:lpstr>
      <vt:lpstr>Protocol “layers”</vt:lpstr>
      <vt:lpstr>Organization of air travel</vt:lpstr>
      <vt:lpstr>Layering of airline functionality</vt:lpstr>
      <vt:lpstr>Why layering?</vt:lpstr>
      <vt:lpstr>Internet protocol stack</vt:lpstr>
      <vt:lpstr>ISO/OSI reference model</vt:lpstr>
      <vt:lpstr>Encapsulation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4th Edition: Chapter 1</dc:title>
  <dc:creator>Jim Kurose and Keith Ross</dc:creator>
  <cp:lastModifiedBy>Dr. Al-Sakib Khan Pathan</cp:lastModifiedBy>
  <cp:revision>276</cp:revision>
  <dcterms:created xsi:type="dcterms:W3CDTF">1999-10-08T19:08:27Z</dcterms:created>
  <dcterms:modified xsi:type="dcterms:W3CDTF">2024-11-13T03:36:54Z</dcterms:modified>
</cp:coreProperties>
</file>